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11135" y="-1097280"/>
            <a:ext cx="5120640" cy="5120640"/>
          </a:xfrm>
          <a:prstGeom prst="ellipse">
            <a:avLst/>
          </a:prstGeom>
          <a:solidFill>
            <a:srgbClr val="11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3108960"/>
            <a:ext cx="4023360" cy="4023360"/>
          </a:xfrm>
          <a:prstGeom prst="ellipse">
            <a:avLst/>
          </a:prstGeom>
          <a:solidFill>
            <a:srgbClr val="1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93268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F94"/>
                </a:solidFill>
                <a:latin typeface="Segoe UI"/>
              </a:rPr>
              <a:t>SCHOOL OF COMPUTER SCIENCE AND ENGINEERING  ·  VELLORE INSTITUTE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481328"/>
            <a:ext cx="9509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Trust-Gated Fast-Weight Updates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for TTT-E2E Large Language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218688"/>
            <a:ext cx="1371600" cy="3200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47472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6C6D1"/>
                </a:solidFill>
                <a:latin typeface="Segoe UI"/>
              </a:rPr>
              <a:t>A runtime defense for language models that learn while they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370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F94"/>
                </a:solidFill>
                <a:latin typeface="Segoe UI"/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4700016"/>
            <a:ext cx="3035808" cy="786384"/>
          </a:xfrm>
          <a:prstGeom prst="rect">
            <a:avLst/>
          </a:prstGeom>
          <a:solidFill>
            <a:srgbClr val="163344"/>
          </a:solidFill>
          <a:ln w="9525">
            <a:solidFill>
              <a:srgbClr val="2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46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Manas Maahir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E9F94"/>
                </a:solidFill>
                <a:latin typeface="Consolas"/>
              </a:rPr>
              <a:t>23BAI0051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656" y="4700016"/>
            <a:ext cx="3035808" cy="786384"/>
          </a:xfrm>
          <a:prstGeom prst="rect">
            <a:avLst/>
          </a:prstGeom>
          <a:solidFill>
            <a:srgbClr val="163344"/>
          </a:solidFill>
          <a:ln w="9525">
            <a:solidFill>
              <a:srgbClr val="2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846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Jay Krishna Kamlekar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E9F94"/>
                </a:solidFill>
                <a:latin typeface="Consolas"/>
              </a:rPr>
              <a:t>23BAI0053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5783" y="4700016"/>
            <a:ext cx="3035808" cy="786384"/>
          </a:xfrm>
          <a:prstGeom prst="rect">
            <a:avLst/>
          </a:prstGeom>
          <a:solidFill>
            <a:srgbClr val="163344"/>
          </a:solidFill>
          <a:ln w="9525">
            <a:solidFill>
              <a:srgbClr val="2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4846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Kartheek Yadav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E9F94"/>
                </a:solidFill>
                <a:latin typeface="Consolas"/>
              </a:rPr>
              <a:t>23BAI0056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8704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97A2"/>
                </a:solidFill>
                <a:latin typeface="Segoe UI"/>
              </a:rPr>
              <a:t>Project Review  ·  August 2026  ·  Phase 0 – 1 scaffold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this review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Three questions,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340553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3405530" cy="50292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304288"/>
            <a:ext cx="28568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E9F94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17520"/>
            <a:ext cx="28568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23045"/>
                </a:solidFill>
                <a:latin typeface="Segoe UI"/>
              </a:rP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584448"/>
            <a:ext cx="285689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78"/>
                </a:solidFill>
                <a:latin typeface="Segoe UI"/>
              </a:rPr>
              <a:t>What TTT-E2E is, the attack surface it opens, and why we picked this problem over the alternatives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3082" y="1965960"/>
            <a:ext cx="340553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3082" y="1965960"/>
            <a:ext cx="3405530" cy="50292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3978" y="2304288"/>
            <a:ext cx="28568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045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978" y="3017520"/>
            <a:ext cx="28568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23045"/>
                </a:solidFill>
                <a:latin typeface="Segoe UI"/>
              </a:rPr>
              <a:t>What we have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978" y="3584448"/>
            <a:ext cx="285689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78"/>
                </a:solidFill>
                <a:latin typeface="Segoe UI"/>
              </a:rPr>
              <a:t>Literature survey, architecture decisions, a CPU-tested enforcement core, and the discipline around the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965960"/>
            <a:ext cx="340553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965960"/>
            <a:ext cx="340553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8692" y="2304288"/>
            <a:ext cx="28568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B45309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8692" y="3017520"/>
            <a:ext cx="28568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23045"/>
                </a:solidFill>
                <a:latin typeface="Segoe UI"/>
              </a:rPr>
              <a:t>What remains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8692" y="3584448"/>
            <a:ext cx="285689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78"/>
                </a:solidFill>
                <a:latin typeface="Segoe UI"/>
              </a:rPr>
              <a:t>Two hard gates ahead — the baseline check and the attack spike — then the gate prototype and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35838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3045"/>
                </a:solidFill>
                <a:latin typeface="Segoe UI"/>
              </a:rPr>
              <a:t>Ground rule for the whole project:  </a:t>
            </a:r>
            <a:r>
              <a:rPr sz="1350" b="0">
                <a:solidFill>
                  <a:srgbClr val="5C6B78"/>
                </a:solidFill>
                <a:latin typeface="Segoe UI"/>
              </a:rPr>
              <a:t>every threshold in this deck was written down before the result it judges.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Background — the architecture we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TTT-E2E: End-to-End Test-Time Training for Long Context  ·  arXiv:2512.23675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10874959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500" b="0">
                <a:solidFill>
                  <a:srgbClr val="0D1F2D"/>
                </a:solidFill>
                <a:latin typeface="Segoe UI"/>
              </a:rPr>
              <a:t>TTT-E2E reframes long-context modelling as </a:t>
            </a:r>
            <a:r>
              <a:rPr sz="1500" b="1">
                <a:solidFill>
                  <a:srgbClr val="123045"/>
                </a:solidFill>
                <a:latin typeface="Segoe UI"/>
              </a:rPr>
              <a:t>continual learning at inference</a:t>
            </a:r>
            <a:r>
              <a:rPr sz="1500" b="0">
                <a:solidFill>
                  <a:srgbClr val="0D1F2D"/>
                </a:solidFill>
                <a:latin typeface="Segoe UI"/>
              </a:rPr>
              <a:t>.</a:t>
            </a:r>
          </a:p>
          <a:p>
            <a:pPr algn="l" marL="585216" indent="-274320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8A97A2"/>
                </a:solidFill>
                <a:latin typeface="Segoe UI"/>
              </a:rPr>
              <a:t>–  </a:t>
            </a:r>
            <a:r>
              <a:rPr sz="1350" b="0">
                <a:solidFill>
                  <a:srgbClr val="0D1F2D"/>
                </a:solidFill>
                <a:latin typeface="Segoe UI"/>
              </a:rPr>
              <a:t>Instead of attending over a context, the model learns it.</a:t>
            </a:r>
          </a:p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500" b="0">
                <a:solidFill>
                  <a:srgbClr val="0D1F2D"/>
                </a:solidFill>
                <a:latin typeface="Segoe UI"/>
              </a:rPr>
              <a:t>The model carries </a:t>
            </a:r>
            <a:r>
              <a:rPr sz="1500" b="1">
                <a:solidFill>
                  <a:srgbClr val="0A6E67"/>
                </a:solidFill>
                <a:latin typeface="Segoe UI"/>
              </a:rPr>
              <a:t>fast weights θ</a:t>
            </a:r>
            <a:r>
              <a:rPr sz="1500" b="0">
                <a:solidFill>
                  <a:srgbClr val="0D1F2D"/>
                </a:solidFill>
                <a:latin typeface="Segoe UI"/>
              </a:rPr>
              <a:t> that it updates by next-token prediction as it reads the context.</a:t>
            </a:r>
          </a:p>
          <a:p>
            <a:pPr algn="l" marL="585216" indent="-274320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8A97A2"/>
                </a:solidFill>
                <a:latin typeface="Segoe UI"/>
              </a:rPr>
              <a:t>–  </a:t>
            </a:r>
            <a:r>
              <a:rPr sz="1350" b="0">
                <a:solidFill>
                  <a:srgbClr val="0D1F2D"/>
                </a:solidFill>
                <a:latin typeface="Segoe UI"/>
              </a:rPr>
              <a:t>The context is compressed into weights at near-RNN cost, while matching full-attention scaling.</a:t>
            </a:r>
          </a:p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500" b="0">
                <a:solidFill>
                  <a:srgbClr val="0D1F2D"/>
                </a:solidFill>
                <a:latin typeface="Segoe UI"/>
              </a:rPr>
              <a:t>The base (</a:t>
            </a:r>
            <a:r>
              <a:rPr sz="1500" b="1">
                <a:solidFill>
                  <a:srgbClr val="123045"/>
                </a:solidFill>
                <a:latin typeface="Segoe UI"/>
              </a:rPr>
              <a:t>slow</a:t>
            </a:r>
            <a:r>
              <a:rPr sz="1500" b="0">
                <a:solidFill>
                  <a:srgbClr val="0D1F2D"/>
                </a:solidFill>
                <a:latin typeface="Segoe UI"/>
              </a:rPr>
              <a:t>) weights φ never move. θ moves </a:t>
            </a:r>
            <a:r>
              <a:rPr sz="1500" b="1">
                <a:solidFill>
                  <a:srgbClr val="123045"/>
                </a:solidFill>
                <a:latin typeface="Segoe UI"/>
              </a:rPr>
              <a:t>per request, at serve time</a:t>
            </a:r>
            <a:r>
              <a:rPr sz="1500" b="0">
                <a:solidFill>
                  <a:srgbClr val="0D1F2D"/>
                </a:solidFill>
                <a:latin typeface="Segoe UI"/>
              </a:rPr>
              <a:t>, inside the deployed system.</a:t>
            </a:r>
          </a:p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500" b="0">
                <a:solidFill>
                  <a:srgbClr val="0D1F2D"/>
                </a:solidFill>
                <a:latin typeface="Segoe UI"/>
              </a:rPr>
              <a:t>The update point is a single vendor function: </a:t>
            </a:r>
            <a:r>
              <a:rPr sz="1350" b="0">
                <a:solidFill>
                  <a:srgbClr val="0A6E67"/>
                </a:solidFill>
                <a:latin typeface="Consolas"/>
              </a:rPr>
              <a:t>MetaModel.inner_loop_step</a:t>
            </a:r>
            <a:r>
              <a:rPr sz="1500" b="0">
                <a:solidFill>
                  <a:srgbClr val="0D1F2D"/>
                </a:solidFill>
                <a:latin typeface="Segoe UI"/>
              </a:rPr>
              <a:t> — which is what makes a gate possible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46320"/>
            <a:ext cx="10874959" cy="1133856"/>
          </a:xfrm>
          <a:prstGeom prst="rect">
            <a:avLst/>
          </a:prstGeom>
          <a:solidFill>
            <a:srgbClr val="E4F4F2"/>
          </a:solidFill>
          <a:ln w="9525">
            <a:solidFill>
              <a:srgbClr val="BF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846320"/>
            <a:ext cx="50292" cy="1133856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047488"/>
            <a:ext cx="10234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A6E67"/>
                </a:solidFill>
                <a:latin typeface="Segoe UI"/>
              </a:rPr>
              <a:t>Why this matters for security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3045"/>
                </a:solidFill>
                <a:latin typeface="Segoe UI"/>
              </a:rPr>
              <a:t>Every deployed safety property that assumes “the weights are the weights we shipped” stops being true the moment part of the model is written by the user’s own input 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Motivation — the attack surface this creates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Section 1 of 3  ·  Why the work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10874959" cy="896112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1883664"/>
            <a:ext cx="100519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“A model that learns while it serves can be poisoned while it serves.”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79776"/>
            <a:ext cx="345429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79776"/>
            <a:ext cx="45720" cy="193852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62656"/>
            <a:ext cx="2997098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The vector is a stream, not a token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8"/>
                </a:solidFill>
                <a:latin typeface="Segoe UI"/>
              </a:rPr>
              <a:t>A slow, benign-looking sequence of ordinary inputs — no malformed prompt, no obvious jailbreak, nothing a filter would flag — steers the fast-weight updates.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698" y="2779776"/>
            <a:ext cx="345429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698" y="2779776"/>
            <a:ext cx="45720" cy="19385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4730" y="2962656"/>
            <a:ext cx="2997098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The damage lands somewhere else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8"/>
                </a:solidFill>
                <a:latin typeface="Segoe UI"/>
              </a:rPr>
              <a:t>Later, unrelated benign inputs get handled worse, or a latent trigger is left behind. Cause and effect are separated in time, so the harm is hard to attribute.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9028" y="2779776"/>
            <a:ext cx="345429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9028" y="2779776"/>
            <a:ext cx="45720" cy="1938528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962656"/>
            <a:ext cx="2997098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It is invisible to existing defenses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8"/>
                </a:solidFill>
                <a:latin typeface="Segoe UI"/>
              </a:rPr>
              <a:t>The base weights are never touched, so checkpoint scanning, training-data filtering and weight-integrity checks all pass. θ is not in any of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10912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3045"/>
                </a:solidFill>
                <a:latin typeface="Segoe UI"/>
              </a:rPr>
              <a:t>Consequence.  </a:t>
            </a:r>
            <a:r>
              <a:rPr sz="1500" b="0">
                <a:solidFill>
                  <a:srgbClr val="0D1F2D"/>
                </a:solidFill>
                <a:latin typeface="Segoe UI"/>
              </a:rPr>
              <a:t>If the harmful thing happens at update time, the check has to happen at update time. There is no offline stage left to put it in — which is exactly where our contribution sits.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Why we chose this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The gap our literature survey actually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737360"/>
          <a:ext cx="10872216" cy="2670048"/>
        </p:xfrm>
        <a:graphic>
          <a:graphicData uri="http://schemas.openxmlformats.org/drawingml/2006/table">
            <a:tbl>
              <a:tblPr/>
              <a:tblGrid>
                <a:gridCol w="4160520"/>
                <a:gridCol w="3246120"/>
                <a:gridCol w="346557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Research area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State of the art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Where that leaves us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5C6B78"/>
                          </a:solidFill>
                          <a:latin typeface="Segoe UI"/>
                        </a:rPr>
                        <a:t>Test-time poisoning attacks against TTA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Mature — IEEE S&amp;P ’23, ICLR ’25, R.I.P. ’24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Not our novelty. We inherit the threat model.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Defenses against test-time poisoning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MedBN (arXiv 2403.19326) exists — but it defends batch-norm statistics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Fast weights are not BN statistics. A BN-stat defense does not transfer.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Poisoning of TTT-E2E LLM fast weights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Untouched — the architecture is months old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123045"/>
                          </a:solidFill>
                          <a:latin typeface="Segoe UI"/>
                        </a:rPr>
                        <a:t>Open. Demonstrating it is our Phase 1.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A gate built for fast-weight continual-inference updates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Untouched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123045"/>
                          </a:solidFill>
                          <a:latin typeface="Segoe UI"/>
                        </a:rPr>
                        <a:t>Open. This is the contribution we are building.</a:t>
                      </a:r>
                    </a:p>
                  </a:txBody>
                  <a:tcPr marL="128016" marR="91440" marT="64008" marB="64008" anchor="ctr">
                    <a:solidFill>
                      <a:srgbClr val="E4F4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590288"/>
            <a:ext cx="345429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590288"/>
            <a:ext cx="45720" cy="142646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73168"/>
            <a:ext cx="29970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Exactly one hard assumption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The whole idea rests on a single unproven claim — that the poisoning works. No stacked miracles.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4590288"/>
            <a:ext cx="345429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4590288"/>
            <a:ext cx="45720" cy="142646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4773168"/>
            <a:ext cx="29970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The risky part is also the cheap part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The attack demo both de-risks the idea and is the first thing we build. We find out early.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4590288"/>
            <a:ext cx="345429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9028" y="4590288"/>
            <a:ext cx="45720" cy="142646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4773168"/>
            <a:ext cx="29970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Buildable at our scale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Public code, a single 80 GB GPU, 1–3B parameters. No foundation-model training anywhere in the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Our proposal — the trust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Intercept every proposed update; admit it only if it survives a check, a budget, and a rollback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788920"/>
            <a:ext cx="1554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2935224"/>
            <a:ext cx="1298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045"/>
                </a:solidFill>
                <a:latin typeface="Segoe UI"/>
              </a:rPr>
              <a:t>Context stream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8"/>
                </a:solidFill>
                <a:latin typeface="Segoe UI"/>
              </a:rPr>
              <a:t>user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2788920"/>
            <a:ext cx="1828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2935224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045"/>
                </a:solidFill>
                <a:latin typeface="Segoe UI"/>
              </a:rPr>
              <a:t>Fast-weight updater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8"/>
                </a:solidFill>
                <a:latin typeface="Segoe UI"/>
              </a:rPr>
              <a:t>vendor — read-only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8968" y="2697479"/>
            <a:ext cx="2743200" cy="1115568"/>
          </a:xfrm>
          <a:prstGeom prst="rect">
            <a:avLst/>
          </a:prstGeom>
          <a:solidFill>
            <a:srgbClr val="123045"/>
          </a:solidFill>
          <a:ln w="19050">
            <a:solidFill>
              <a:srgbClr val="0E9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2825496"/>
            <a:ext cx="245059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TRUST GATE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D8D3"/>
                </a:solidFill>
                <a:latin typeface="Segoe UI"/>
              </a:rPr>
              <a:t>anchor-consistency (A)  ·  update-uncertainty (B)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59367" y="2788920"/>
            <a:ext cx="2377440" cy="932688"/>
          </a:xfrm>
          <a:prstGeom prst="rect">
            <a:avLst/>
          </a:prstGeom>
          <a:solidFill>
            <a:srgbClr val="E4F4F2"/>
          </a:solidFill>
          <a:ln w="12700">
            <a:solidFill>
              <a:srgbClr val="BF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7384" y="2935224"/>
            <a:ext cx="212140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6E67"/>
                </a:solidFill>
                <a:latin typeface="Segoe UI"/>
              </a:rPr>
              <a:t>Versioned store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A6E67"/>
                </a:solidFill>
                <a:latin typeface="Segoe UI"/>
              </a:rPr>
              <a:t>ring buffer  ·  O(1) rollback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07208" y="3154679"/>
            <a:ext cx="274320" cy="201168"/>
          </a:xfrm>
          <a:prstGeom prst="rightArrow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093207" y="3154679"/>
            <a:ext cx="274320" cy="201168"/>
          </a:xfrm>
          <a:prstGeom prst="rightArrow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6" y="240487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B78"/>
                </a:solidFill>
                <a:latin typeface="Consolas"/>
              </a:rPr>
              <a:t>Δθ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93607" y="3154679"/>
            <a:ext cx="274320" cy="201168"/>
          </a:xfrm>
          <a:prstGeom prst="rightArrow">
            <a:avLst/>
          </a:prstGeom>
          <a:solidFill>
            <a:srgbClr val="8A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240487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B78"/>
                </a:solidFill>
                <a:latin typeface="Segoe UI"/>
              </a:rPr>
              <a:t>commit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28616" y="1737360"/>
            <a:ext cx="38039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1" y="1883664"/>
            <a:ext cx="3547872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6E67"/>
                </a:solidFill>
                <a:latin typeface="Segoe UI"/>
              </a:rPr>
              <a:t>Frozen anchor θ₀  +  rotating probes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8"/>
                </a:solidFill>
                <a:latin typeface="Segoe UI"/>
              </a:rPr>
              <a:t>never updated — the stable reference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48272" y="2377440"/>
            <a:ext cx="164592" cy="320040"/>
          </a:xfrm>
          <a:prstGeom prst="downArrow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28616" y="4078224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4224528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Drift accumulator  —  budget ε per window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8"/>
                </a:solidFill>
                <a:latin typeface="Segoe UI"/>
              </a:rPr>
              <a:t>cumulative distance from the anchor; latches on breach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748272" y="3831336"/>
            <a:ext cx="164592" cy="246888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69095" y="4407408"/>
            <a:ext cx="1078992" cy="27432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9765792" y="3858768"/>
            <a:ext cx="164592" cy="566928"/>
          </a:xfrm>
          <a:prstGeom prst="upArrow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7384" y="4480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2C2C"/>
                </a:solidFill>
                <a:latin typeface="Segoe UI"/>
              </a:rPr>
              <a:t>breach → rollback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138928"/>
            <a:ext cx="10874959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38928"/>
            <a:ext cx="50292" cy="96926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5303520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3045"/>
                </a:solidFill>
                <a:latin typeface="Segoe UI"/>
              </a:rPr>
              <a:t>The headline property.  </a:t>
            </a:r>
            <a:r>
              <a:rPr sz="1350" b="0">
                <a:solidFill>
                  <a:srgbClr val="0D1F2D"/>
                </a:solidFill>
                <a:latin typeface="Segoe UI"/>
              </a:rPr>
              <a:t>Because JAX fast-weight updates are pure functions over a pytree, </a:t>
            </a:r>
            <a:r>
              <a:rPr sz="1250" b="0">
                <a:solidFill>
                  <a:srgbClr val="0A6E67"/>
                </a:solidFill>
                <a:latin typeface="Consolas"/>
              </a:rPr>
              <a:t>reject</a:t>
            </a:r>
            <a:r>
              <a:rPr sz="1350" b="0">
                <a:solidFill>
                  <a:srgbClr val="0D1F2D"/>
                </a:solidFill>
                <a:latin typeface="Segoe UI"/>
              </a:rPr>
              <a:t> is a </a:t>
            </a:r>
            <a:r>
              <a:rPr sz="1250" b="0">
                <a:solidFill>
                  <a:srgbClr val="0A6E67"/>
                </a:solidFill>
                <a:latin typeface="Consolas"/>
              </a:rPr>
              <a:t>jnp.where</a:t>
            </a:r>
            <a:r>
              <a:rPr sz="1350" b="0">
                <a:solidFill>
                  <a:srgbClr val="0D1F2D"/>
                </a:solidFill>
                <a:latin typeface="Segoe UI"/>
              </a:rPr>
              <a:t> select between weight trees and </a:t>
            </a:r>
            <a:r>
              <a:rPr sz="1250" b="0">
                <a:solidFill>
                  <a:srgbClr val="0A6E67"/>
                </a:solidFill>
                <a:latin typeface="Consolas"/>
              </a:rPr>
              <a:t>rollback</a:t>
            </a:r>
            <a:r>
              <a:rPr sz="1350" b="0">
                <a:solidFill>
                  <a:srgbClr val="0D1F2D"/>
                </a:solidFill>
                <a:latin typeface="Segoe UI"/>
              </a:rPr>
              <a:t> is a reference swap — genuinely O(1), branchless, with no mutable state to unwind. That is what turns “bounded drift” into a provable per-window bound rather than a hope.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we have done  · 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Section 2 of 3  ·  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10874959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0E9F94"/>
                </a:solidFill>
                <a:latin typeface="Segoe UI"/>
              </a:rPr>
              <a:t>▪  </a:t>
            </a:r>
            <a:r>
              <a:rPr sz="1450" b="0">
                <a:solidFill>
                  <a:srgbClr val="0D1F2D"/>
                </a:solidFill>
                <a:latin typeface="Segoe UI"/>
              </a:rPr>
              <a:t>15 peer-reviewed </a:t>
            </a:r>
            <a:r>
              <a:rPr sz="1450" b="1">
                <a:solidFill>
                  <a:srgbClr val="123045"/>
                </a:solidFill>
                <a:latin typeface="Segoe UI"/>
              </a:rPr>
              <a:t>journal</a:t>
            </a:r>
            <a:r>
              <a:rPr sz="1450" b="0">
                <a:solidFill>
                  <a:srgbClr val="0D1F2D"/>
                </a:solidFill>
                <a:latin typeface="Segoe UI"/>
              </a:rPr>
              <a:t> articles — IEEE Xplore and ScienceDirect, June 2024 onward. No preprints, no conference-only work.</a:t>
            </a:r>
          </a:p>
          <a:p>
            <a:pPr algn="l" marL="274320" indent="-274320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0E9F94"/>
                </a:solidFill>
                <a:latin typeface="Segoe UI"/>
              </a:rPr>
              <a:t>▪  </a:t>
            </a:r>
            <a:r>
              <a:rPr sz="1450" b="0">
                <a:solidFill>
                  <a:srgbClr val="0D1F2D"/>
                </a:solidFill>
                <a:latin typeface="Segoe UI"/>
              </a:rPr>
              <a:t>Every DOI resolved against </a:t>
            </a:r>
            <a:r>
              <a:rPr sz="1450" b="1">
                <a:solidFill>
                  <a:srgbClr val="123045"/>
                </a:solidFill>
                <a:latin typeface="Segoe UI"/>
              </a:rPr>
              <a:t>Crossref</a:t>
            </a:r>
            <a:r>
              <a:rPr sz="1450" b="0">
                <a:solidFill>
                  <a:srgbClr val="0D1F2D"/>
                </a:solidFill>
                <a:latin typeface="Segoe UI"/>
              </a:rPr>
              <a:t> and confirmed to redirect to the live publisher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43200"/>
            <a:ext cx="5300319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743200"/>
            <a:ext cx="45720" cy="111556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311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Inference-time backdoors in LLM agents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Contextual backdoor attacks on embodied agents (TIFS ’25) established that a crafted sequence of benign-looking inputs can implant a hidden backdoor at deployment — the exact threat model we defend.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743200"/>
            <a:ext cx="5300319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743200"/>
            <a:ext cx="45720" cy="111556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2926080"/>
            <a:ext cx="484311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Poisoning and defense in federated learning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Seven papers on model/data poisoning and robust aggregation. Nearest neighbour to our baseline — and the reason our MedBN-analogue is aggregation-based.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41648"/>
            <a:ext cx="5300319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041648"/>
            <a:ext cx="45720" cy="1115568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484311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Robust adaptation and adversarial training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Adversarial self-training, contrastive graph defense, cloud-edge attack–defense. Shows what a defense costs on clean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4041648"/>
            <a:ext cx="5300319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4041648"/>
            <a:ext cx="45720" cy="1115568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4224528"/>
            <a:ext cx="484311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Graph and hypergraph poisoning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Momentum-gradient and node-injection attacks — useful for how attack strength is measured and reported, not for the mechanism.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13248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23045"/>
                </a:solidFill>
                <a:latin typeface="Segoe UI"/>
              </a:rPr>
              <a:t>What it produced.  </a:t>
            </a:r>
            <a:r>
              <a:rPr sz="1350" b="0">
                <a:solidFill>
                  <a:srgbClr val="0D1F2D"/>
                </a:solidFill>
                <a:latin typeface="Segoe UI"/>
              </a:rPr>
              <a:t>The gap statement on slide 5 — the attack literature is mature, a defense exists but it guards batch-norm statistics, and nothing addresses fast weights. That is the sentence the whole project hangs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we have done  · 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Architecture decisions, each recorded as an ADR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530031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45720" cy="148132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97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A6E67"/>
                </a:solidFill>
                <a:latin typeface="Consolas"/>
              </a:rPr>
              <a:t>ADR-002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Overlay, not a fork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Upstream TTT-E2E ships with no license. It is vendored as a read-only pinned submodule (SHA a4fc478) and never edited; all our code imports and wraps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737360"/>
            <a:ext cx="530031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737360"/>
            <a:ext cx="45720" cy="148132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901952"/>
            <a:ext cx="4797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A6E67"/>
                </a:solidFill>
                <a:latin typeface="Consolas"/>
              </a:rPr>
              <a:t>ADR-003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One enforcement point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The gate hooks MetaModel.inner_loop_step — the single place a fast-weight update commits — through a confined, reversible monkeypatch.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83280"/>
            <a:ext cx="530031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383280"/>
            <a:ext cx="45720" cy="148132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547872"/>
            <a:ext cx="4797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A6E67"/>
                </a:solidFill>
                <a:latin typeface="Consolas"/>
              </a:rPr>
              <a:t>ADR-004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The eval entry point is real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Resolved that the vendor exposes an eval path (training.eval_mode=true on train). This was the hard unknown gating the cost model and the bootstrap script.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383280"/>
            <a:ext cx="530031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383280"/>
            <a:ext cx="45720" cy="148132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547872"/>
            <a:ext cx="4797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A6E67"/>
                </a:solidFill>
                <a:latin typeface="Consolas"/>
              </a:rPr>
              <a:t>ADR-005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The baseline is a soundness check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The paper publishes no loss number for the released 1B checkpoint. So Phase 0.5 verifies our environment, and we say so — it is not a reproduction.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102352"/>
            <a:ext cx="10874959" cy="1060704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266944"/>
            <a:ext cx="101434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9F94"/>
                </a:solidFill>
                <a:latin typeface="Segoe UI"/>
              </a:rPr>
              <a:t>Why the overlay constraint is a feature.  </a:t>
            </a:r>
            <a:r>
              <a:rPr sz="1350" b="0">
                <a:solidFill>
                  <a:srgbClr val="D3DEE5"/>
                </a:solidFill>
                <a:latin typeface="Segoe UI"/>
              </a:rPr>
              <a:t>It forced every design choice to be expressible as a wrapper around code we cannot change. That is also the honest deployment story: a defense that requires forking the model is a defense nobody installs.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we have done  · 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The enforcement core — built and tested on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700784"/>
          <a:ext cx="10872216" cy="2752344"/>
        </p:xfrm>
        <a:graphic>
          <a:graphicData uri="http://schemas.openxmlformats.org/drawingml/2006/table">
            <a:tbl>
              <a:tblPr/>
              <a:tblGrid>
                <a:gridCol w="4846320"/>
                <a:gridCol w="1417320"/>
                <a:gridCol w="460857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Verified by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Update interceptor + jit-safe pytree ops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57A4A"/>
                          </a:solidFill>
                          <a:latin typeface="Segoe UI"/>
                        </a:rPr>
                        <a:t>BUILT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accept / reject / no-op semantics; passthrough identity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Drift accumulator — latching budget ε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57A4A"/>
                          </a:solidFill>
                          <a:latin typeface="Segoe UI"/>
                        </a:rPr>
                        <a:t>BUILT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latch fires once and stays fired; trace-safe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Versioned store — ring buffer, O(1) rollback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57A4A"/>
                          </a:solidFill>
                          <a:latin typeface="Segoe UI"/>
                        </a:rPr>
                        <a:t>BUILT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round-trip and rollback to an arbitrary depth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Corruption metrics, audit log, report renderer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57A4A"/>
                          </a:solidFill>
                          <a:latin typeface="Segoe UI"/>
                        </a:rPr>
                        <a:t>BUILT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Cohen’s d, relative degradation, attack-success rate</a:t>
                      </a:r>
                    </a:p>
                  </a:txBody>
                  <a:tcPr marL="128016" marR="91440" marT="64008" marB="64008" anchor="ctr">
                    <a:solidFill>
                      <a:srgbClr val="E7F4E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Attack module + model-touching harness</a:t>
                      </a:r>
                    </a:p>
                  </a:txBody>
                  <a:tcPr marL="128016" marR="91440" marT="64008" marB="64008" anchor="ctr">
                    <a:solidFill>
                      <a:srgbClr val="FDF1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Segoe UI"/>
                        </a:rPr>
                        <a:t>SPECIFIED</a:t>
                      </a:r>
                    </a:p>
                  </a:txBody>
                  <a:tcPr marL="128016" marR="91440" marT="64008" marB="64008" anchor="ctr">
                    <a:solidFill>
                      <a:srgbClr val="FDF1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interfaces exist and raise; blocked on checkpoints</a:t>
                      </a:r>
                    </a:p>
                  </a:txBody>
                  <a:tcPr marL="128016" marR="91440" marT="64008" marB="64008" anchor="ctr">
                    <a:solidFill>
                      <a:srgbClr val="FDF1D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0D1F2D"/>
                          </a:solidFill>
                          <a:latin typeface="Segoe UI"/>
                        </a:rPr>
                        <a:t>Gate signals A / B / C + MedBN-analogue baseline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5C6B78"/>
                          </a:solidFill>
                          <a:latin typeface="Segoe UI"/>
                        </a:rPr>
                        <a:t>PHASE 2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gated on the Phase 1 result — deliberately unwritten</a:t>
                      </a:r>
                    </a:p>
                  </a:txBody>
                  <a:tcPr marL="128016" marR="91440" marT="64008" marB="6400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626864"/>
            <a:ext cx="3291840" cy="1042415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791456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9F94"/>
                </a:solidFill>
                <a:latin typeface="Segoe UI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486460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CPU tests passing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7A2"/>
                </a:solidFill>
                <a:latin typeface="Segoe UI"/>
              </a:rPr>
              <a:t>no GPU, no checkpoints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4626864"/>
            <a:ext cx="7345375" cy="1042415"/>
          </a:xfrm>
          <a:prstGeom prst="rect">
            <a:avLst/>
          </a:prstGeom>
          <a:solidFill>
            <a:srgbClr val="FDF1DF"/>
          </a:solidFill>
          <a:ln w="9525">
            <a:solidFill>
              <a:srgbClr val="EBD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4626864"/>
            <a:ext cx="45720" cy="104241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4754880"/>
            <a:ext cx="68515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The gap we record rather than hide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D1F2D"/>
                </a:solidFill>
                <a:latin typeface="Segoe UI"/>
              </a:rPr>
              <a:t>The accumulator and the store are implemented but not yet wired into the interceptor. So today the bounded-drift guarantee is designed, not enforced — written into ADR-003 as a dated correction, and scheduled as the project’s highest-risk task.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we have done  · 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Fixing the bar before there is a number to 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6089977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45720" cy="1591056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11095"/>
            <a:ext cx="5587057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Pre-registered kill-gate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Frozen 2026-07-28, before any attack code ran and committed to git so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history proves the bar predates the result: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Cohen’s d ≥ 0.8   AND   relative degradation ≥ 10%   AND   fluency ratio ≤ 1.5,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over 5 seeds, with the most realistic attack strategy as the headline.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547872"/>
            <a:ext cx="6089977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547872"/>
            <a:ext cx="45720" cy="987552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703320"/>
            <a:ext cx="558705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3045"/>
                </a:solidFill>
                <a:latin typeface="Segoe UI"/>
              </a:rPr>
              <a:t>Pre-registered baseline tolerance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Two-sided band 2.314 &lt; loss &lt; 2.805 nats/token plus four structural checks,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derived from the paper’s figure data and cross-validated across all 35 values.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6089977" cy="1207008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901183"/>
            <a:ext cx="558705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9F94"/>
                </a:solidFill>
                <a:latin typeface="Segoe UI"/>
              </a:rPr>
              <a:t>Why we did it this way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3DEE5"/>
                </a:solidFill>
                <a:latin typeface="Segoe UI"/>
              </a:rPr>
              <a:t>A go/no-go rule written after seeing the result is not a rule. Freezing the threshold first is the only thing that makes a STOP verdict credible — including to ourselves.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953" y="1755648"/>
            <a:ext cx="4492374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97" y="1901952"/>
            <a:ext cx="40351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Cost model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Checkpoint ≈ 5.9 GB, expected spend $10–35, hard cap $325 for Phase 0.5. Found and priced the multi-GPU cliff at 3B.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953" y="2907791"/>
            <a:ext cx="4492374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97" y="3054096"/>
            <a:ext cx="40351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Cold-start bootstrap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One idempotent script takes a bare GPU box to a ready-to-paste eval command.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953" y="4059935"/>
            <a:ext cx="4492374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97" y="4206240"/>
            <a:ext cx="40351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Egress guard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A metadata-only probe prints the byte count before any transfer, and a cap refuses rather than surprises.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953" y="5212079"/>
            <a:ext cx="4492374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97" y="5358383"/>
            <a:ext cx="40351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Working protocols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GPU queue and booking ledger, branch-and-review rules. One box, three people — someone has to hold the calendar.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we have done  · 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Written output and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10874959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45720" cy="1042415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11095"/>
            <a:ext cx="10326319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A6E67"/>
                </a:solidFill>
                <a:latin typeface="Segoe UI"/>
              </a:rPr>
              <a:t>P2 deliverable  —  </a:t>
            </a:r>
            <a:r>
              <a:rPr sz="1500" b="1">
                <a:solidFill>
                  <a:srgbClr val="123045"/>
                </a:solidFill>
                <a:latin typeface="Segoe UI"/>
              </a:rPr>
              <a:t>Introduction + Related Work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8"/>
                </a:solidFill>
                <a:latin typeface="Segoe UI"/>
              </a:rPr>
              <a:t>IEEEtran manuscript. Thematic organisation of the field, key representative studies, strengths and limitations, the research gap, and where this work sits in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10874959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35808"/>
            <a:ext cx="45720" cy="1225296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191256"/>
            <a:ext cx="10326319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A6E67"/>
                </a:solidFill>
                <a:latin typeface="Segoe UI"/>
              </a:rPr>
              <a:t>P3 deliverable  —  </a:t>
            </a:r>
            <a:r>
              <a:rPr sz="1500" b="1">
                <a:solidFill>
                  <a:srgbClr val="123045"/>
                </a:solidFill>
                <a:latin typeface="Segoe UI"/>
              </a:rPr>
              <a:t>+ Proposed Methodology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8"/>
                </a:solidFill>
                <a:latin typeface="Segoe UI"/>
              </a:rPr>
              <a:t>≈1,600 lines, self-contained, compiles on a stock IEEEtran install. Threat model, crafted-stream construction, gate architecture, both scoring signals, the drift accumulator with a bounded-drift proposition, the versioned store, decision policy, complexity and overhead, baselines, and the evaluation protocol.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98848"/>
            <a:ext cx="345429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498848"/>
            <a:ext cx="45720" cy="1152144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81728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Architecture decision record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Five ADRs, including a dated correction to one of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4498848"/>
            <a:ext cx="345429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4498848"/>
            <a:ext cx="45720" cy="1152144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730" y="4681728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Repository knowledge graph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Generated map of every module and its dependencies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9028" y="4498848"/>
            <a:ext cx="345429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9028" y="4498848"/>
            <a:ext cx="45720" cy="1152144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5060" y="4681728"/>
            <a:ext cx="29970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23045"/>
                </a:solidFill>
                <a:latin typeface="Segoe UI"/>
              </a:rPr>
              <a:t>Roadmap + team execution plan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8"/>
                </a:solidFill>
                <a:latin typeface="Segoe UI"/>
              </a:rPr>
              <a:t>Phase gates, task ownership, acceptance criteria, risk register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remains  ·  the two gates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Section 3 of 3  ·  Neither can be skipped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527435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527435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56816"/>
            <a:ext cx="47257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PHASE 0.5</a:t>
            </a:r>
            <a:r>
              <a:rPr sz="1100" b="0">
                <a:solidFill>
                  <a:srgbClr val="5C6B78"/>
                </a:solidFill>
                <a:latin typeface="Segoe UI"/>
              </a:rPr>
              <a:t>   ·   blocked on hardware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23045"/>
                </a:solidFill>
                <a:latin typeface="Segoe UI"/>
              </a:rPr>
              <a:t>Baseline environment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468913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Procure a Weights &amp; Biases key — the only Phase 0.4 item still open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Book the box in the ledger before it starts billing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Probe the validation-split size first — that request is free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Rehearse on the 125M model in the same session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Run the vendor eval unmodified on 1B @ 8K, gate provably not installed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45309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Read the pre-registered band before reading our own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043" y="1737360"/>
            <a:ext cx="532628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043" y="1737360"/>
            <a:ext cx="5326283" cy="50292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9651" y="1956816"/>
            <a:ext cx="47776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A82C2C"/>
                </a:solidFill>
                <a:latin typeface="Segoe UI"/>
              </a:rPr>
              <a:t>PHASE 1</a:t>
            </a:r>
            <a:r>
              <a:rPr sz="1100" b="1">
                <a:solidFill>
                  <a:srgbClr val="A82C2C"/>
                </a:solidFill>
                <a:latin typeface="Segoe UI"/>
              </a:rPr>
              <a:t>   ·   THE KILL-GATE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23045"/>
                </a:solidFill>
                <a:latin typeface="Segoe UI"/>
              </a:rPr>
              <a:t>Attack spike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9651" y="2834640"/>
            <a:ext cx="4741067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Implement the attack objectives — degrade and trigger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Build the three stream strategies plus a length-matched benign control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Write the crafting loop, fluency term inside the objective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Wire the model-touching half of the evaluation harness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Run five seeds in both arms, poison and control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82C2C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Print observed against pre-registered — and take the 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029200"/>
            <a:ext cx="10874959" cy="109728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029200"/>
            <a:ext cx="54864" cy="1097280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5193792"/>
            <a:ext cx="100977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The one rule that governs everything.  </a:t>
            </a:r>
            <a:r>
              <a:rPr sz="1400" b="0">
                <a:solidFill>
                  <a:srgbClr val="C8D5DE"/>
                </a:solidFill>
                <a:latin typeface="Segoe UI"/>
              </a:rPr>
              <a:t>If no benign-looking stream measurably corrupts fast weights against the pre-registered threshold, the project stops. No demonstrated attack means there is no defense worth building. This discipline is the point, not an obstacle.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What remains  ·  if the kill-gate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Phases 2 and 3 are deliberately unwritten until then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274355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5274355" cy="50292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257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A6E67"/>
                </a:solidFill>
                <a:latin typeface="Segoe UI"/>
              </a:rPr>
              <a:t>PHASE 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23045"/>
                </a:solidFill>
                <a:latin typeface="Segoe UI"/>
              </a:rPr>
              <a:t>Gate prototype and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4689139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Anchor-consistency signal — probe divergence against the frozen anchor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Update-uncertainty signal — the cheap secondary check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Rotating held-out probes at fixed shape, to avoid recompilation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Decision policy with every threshold as a parameter, none hard-coded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Influence estimation as an offline auditor, to give the curves a ground truth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A MedBN-analogue baseline — and we tune it hard, because beating a weak baseline proves nothing</a:t>
            </a:r>
          </a:p>
          <a:p>
            <a:pPr algn="l" marL="237744" indent="-237744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E9F94"/>
                </a:solidFill>
                <a:latin typeface="Segoe UI"/>
              </a:rPr>
              <a:t>▪  </a:t>
            </a:r>
            <a:r>
              <a:rPr sz="1100" b="0">
                <a:solidFill>
                  <a:srgbClr val="0D1F2D"/>
                </a:solidFill>
                <a:latin typeface="Segoe UI"/>
              </a:rPr>
              <a:t>Operating-point sweep: ROC, clean-accuracy regression, ≤10% compute overhead, store 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043" y="1755648"/>
            <a:ext cx="5326283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043" y="1755648"/>
            <a:ext cx="5326283" cy="50292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9651" y="1975104"/>
            <a:ext cx="47776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23045"/>
                </a:solidFill>
                <a:latin typeface="Segoe UI"/>
              </a:rPr>
              <a:t>THE HARDEST OPEN PROBLEM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045"/>
                </a:solidFill>
                <a:latin typeface="Segoe UI"/>
              </a:rPr>
              <a:t>Carrying drift state through the vendor’s scan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The vendor’s scan carry is fixed, and we may not edit vendor code — a scan’s carry structure must come out exactly as it went in, so our wrapper cannot just add a slot. Three routes out, none obviously right, and one of them quietly weakens what we can claim. It gets a written ADR before anyone writes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7043" y="3968496"/>
            <a:ext cx="5326283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7043" y="3968496"/>
            <a:ext cx="5326283" cy="50292"/>
          </a:xfrm>
          <a:prstGeom prst="rect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9651" y="4169663"/>
            <a:ext cx="477764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23045"/>
                </a:solidFill>
                <a:latin typeface="Segoe UI"/>
              </a:rPr>
              <a:t>PHASE 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045"/>
                </a:solidFill>
                <a:latin typeface="Segoe UI"/>
              </a:rPr>
              <a:t>Novelty validation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8"/>
                </a:solidFill>
                <a:latin typeface="Segoe UI"/>
              </a:rPr>
              <a:t>Line-level differencing against MedBN and the robust-TTA literature, then the bounded-drift proof and the measured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1441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045"/>
                </a:solidFill>
                <a:latin typeface="Segoe UI"/>
              </a:rPr>
              <a:t>Note.  </a:t>
            </a:r>
            <a:r>
              <a:rPr sz="1300" b="0">
                <a:solidFill>
                  <a:srgbClr val="5C6B78"/>
                </a:solidFill>
                <a:latin typeface="Segoe UI"/>
              </a:rPr>
              <a:t>None of this is stubbed-out optimism — the interfaces exist and every one of them raises, on purpose, so that nothing downstream can quietly run on a placeholder.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045"/>
                </a:solidFill>
                <a:latin typeface="Segoe UI"/>
              </a:rPr>
              <a:t>Risks we are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78"/>
                </a:solidFill>
                <a:latin typeface="Segoe UI"/>
              </a:rPr>
              <a:t>Each one has a written trigger and a written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773936"/>
          <a:ext cx="10872216" cy="3566160"/>
        </p:xfrm>
        <a:graphic>
          <a:graphicData uri="http://schemas.openxmlformats.org/drawingml/2006/table">
            <a:tbl>
              <a:tblPr/>
              <a:tblGrid>
                <a:gridCol w="3246120"/>
                <a:gridCol w="3337560"/>
                <a:gridCol w="428853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we would see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we do about it</a:t>
                      </a:r>
                    </a:p>
                  </a:txBody>
                  <a:tcPr marL="128016" marR="91440" marT="64008" marB="64008" anchor="ctr">
                    <a:solidFill>
                      <a:srgbClr val="123045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The baseline misses the band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Loss outside 2.314–2.805, or the per-token NLL does not fall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Stop everything and debug the environment. Nothing downstream is interpretable until it passes.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Only the unrealistic attack works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The realistic strategy shows near-zero effect size after two or three seeds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Report it honestly as a weaker threat model. The STOP option stays live — that is what pre-registration is for.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The scan cannot carry per-window drift state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All three carry-state routes look bad on paper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Escalate before coding. If only the weakest route works, restate the guarantee at the granularity we actually deliver.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123045"/>
                          </a:solidFill>
                          <a:latin typeface="Segoe UI"/>
                        </a:rPr>
                        <a:t>The validation split is larger than modelled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5C6B78"/>
                          </a:solidFill>
                          <a:latin typeface="Segoe UI"/>
                        </a:rPr>
                        <a:t>The free metadata probe returns a byte count far above the estimate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0D1F2D"/>
                          </a:solidFill>
                          <a:latin typeface="Segoe UI"/>
                        </a:rPr>
                        <a:t>One free command settles it before any billing starts. The cap refuses rather than surprises.</a:t>
                      </a:r>
                    </a:p>
                  </a:txBody>
                  <a:tcPr marL="128016" marR="91440" marT="64008" marB="6400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5778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045"/>
                </a:solidFill>
                <a:latin typeface="Segoe UI"/>
              </a:rPr>
              <a:t>The common thread.  </a:t>
            </a:r>
            <a:r>
              <a:rPr sz="1300" b="0">
                <a:solidFill>
                  <a:srgbClr val="5C6B78"/>
                </a:solidFill>
                <a:latin typeface="Segoe UI"/>
              </a:rPr>
              <a:t>Every row was written before the situation it describes. A risk register written after the fact is just a changelog.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75488"/>
            <a:ext cx="50292" cy="384048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02336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Where we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9264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A97A2"/>
                </a:solidFill>
                <a:latin typeface="Segoe UI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74959" cy="10972"/>
          </a:xfrm>
          <a:prstGeom prst="rect">
            <a:avLst/>
          </a:prstGeom>
          <a:solidFill>
            <a:srgbClr val="2A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7A2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7A2"/>
                </a:solidFill>
                <a:latin typeface="Segoe UI"/>
              </a:rPr>
              <a:t>Trust-Gated Fast-Weight Updates for TTT-E2E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660093" cy="45720"/>
          </a:xfrm>
          <a:prstGeom prst="rect">
            <a:avLst/>
          </a:prstGeom>
          <a:solidFill>
            <a:srgbClr val="15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Foundation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7A4A"/>
                </a:solidFill>
                <a:latin typeface="Segoe UI"/>
              </a:rPr>
              <a:t>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1341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01341" y="1920240"/>
            <a:ext cx="1660093" cy="45720"/>
          </a:xfrm>
          <a:prstGeom prst="rect">
            <a:avLst/>
          </a:prstGeom>
          <a:solidFill>
            <a:srgbClr val="15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4221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0.4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Lead prep package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7A4A"/>
                </a:solidFill>
                <a:latin typeface="Segoe UI"/>
              </a:rPr>
              <a:t>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4314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4314" y="1920240"/>
            <a:ext cx="1660093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7194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0.5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Baseline check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BLOCKED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920240"/>
            <a:ext cx="1660093" cy="45720"/>
          </a:xfrm>
          <a:prstGeom prst="rect">
            <a:avLst/>
          </a:prstGeom>
          <a:solidFill>
            <a:srgbClr val="A8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Attack spike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2C2C"/>
                </a:solidFill>
                <a:latin typeface="Segoe UI"/>
              </a:rPr>
              <a:t>KILL-GATE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0260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0260" y="1920240"/>
            <a:ext cx="1660093" cy="45720"/>
          </a:xfrm>
          <a:prstGeom prst="rect">
            <a:avLst/>
          </a:prstGeom>
          <a:solidFill>
            <a:srgbClr val="5C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3140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Gate prototype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78"/>
                </a:solidFill>
                <a:latin typeface="Segoe UI"/>
              </a:rPr>
              <a:t>GATED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3234" y="1920240"/>
            <a:ext cx="1660093" cy="1481328"/>
          </a:xfrm>
          <a:prstGeom prst="rect">
            <a:avLst/>
          </a:prstGeom>
          <a:solidFill>
            <a:srgbClr val="162B3A"/>
          </a:solidFill>
          <a:ln w="9525">
            <a:solidFill>
              <a:srgbClr val="274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3234" y="1920240"/>
            <a:ext cx="1660093" cy="45720"/>
          </a:xfrm>
          <a:prstGeom prst="rect">
            <a:avLst/>
          </a:prstGeom>
          <a:solidFill>
            <a:srgbClr val="5C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6114" y="2157984"/>
            <a:ext cx="129433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Phase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2BF"/>
                </a:solidFill>
                <a:latin typeface="Segoe UI"/>
              </a:rPr>
              <a:t>Novelty validation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78"/>
                </a:solidFill>
                <a:latin typeface="Segoe UI"/>
              </a:rPr>
              <a:t>GATED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12463"/>
            <a:ext cx="2554147" cy="969264"/>
          </a:xfrm>
          <a:prstGeom prst="rect">
            <a:avLst/>
          </a:prstGeom>
          <a:solidFill>
            <a:srgbClr val="16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858768"/>
            <a:ext cx="21518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9F94"/>
                </a:solidFill>
                <a:latin typeface="Segoe UI"/>
              </a:rP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352544"/>
            <a:ext cx="2151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2BF"/>
                </a:solidFill>
                <a:latin typeface="Segoe UI"/>
              </a:rPr>
              <a:t>CPU tests green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31971" y="3712463"/>
            <a:ext cx="2554147" cy="969264"/>
          </a:xfrm>
          <a:prstGeom prst="rect">
            <a:avLst/>
          </a:prstGeom>
          <a:solidFill>
            <a:srgbClr val="16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3139" y="3858768"/>
            <a:ext cx="21518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9F94"/>
                </a:solidFill>
                <a:latin typeface="Segoe U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3139" y="4352544"/>
            <a:ext cx="2151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2BF"/>
                </a:solidFill>
                <a:latin typeface="Segoe UI"/>
              </a:rPr>
              <a:t>journal papers surveyed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5575" y="3712463"/>
            <a:ext cx="2554147" cy="969264"/>
          </a:xfrm>
          <a:prstGeom prst="rect">
            <a:avLst/>
          </a:prstGeom>
          <a:solidFill>
            <a:srgbClr val="16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6743" y="3858768"/>
            <a:ext cx="21518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9F94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6743" y="4352544"/>
            <a:ext cx="2151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2BF"/>
                </a:solidFill>
                <a:latin typeface="Segoe UI"/>
              </a:rPr>
              <a:t>architecture decisions recorded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179" y="3712463"/>
            <a:ext cx="2554147" cy="969264"/>
          </a:xfrm>
          <a:prstGeom prst="rect">
            <a:avLst/>
          </a:prstGeom>
          <a:solidFill>
            <a:srgbClr val="16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347" y="3858768"/>
            <a:ext cx="21518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9F94"/>
                </a:solidFill>
                <a:latin typeface="Segoe U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347" y="4352544"/>
            <a:ext cx="2151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2BF"/>
                </a:solidFill>
                <a:latin typeface="Segoe UI"/>
              </a:rPr>
              <a:t>numbers produced on a GPU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992624"/>
            <a:ext cx="54864" cy="877824"/>
          </a:xfrm>
          <a:prstGeom prst="rect">
            <a:avLst/>
          </a:prstGeom>
          <a:solidFill>
            <a:srgbClr val="0E9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5047488"/>
            <a:ext cx="10326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Everything that can be decided at a desk has been decided.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9BCC8"/>
                </a:solidFill>
                <a:latin typeface="Segoe UI"/>
              </a:rPr>
              <a:t>What remains needs the box — and an honest answer to one question: does the attack actually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