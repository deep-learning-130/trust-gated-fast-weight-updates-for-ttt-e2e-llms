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058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Trust-Gated Fast-Weight Updates for TTT-E2E LLMs</a:t>
            </a:r>
          </a:p>
          <a:p>
            <a:pPr>
              <a:spcAft>
                <a:spcPts val="0"/>
              </a:spcAft>
            </a:pPr>
            <a:r>
              <a:rPr sz="2000" b="0" i="0">
                <a:solidFill>
                  <a:srgbClr val="000000"/>
                </a:solidFill>
                <a:latin typeface="Times New Roman"/>
              </a:rPr>
              <a:t>Status of work — what has been measured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4443984"/>
            <a:ext cx="27432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4626864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00000"/>
                </a:solidFill>
                <a:latin typeface="Times New Roman"/>
              </a:rPr>
              <a:t>2026-09-15</a:t>
            </a:r>
          </a:p>
          <a:p>
            <a:pPr>
              <a:spcAft>
                <a:spcPts val="0"/>
              </a:spcAft>
            </a:pPr>
            <a:r>
              <a:rPr sz="1300" b="0" i="0">
                <a:solidFill>
                  <a:srgbClr val="000000"/>
                </a:solidFill>
                <a:latin typeface="Times New Roman"/>
              </a:rPr>
              <a:t>vendor pin a4fc478   |   corpus pin cc2adbc8   |   spend to date $0.13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66928"/>
            <a:ext cx="103628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</a:rPr>
              <a:t>Summary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389888"/>
            <a:ext cx="1036289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6327648"/>
            <a:ext cx="103628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Times New Roman"/>
              </a:rPr>
              <a:t>Trust-Gated Fast-Weight Updates for TTT-E2E LLMs   |   2026-09-15   |  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—  Done.</a:t>
            </a:r>
            <a:r>
              <a:rPr sz="1700">
                <a:solidFill>
                  <a:srgbClr val="000000"/>
                </a:solidFill>
                <a:latin typeface="Times New Roman"/>
              </a:rPr>
              <a:t>  002 complete and reproducible. 003 executes the vendor model. Cost model measured against the live bucket.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—  Not done.</a:t>
            </a:r>
            <a:r>
              <a:rPr sz="1700">
                <a:solidFill>
                  <a:srgbClr val="000000"/>
                </a:solidFill>
                <a:latin typeface="Times New Roman"/>
              </a:rPr>
              <a:t>  Kill-gate (001). Fast-weight carry. 1B baseline.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—  Verdict.</a:t>
            </a:r>
            <a:r>
              <a:rPr sz="1700">
                <a:solidFill>
                  <a:srgbClr val="000000"/>
                </a:solidFill>
                <a:latin typeface="Times New Roman"/>
              </a:rPr>
              <a:t>  None. Nothing here is a PROCEED or a STOP.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—  Spend.</a:t>
            </a:r>
            <a:r>
              <a:rPr sz="1700">
                <a:solidFill>
                  <a:srgbClr val="000000"/>
                </a:solidFill>
                <a:latin typeface="Times New Roman"/>
              </a:rPr>
              <a:t>  $0.13, one GCS transfer. All compute so far on free hardware.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3319272"/>
          <a:ext cx="987552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011680"/>
                <a:gridCol w="45720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Pre-registered bar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Cohen's d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≥ 0.80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frozen 2026-08-08, untouched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Relative degradation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≥ 10%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frozen 2026-08-08, untouched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Fluency ratio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≤ 1.5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frozen 2026-08-08, not yet scorable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66928"/>
            <a:ext cx="103628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</a:rPr>
              <a:t>Experiment 002 — scaled-down pilot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389888"/>
            <a:ext cx="1036289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6327648"/>
            <a:ext cx="103628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Times New Roman"/>
              </a:rPr>
              <a:t>Trust-Gated Fast-Weight Updates for TTT-E2E LLMs   |   2026-09-15   | 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—  Victim: ~0.1M-parameter byte-level TTT stand-in. Not TTT-E2E.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—  Attacker selects real spans from a benign corpus and chooses their order.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—  Base weights frozen; only the fast MLP is updated, by SGD, once per chunk.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907792"/>
          <a:ext cx="987552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377440"/>
                <a:gridCol w="42062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Measurement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Observed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Bar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Effect size (Cohen's d)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-0.003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≥ 0.80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Relative degradation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-0.0012%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≥ 10%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Inner-loop adaptation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0.1532 nats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vs 0.0007 with shallow base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Position in own null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0th percentile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9377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50" b="0" i="1">
                <a:solidFill>
                  <a:srgbClr val="000000"/>
                </a:solidFill>
                <a:latin typeface="Times New Roman"/>
              </a:rPr>
              <a:t>The attack moves benign loss by nothing. The mechanism it attacks measurably adapts, so this is a null from a working inner loop.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66928"/>
            <a:ext cx="103628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</a:rPr>
              <a:t>Experiment 002 — null distribution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389888"/>
            <a:ext cx="1036289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6327648"/>
            <a:ext cx="103628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Times New Roman"/>
              </a:rPr>
              <a:t>Trust-Gated Fast-Weight Updates for TTT-E2E LLMs   |   2026-09-15   |   3</a:t>
            </a:r>
          </a:p>
        </p:txBody>
      </p:sp>
      <p:pic>
        <p:nvPicPr>
          <p:cNvPr id="5" name="Picture 4" descr="nul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627632"/>
            <a:ext cx="9509760" cy="2697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562856"/>
            <a:ext cx="10058400" cy="163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550" b="0">
                <a:solidFill>
                  <a:srgbClr val="000000"/>
                </a:solidFill>
                <a:latin typeface="Times New Roman"/>
              </a:rPr>
              <a:t>—  3 of 20 control-vs-control draws clear |d| ≥ 0.80. False-positive rate 15%.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550" b="0">
                <a:solidFill>
                  <a:srgbClr val="000000"/>
                </a:solidFill>
                <a:latin typeface="Times New Roman"/>
              </a:rPr>
              <a:t>—  Median |d| 0.362, max 1.307, 5 seeds per draw.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550" b="0">
                <a:solidFill>
                  <a:srgbClr val="000000"/>
                </a:solidFill>
                <a:latin typeface="Times New Roman"/>
              </a:rPr>
              <a:t>—  Shallow pilot, same run: d = 0.872 poison-vs-control, 0.964 control-vs-control.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66928"/>
            <a:ext cx="103628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</a:rPr>
              <a:t>Reproducibility defect — found and fixed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389888"/>
            <a:ext cx="1036289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6327648"/>
            <a:ext cx="103628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Times New Roman"/>
              </a:rPr>
              <a:t>Trust-Gated Fast-Weight Updates for TTT-E2E LLMs   |   2026-09-15   | 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—  The pilot's corpus was a live glob of this repository's own markdown, resolved at run time.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—  Every commit touching a .md file changed the experiment.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523744"/>
          <a:ext cx="1014984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566160"/>
                <a:gridCol w="34747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Quantity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Before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Corpus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672 KB, 47 files, drifting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615,141 B, frozen, hashed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Shallow pilot d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+0.0535 → −1.2838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+0.872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Deep pilot d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+0.8313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−0.003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Null false-positive rate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55%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15%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53712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50" b="0" i="1">
                <a:solidFill>
                  <a:srgbClr val="000000"/>
                </a:solidFill>
                <a:latin typeface="Times New Roman"/>
              </a:rPr>
              <a:t>Editing two unrelated README files moved d across zero and past the bar in the opposite direction. corpus.txt is now pinned by SHA-256 and checked on load; a mismatch refuses to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66928"/>
            <a:ext cx="103628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</a:rPr>
              <a:t>Experiment 003 — first execution of the vendor model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389888"/>
            <a:ext cx="1036289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6327648"/>
            <a:ext cx="103628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Times New Roman"/>
              </a:rPr>
              <a:t>Trust-Gated Fast-Weight Updates for TTT-E2E LLMs   |   2026-09-15   |  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627632"/>
          <a:ext cx="1014984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2377440"/>
                <a:gridCol w="47548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Measurement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Observed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Reconstructed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Trainable parameters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184,363,776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matches to within RMSNorm weights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Inner (fast) weights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11,501,568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3 × 3 × 768 × 1664, exact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Attack surface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6.24%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of trainable parameters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</a:tbl>
          </a:graphicData>
        </a:graphic>
      </p:graphicFrame>
      <p:pic>
        <p:nvPicPr>
          <p:cNvPr id="6" name="Picture 5" descr="inner_loop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199" y="3273552"/>
            <a:ext cx="8083296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733288"/>
            <a:ext cx="1005840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50" b="0" i="1">
                <a:solidFill>
                  <a:srgbClr val="000000"/>
                </a:solidFill>
                <a:latin typeface="Times New Roman"/>
              </a:rPr>
              <a:t>125M random init, dummy tokens, seq 8192, RTX 3070 Ti, bf16. Falls 2.035 nats over 8 chunks. Chunk 1 within 0.030 nats of a value predicted from two config constants.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66928"/>
            <a:ext cx="103628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</a:rPr>
              <a:t>Cost model — measured against the live bucket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389888"/>
            <a:ext cx="1036289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6327648"/>
            <a:ext cx="103628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Times New Roman"/>
              </a:rPr>
              <a:t>Trust-Gated Fast-Weight Updates for TTT-E2E LLMs   |   2026-09-15   | 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627632"/>
          <a:ext cx="1033272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011680"/>
                <a:gridCol w="2560320"/>
                <a:gridCol w="34747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Quantity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Assumed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Measured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Consequence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/val tokens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50M – 1B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2,000,168,321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eval 0.9 h → 7.45 h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Storage codec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Blosc ≈ 2.5×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uncompressed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chunk subsampling possible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1B checkpoint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5.9 GB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5.35 GB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inside stated ±10%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Session total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≈ 4 h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≈ 10.5 h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collides with 12 h stop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36576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50" b="0" i="1">
                <a:solidFill>
                  <a:srgbClr val="000000"/>
                </a:solidFill>
                <a:latin typeface="Times New Roman"/>
              </a:rPr>
              <a:t>/val is 21 chunks of exactly 100,000,000 tokens. Three chunks give SE 0.0015 nats against a 0.491-nat band, for 1.12 h instead of 7.45. Fixed in writing before any baseline result is seen.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66928"/>
            <a:ext cx="103628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</a:rPr>
              <a:t>Not established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389888"/>
            <a:ext cx="1036289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6327648"/>
            <a:ext cx="103628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Times New Roman"/>
              </a:rPr>
              <a:t>Trust-Gated Fast-Weight Updates for TTT-E2E LLMs   |   2026-09-15   |  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—  No kill-gate verdict.</a:t>
            </a:r>
            <a:r>
              <a:rPr sz="1600">
                <a:solidFill>
                  <a:srgbClr val="000000"/>
                </a:solidFill>
                <a:latin typeface="Times New Roman"/>
              </a:rPr>
              <a:t>  001 not run. PREREGISTERED.md untouched.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—  No fast-weight carry result.</a:t>
            </a:r>
            <a:r>
              <a:rPr sz="1600">
                <a:solidFill>
                  <a:srgbClr val="000000"/>
                </a:solidFill>
                <a:latin typeface="Times New Roman"/>
              </a:rPr>
              <a:t>  Blocked on GPU memory; 8 GB card is ~2 GB short.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—  No 1B baseline.</a:t>
            </a:r>
            <a:r>
              <a:rPr sz="1600">
                <a:solidFill>
                  <a:srgbClr val="000000"/>
                </a:solidFill>
                <a:latin typeface="Times New Roman"/>
              </a:rPr>
              <a:t>  Needs rented Ampere. Kaggle and Colab excluded — cuDNN fused attention requires SM80+.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—  002 is not TTT-E2E.</a:t>
            </a:r>
            <a:r>
              <a:rPr sz="1600">
                <a:solidFill>
                  <a:srgbClr val="000000"/>
                </a:solidFill>
                <a:latin typeface="Times New Roman"/>
              </a:rPr>
              <a:t>  0.1M-parameter stand-in, realism bar unscored, cannot return PROCEED.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64992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50" b="0" i="1">
                <a:solidFill>
                  <a:srgbClr val="000000"/>
                </a:solidFill>
                <a:latin typeface="Times New Roman"/>
              </a:rPr>
              <a:t>Seven first-launch failures found and fixed on free hardware, including a checkpoint restore path that raises on the released artefact and a sequence-length reduction that returns NaN rather than an error.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66928"/>
            <a:ext cx="103628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</a:rPr>
              <a:t>Next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389888"/>
            <a:ext cx="1036289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6327648"/>
            <a:ext cx="103628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Times New Roman"/>
              </a:rPr>
              <a:t>Trust-Gated Fast-Weight Updates for TTT-E2E LLMs   |   2026-09-15   |  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627632"/>
          <a:ext cx="1033272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657600"/>
                <a:gridCol w="26517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Requires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1">
                          <a:solidFill>
                            <a:srgbClr val="000000"/>
                          </a:solidFill>
                          <a:latin typeface="Times New Roman"/>
                        </a:rPr>
                        <a:t>Cost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1. Fast-weight carry (003)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Ampere GPU, ~16 GB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~1 h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2. 125M rehearsal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checkpoint already fetched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~0.5 h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3. 1B baseline vs 2.314–2.805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3 /val chunks, rented A100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≈ 4 h, ≈ ₹560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4. Kill-gate (001)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all of the above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</a:rPr>
                        <a:t>separate session</a:t>
                      </a:r>
                    </a:p>
                  </a:txBody>
                  <a:tcPr marL="0" marR="146304" marT="36576" marB="36576" anchor="ctr"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367588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50" b="0" i="1">
                <a:solidFill>
                  <a:srgbClr val="000000"/>
                </a:solidFill>
                <a:latin typeface="Times New Roman"/>
              </a:rPr>
              <a:t>Step 1 retires the project's named principal technical risk. Step 4 must be read against the 15% false-positive rate above.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