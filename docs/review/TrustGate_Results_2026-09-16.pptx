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2468880"/>
            <a:ext cx="10058400" cy="1133856"/>
          </a:xfrm>
          <a:prstGeom prst="rect">
            <a:avLst/>
          </a:prstGeom>
          <a:noFill/>
        </p:spPr>
        <p:txBody>
          <a:bodyPr wrap="square" anchor="t" lIns="0" rIns="0" tIns="0" bIns="0">
            <a:spAutoFit/>
          </a:bodyPr>
          <a:lstStyle/>
          <a:p>
            <a:pPr>
              <a:lnSpc>
                <a:spcPct val="106000"/>
              </a:lnSpc>
              <a:spcAft>
                <a:spcPts val="0"/>
              </a:spcAft>
            </a:pPr>
            <a:r>
              <a:rPr sz="3600" b="1" i="0">
                <a:solidFill>
                  <a:srgbClr val="000000"/>
                </a:solidFill>
                <a:latin typeface="Times New Roman"/>
              </a:rPr>
              <a:t>Trust-Gated Fast-Weight Updates for TTT-E2E LLMs</a:t>
            </a:r>
          </a:p>
        </p:txBody>
      </p:sp>
      <p:cxnSp>
        <p:nvCxnSpPr>
          <p:cNvPr id="3" name="Connector 2"/>
          <p:cNvCxnSpPr/>
          <p:nvPr/>
        </p:nvCxnSpPr>
        <p:spPr>
          <a:xfrm>
            <a:off x="914400" y="4443984"/>
            <a:ext cx="2743200" cy="0"/>
          </a:xfrm>
          <a:prstGeom prst="line">
            <a:avLst/>
          </a:prstGeom>
          <a:ln w="15875">
            <a:solidFill>
              <a:srgbClr val="00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566928"/>
            <a:ext cx="10362895" cy="822960"/>
          </a:xfrm>
          <a:prstGeom prst="rect">
            <a:avLst/>
          </a:prstGeom>
          <a:noFill/>
        </p:spPr>
        <p:txBody>
          <a:bodyPr wrap="square" anchor="t" lIns="0" rIns="0" tIns="0" bIns="0">
            <a:spAutoFit/>
          </a:bodyPr>
          <a:lstStyle/>
          <a:p>
            <a:pPr>
              <a:lnSpc>
                <a:spcPct val="104000"/>
              </a:lnSpc>
              <a:spcAft>
                <a:spcPts val="0"/>
              </a:spcAft>
            </a:pPr>
            <a:r>
              <a:rPr sz="2800" b="1" i="0">
                <a:solidFill>
                  <a:srgbClr val="000000"/>
                </a:solidFill>
                <a:latin typeface="Times New Roman"/>
              </a:rPr>
              <a:t>The problem</a:t>
            </a:r>
          </a:p>
        </p:txBody>
      </p:sp>
      <p:cxnSp>
        <p:nvCxnSpPr>
          <p:cNvPr id="3" name="Connector 2"/>
          <p:cNvCxnSpPr/>
          <p:nvPr/>
        </p:nvCxnSpPr>
        <p:spPr>
          <a:xfrm>
            <a:off x="914400" y="1389888"/>
            <a:ext cx="10362895"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1627632"/>
            <a:ext cx="10058400" cy="3657600"/>
          </a:xfrm>
          <a:prstGeom prst="rect">
            <a:avLst/>
          </a:prstGeom>
          <a:noFill/>
        </p:spPr>
        <p:txBody>
          <a:bodyPr wrap="square" anchor="t" lIns="0" rIns="0" tIns="0" bIns="0">
            <a:spAutoFit/>
          </a:bodyPr>
          <a:lstStyle/>
          <a:p>
            <a:pPr>
              <a:lnSpc>
                <a:spcPct val="116000"/>
              </a:lnSpc>
              <a:spcAft>
                <a:spcPts val="1000"/>
              </a:spcAft>
            </a:pPr>
            <a:r>
              <a:rPr sz="1600" b="1">
                <a:solidFill>
                  <a:srgbClr val="000000"/>
                </a:solidFill>
                <a:latin typeface="Times New Roman"/>
              </a:rPr>
              <a:t>•  Models that keep learning.</a:t>
            </a:r>
            <a:r>
              <a:rPr sz="1600">
                <a:solidFill>
                  <a:srgbClr val="000000"/>
                </a:solidFill>
                <a:latin typeface="Times New Roman"/>
              </a:rPr>
              <a:t>  A new kind of language model, TTT-E2E, keeps adjusting part of its own internal settings while it reads. This is what lets it handle very long documents cheaply. The part that changes is called the fast weights.</a:t>
            </a:r>
          </a:p>
          <a:p>
            <a:pPr>
              <a:lnSpc>
                <a:spcPct val="116000"/>
              </a:lnSpc>
              <a:spcAft>
                <a:spcPts val="1000"/>
              </a:spcAft>
            </a:pPr>
            <a:r>
              <a:rPr sz="1600" b="1">
                <a:solidFill>
                  <a:srgbClr val="000000"/>
                </a:solidFill>
                <a:latin typeface="Times New Roman"/>
              </a:rPr>
              <a:t>•  Why that is a risk.</a:t>
            </a:r>
            <a:r>
              <a:rPr sz="1600">
                <a:solidFill>
                  <a:srgbClr val="000000"/>
                </a:solidFill>
                <a:latin typeface="Times New Roman"/>
              </a:rPr>
              <a:t>  If a model learns from whatever it reads, then whoever controls what it reads can influence what it learns. An attacker who slips ordinary-looking text into a document, email or web page might steer the model into doing worse on later, unrelated requests.</a:t>
            </a:r>
          </a:p>
          <a:p>
            <a:pPr>
              <a:lnSpc>
                <a:spcPct val="116000"/>
              </a:lnSpc>
              <a:spcAft>
                <a:spcPts val="1000"/>
              </a:spcAft>
            </a:pPr>
            <a:r>
              <a:rPr sz="1600" b="1">
                <a:solidFill>
                  <a:srgbClr val="000000"/>
                </a:solidFill>
                <a:latin typeface="Times New Roman"/>
              </a:rPr>
              <a:t>•  Why current defences would miss it.</a:t>
            </a:r>
            <a:r>
              <a:rPr sz="1600">
                <a:solidFill>
                  <a:srgbClr val="000000"/>
                </a:solidFill>
                <a:latin typeface="Times New Roman"/>
              </a:rPr>
              <a:t>  No single sentence in such an attack looks suspicious, so content filters have nothing to catch. The model's original, stored settings are never touched, so checks on those see nothing either.</a:t>
            </a:r>
          </a:p>
        </p:txBody>
      </p:sp>
      <p:sp>
        <p:nvSpPr>
          <p:cNvPr id="5" name="TextBox 4"/>
          <p:cNvSpPr txBox="1"/>
          <p:nvPr/>
        </p:nvSpPr>
        <p:spPr>
          <a:xfrm>
            <a:off x="914400" y="4116628"/>
            <a:ext cx="10058400" cy="495299"/>
          </a:xfrm>
          <a:prstGeom prst="rect">
            <a:avLst/>
          </a:prstGeom>
          <a:noFill/>
        </p:spPr>
        <p:txBody>
          <a:bodyPr wrap="square" anchor="t" lIns="0" rIns="0" tIns="0" bIns="0">
            <a:spAutoFit/>
          </a:bodyPr>
          <a:lstStyle/>
          <a:p>
            <a:pPr>
              <a:lnSpc>
                <a:spcPct val="130000"/>
              </a:lnSpc>
              <a:spcAft>
                <a:spcPts val="0"/>
              </a:spcAft>
            </a:pPr>
            <a:r>
              <a:rPr sz="1250" b="0" i="1">
                <a:solidFill>
                  <a:srgbClr val="000000"/>
                </a:solidFill>
                <a:latin typeface="Times New Roman"/>
              </a:rPr>
              <a:t>If this attack exists, it would be quiet, gradual, and invisible to the tools used to protect language models today. This project first tests whether it exists, and builds a defence only if it does.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566928"/>
            <a:ext cx="10362895" cy="822960"/>
          </a:xfrm>
          <a:prstGeom prst="rect">
            <a:avLst/>
          </a:prstGeom>
          <a:noFill/>
        </p:spPr>
        <p:txBody>
          <a:bodyPr wrap="square" anchor="t" lIns="0" rIns="0" tIns="0" bIns="0">
            <a:spAutoFit/>
          </a:bodyPr>
          <a:lstStyle/>
          <a:p>
            <a:pPr>
              <a:lnSpc>
                <a:spcPct val="104000"/>
              </a:lnSpc>
              <a:spcAft>
                <a:spcPts val="0"/>
              </a:spcAft>
            </a:pPr>
            <a:r>
              <a:rPr sz="2800" b="1" i="0">
                <a:solidFill>
                  <a:srgbClr val="000000"/>
                </a:solidFill>
                <a:latin typeface="Times New Roman"/>
              </a:rPr>
              <a:t>The proposed defence</a:t>
            </a:r>
          </a:p>
        </p:txBody>
      </p:sp>
      <p:cxnSp>
        <p:nvCxnSpPr>
          <p:cNvPr id="3" name="Connector 2"/>
          <p:cNvCxnSpPr/>
          <p:nvPr/>
        </p:nvCxnSpPr>
        <p:spPr>
          <a:xfrm>
            <a:off x="914400" y="1389888"/>
            <a:ext cx="10362895"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1627632"/>
            <a:ext cx="10058400" cy="3657600"/>
          </a:xfrm>
          <a:prstGeom prst="rect">
            <a:avLst/>
          </a:prstGeom>
          <a:noFill/>
        </p:spPr>
        <p:txBody>
          <a:bodyPr wrap="square" anchor="t" lIns="0" rIns="0" tIns="0" bIns="0">
            <a:spAutoFit/>
          </a:bodyPr>
          <a:lstStyle/>
          <a:p>
            <a:pPr>
              <a:lnSpc>
                <a:spcPct val="116000"/>
              </a:lnSpc>
              <a:spcAft>
                <a:spcPts val="1000"/>
              </a:spcAft>
            </a:pPr>
            <a:r>
              <a:rPr sz="1600" b="1">
                <a:solidFill>
                  <a:srgbClr val="000000"/>
                </a:solidFill>
                <a:latin typeface="Times New Roman"/>
              </a:rPr>
              <a:t>•  A check on every change.</a:t>
            </a:r>
            <a:r>
              <a:rPr sz="1600">
                <a:solidFill>
                  <a:srgbClr val="000000"/>
                </a:solidFill>
                <a:latin typeface="Times New Roman"/>
              </a:rPr>
              <a:t>  Each time the model is about to update its fast weights, a trust gate inspects the change first and can refuse it.</a:t>
            </a:r>
          </a:p>
          <a:p>
            <a:pPr>
              <a:lnSpc>
                <a:spcPct val="116000"/>
              </a:lnSpc>
              <a:spcAft>
                <a:spcPts val="1000"/>
              </a:spcAft>
            </a:pPr>
            <a:r>
              <a:rPr sz="1600" b="1">
                <a:solidFill>
                  <a:srgbClr val="000000"/>
                </a:solidFill>
                <a:latin typeface="Times New Roman"/>
              </a:rPr>
              <a:t>•  What it looks for.</a:t>
            </a:r>
            <a:r>
              <a:rPr sz="1600">
                <a:solidFill>
                  <a:srgbClr val="000000"/>
                </a:solidFill>
                <a:latin typeface="Times New Roman"/>
              </a:rPr>
              <a:t>  Whether the change would pull the model's answers away from those of a frozen, trusted copy of itself, tested on a small rotating set of passages the attacker cannot see.</a:t>
            </a:r>
          </a:p>
          <a:p>
            <a:pPr>
              <a:lnSpc>
                <a:spcPct val="116000"/>
              </a:lnSpc>
              <a:spcAft>
                <a:spcPts val="1000"/>
              </a:spcAft>
            </a:pPr>
            <a:r>
              <a:rPr sz="1600" b="1">
                <a:solidFill>
                  <a:srgbClr val="000000"/>
                </a:solidFill>
                <a:latin typeface="Times New Roman"/>
              </a:rPr>
              <a:t>•  A cap on total change.</a:t>
            </a:r>
            <a:r>
              <a:rPr sz="1600">
                <a:solidFill>
                  <a:srgbClr val="000000"/>
                </a:solidFill>
                <a:latin typeface="Times New Roman"/>
              </a:rPr>
              <a:t>  The gate keeps a running total of how far the model has moved. Once that total reaches a set budget, further changes are refused, however harmless each one looks on its own.</a:t>
            </a:r>
          </a:p>
          <a:p>
            <a:pPr>
              <a:lnSpc>
                <a:spcPct val="116000"/>
              </a:lnSpc>
              <a:spcAft>
                <a:spcPts val="1000"/>
              </a:spcAft>
            </a:pPr>
            <a:r>
              <a:rPr sz="1600" b="1">
                <a:solidFill>
                  <a:srgbClr val="000000"/>
                </a:solidFill>
                <a:latin typeface="Times New Roman"/>
              </a:rPr>
              <a:t>•  A way back.</a:t>
            </a:r>
            <a:r>
              <a:rPr sz="1600">
                <a:solidFill>
                  <a:srgbClr val="000000"/>
                </a:solidFill>
                <a:latin typeface="Times New Roman"/>
              </a:rPr>
              <a:t>  Recent trusted versions of the fast weights are kept, so the model can be restored instantly.</a:t>
            </a:r>
          </a:p>
        </p:txBody>
      </p:sp>
      <p:sp>
        <p:nvSpPr>
          <p:cNvPr id="5" name="TextBox 4"/>
          <p:cNvSpPr txBox="1"/>
          <p:nvPr/>
        </p:nvSpPr>
        <p:spPr>
          <a:xfrm>
            <a:off x="914400" y="4243628"/>
            <a:ext cx="10058400" cy="742950"/>
          </a:xfrm>
          <a:prstGeom prst="rect">
            <a:avLst/>
          </a:prstGeom>
          <a:noFill/>
        </p:spPr>
        <p:txBody>
          <a:bodyPr wrap="square" anchor="t" lIns="0" rIns="0" tIns="0" bIns="0">
            <a:spAutoFit/>
          </a:bodyPr>
          <a:lstStyle/>
          <a:p>
            <a:pPr>
              <a:lnSpc>
                <a:spcPct val="130000"/>
              </a:lnSpc>
              <a:spcAft>
                <a:spcPts val="0"/>
              </a:spcAft>
            </a:pPr>
            <a:r>
              <a:rPr sz="1250" b="0" i="1">
                <a:solidFill>
                  <a:srgbClr val="000000"/>
                </a:solidFill>
                <a:latin typeface="Times New Roman"/>
              </a:rPr>
              <a:t>The cap on total change is the part that can be proven. Within each budget period, the model cannot move further from its trusted starting point than the budget allows, whatever the attacker feeds it. That is a mathematical guarantee rather than a detection rate, and it holds even for harmful changes the gate fails to recognise.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566928"/>
            <a:ext cx="10362895" cy="822960"/>
          </a:xfrm>
          <a:prstGeom prst="rect">
            <a:avLst/>
          </a:prstGeom>
          <a:noFill/>
        </p:spPr>
        <p:txBody>
          <a:bodyPr wrap="square" anchor="t" lIns="0" rIns="0" tIns="0" bIns="0">
            <a:spAutoFit/>
          </a:bodyPr>
          <a:lstStyle/>
          <a:p>
            <a:pPr>
              <a:lnSpc>
                <a:spcPct val="104000"/>
              </a:lnSpc>
              <a:spcAft>
                <a:spcPts val="0"/>
              </a:spcAft>
            </a:pPr>
            <a:r>
              <a:rPr sz="2800" b="1" i="0">
                <a:solidFill>
                  <a:srgbClr val="000000"/>
                </a:solidFill>
                <a:latin typeface="Times New Roman"/>
              </a:rPr>
              <a:t>Deciding whether to build it</a:t>
            </a:r>
          </a:p>
        </p:txBody>
      </p:sp>
      <p:cxnSp>
        <p:nvCxnSpPr>
          <p:cNvPr id="3" name="Connector 2"/>
          <p:cNvCxnSpPr/>
          <p:nvPr/>
        </p:nvCxnSpPr>
        <p:spPr>
          <a:xfrm>
            <a:off x="914400" y="1389888"/>
            <a:ext cx="10362895"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1627632"/>
            <a:ext cx="10058400" cy="3657600"/>
          </a:xfrm>
          <a:prstGeom prst="rect">
            <a:avLst/>
          </a:prstGeom>
          <a:noFill/>
        </p:spPr>
        <p:txBody>
          <a:bodyPr wrap="square" anchor="t" lIns="0" rIns="0" tIns="0" bIns="0">
            <a:spAutoFit/>
          </a:bodyPr>
          <a:lstStyle/>
          <a:p>
            <a:pPr>
              <a:lnSpc>
                <a:spcPct val="116000"/>
              </a:lnSpc>
              <a:spcAft>
                <a:spcPts val="1000"/>
              </a:spcAft>
            </a:pPr>
            <a:r>
              <a:rPr sz="1600" b="1">
                <a:solidFill>
                  <a:srgbClr val="000000"/>
                </a:solidFill>
                <a:latin typeface="Times New Roman"/>
              </a:rPr>
              <a:t>•  Attack first, defence second.</a:t>
            </a:r>
            <a:r>
              <a:rPr sz="1600">
                <a:solidFill>
                  <a:srgbClr val="000000"/>
                </a:solidFill>
                <a:latin typeface="Times New Roman"/>
              </a:rPr>
              <a:t>  A defence against an attack nobody has shown to work would be wasted effort. So the first job is to test, on the real model, whether the attack works at all.</a:t>
            </a:r>
          </a:p>
          <a:p>
            <a:pPr>
              <a:lnSpc>
                <a:spcPct val="116000"/>
              </a:lnSpc>
              <a:spcAft>
                <a:spcPts val="1000"/>
              </a:spcAft>
            </a:pPr>
            <a:r>
              <a:rPr sz="1600" b="1">
                <a:solidFill>
                  <a:srgbClr val="000000"/>
                </a:solidFill>
                <a:latin typeface="Times New Roman"/>
              </a:rPr>
              <a:t>•  Rules fixed in advance.</a:t>
            </a:r>
            <a:r>
              <a:rPr sz="1600">
                <a:solidFill>
                  <a:srgbClr val="000000"/>
                </a:solidFill>
                <a:latin typeface="Times New Roman"/>
              </a:rPr>
              <a:t>  What counts as a working attack was written down and committed on 28 July 2026, before any attack code existed. It cannot be adjusted after the results are in.</a:t>
            </a:r>
          </a:p>
        </p:txBody>
      </p:sp>
      <p:graphicFrame>
        <p:nvGraphicFramePr>
          <p:cNvPr id="5" name="Table 4"/>
          <p:cNvGraphicFramePr>
            <a:graphicFrameLocks noGrp="1"/>
          </p:cNvGraphicFramePr>
          <p:nvPr/>
        </p:nvGraphicFramePr>
        <p:xfrm>
          <a:off x="914400" y="3177641"/>
          <a:ext cx="10058400" cy="1597151"/>
        </p:xfrm>
        <a:graphic>
          <a:graphicData uri="http://schemas.openxmlformats.org/drawingml/2006/table">
            <a:tbl>
              <a:tblPr>
                <a:tableStyleId>{5C22544A-7EE6-4342-B048-85BDC9FD1C3A}</a:tableStyleId>
              </a:tblPr>
              <a:tblGrid>
                <a:gridCol w="2926080"/>
                <a:gridCol w="1188720"/>
                <a:gridCol w="5943600"/>
              </a:tblGrid>
              <a:tr h="365760">
                <a:tc>
                  <a:txBody>
                    <a:bodyPr wrap="square"/>
                    <a:lstStyle/>
                    <a:p>
                      <a:r>
                        <a:rPr sz="1400" b="1" i="1">
                          <a:solidFill>
                            <a:srgbClr val="000000"/>
                          </a:solidFill>
                          <a:latin typeface="Times New Roman"/>
                        </a:rPr>
                        <a:t>Condition</a:t>
                      </a:r>
                    </a:p>
                  </a:txBody>
                  <a:tcPr marL="0" marR="146304" marT="36576" marB="36576" anchor="ctr">
                    <a:noFill/>
                  </a:tcPr>
                </a:tc>
                <a:tc>
                  <a:txBody>
                    <a:bodyPr wrap="square"/>
                    <a:lstStyle/>
                    <a:p>
                      <a:r>
                        <a:rPr sz="1400" b="1" i="1">
                          <a:solidFill>
                            <a:srgbClr val="000000"/>
                          </a:solidFill>
                          <a:latin typeface="Times New Roman"/>
                        </a:rPr>
                        <a:t>Threshold</a:t>
                      </a:r>
                    </a:p>
                  </a:txBody>
                  <a:tcPr marL="0" marR="146304" marT="36576" marB="36576" anchor="ctr">
                    <a:noFill/>
                  </a:tcPr>
                </a:tc>
                <a:tc>
                  <a:txBody>
                    <a:bodyPr wrap="square"/>
                    <a:lstStyle/>
                    <a:p>
                      <a:r>
                        <a:rPr sz="1400" b="1" i="1">
                          <a:solidFill>
                            <a:srgbClr val="000000"/>
                          </a:solidFill>
                          <a:latin typeface="Times New Roman"/>
                        </a:rPr>
                        <a:t>In plain terms</a:t>
                      </a:r>
                    </a:p>
                  </a:txBody>
                  <a:tcPr marL="0" marR="146304" marT="36576" marB="36576" anchor="ctr">
                    <a:noFill/>
                  </a:tcPr>
                </a:tc>
              </a:tr>
              <a:tr h="365760">
                <a:tc>
                  <a:txBody>
                    <a:bodyPr wrap="square"/>
                    <a:lstStyle/>
                    <a:p>
                      <a:r>
                        <a:rPr sz="1400" b="0" i="0">
                          <a:solidFill>
                            <a:srgbClr val="000000"/>
                          </a:solidFill>
                          <a:latin typeface="Times New Roman"/>
                        </a:rPr>
                        <a:t>Effect size (Cohen's d)</a:t>
                      </a:r>
                    </a:p>
                  </a:txBody>
                  <a:tcPr marL="0" marR="146304" marT="36576" marB="36576" anchor="ctr">
                    <a:noFill/>
                  </a:tcPr>
                </a:tc>
                <a:tc>
                  <a:txBody>
                    <a:bodyPr wrap="square"/>
                    <a:lstStyle/>
                    <a:p>
                      <a:r>
                        <a:rPr sz="1400" b="0" i="0">
                          <a:solidFill>
                            <a:srgbClr val="000000"/>
                          </a:solidFill>
                          <a:latin typeface="Times New Roman"/>
                        </a:rPr>
                        <a:t>≥ 0.80</a:t>
                      </a:r>
                    </a:p>
                  </a:txBody>
                  <a:tcPr marL="0" marR="146304" marT="36576" marB="36576" anchor="ctr">
                    <a:noFill/>
                  </a:tcPr>
                </a:tc>
                <a:tc>
                  <a:txBody>
                    <a:bodyPr wrap="square"/>
                    <a:lstStyle/>
                    <a:p>
                      <a:r>
                        <a:rPr sz="1400" b="0" i="0">
                          <a:solidFill>
                            <a:srgbClr val="000000"/>
                          </a:solidFill>
                          <a:latin typeface="Times New Roman"/>
                        </a:rPr>
                        <a:t>attacked and normal runs must differ by far more than chance</a:t>
                      </a:r>
                    </a:p>
                  </a:txBody>
                  <a:tcPr marL="0" marR="146304" marT="36576" marB="36576" anchor="ctr">
                    <a:noFill/>
                  </a:tcPr>
                </a:tc>
              </a:tr>
              <a:tr h="365760">
                <a:tc>
                  <a:txBody>
                    <a:bodyPr wrap="square"/>
                    <a:lstStyle/>
                    <a:p>
                      <a:r>
                        <a:rPr sz="1400" b="0" i="0">
                          <a:solidFill>
                            <a:srgbClr val="000000"/>
                          </a:solidFill>
                          <a:latin typeface="Times New Roman"/>
                        </a:rPr>
                        <a:t>Loss of performance</a:t>
                      </a:r>
                    </a:p>
                  </a:txBody>
                  <a:tcPr marL="0" marR="146304" marT="36576" marB="36576" anchor="ctr">
                    <a:noFill/>
                  </a:tcPr>
                </a:tc>
                <a:tc>
                  <a:txBody>
                    <a:bodyPr wrap="square"/>
                    <a:lstStyle/>
                    <a:p>
                      <a:r>
                        <a:rPr sz="1400" b="0" i="0">
                          <a:solidFill>
                            <a:srgbClr val="000000"/>
                          </a:solidFill>
                          <a:latin typeface="Times New Roman"/>
                        </a:rPr>
                        <a:t>≥ 10%</a:t>
                      </a:r>
                    </a:p>
                  </a:txBody>
                  <a:tcPr marL="0" marR="146304" marT="36576" marB="36576" anchor="ctr">
                    <a:noFill/>
                  </a:tcPr>
                </a:tc>
                <a:tc>
                  <a:txBody>
                    <a:bodyPr wrap="square"/>
                    <a:lstStyle/>
                    <a:p>
                      <a:r>
                        <a:rPr sz="1400" b="0" i="0">
                          <a:solidFill>
                            <a:srgbClr val="000000"/>
                          </a:solidFill>
                          <a:latin typeface="Times New Roman"/>
                        </a:rPr>
                        <a:t>the model must get at least a tenth worse at ordinary tasks</a:t>
                      </a:r>
                    </a:p>
                  </a:txBody>
                  <a:tcPr marL="0" marR="146304" marT="36576" marB="36576" anchor="ctr">
                    <a:noFill/>
                  </a:tcPr>
                </a:tc>
              </a:tr>
              <a:tr h="499871">
                <a:tc>
                  <a:txBody>
                    <a:bodyPr wrap="square"/>
                    <a:lstStyle/>
                    <a:p>
                      <a:r>
                        <a:rPr sz="1400" b="0" i="0">
                          <a:solidFill>
                            <a:srgbClr val="000000"/>
                          </a:solidFill>
                          <a:latin typeface="Times New Roman"/>
                        </a:rPr>
                        <a:t>Naturalness of the attack text</a:t>
                      </a:r>
                    </a:p>
                  </a:txBody>
                  <a:tcPr marL="0" marR="146304" marT="36576" marB="36576" anchor="ctr">
                    <a:noFill/>
                  </a:tcPr>
                </a:tc>
                <a:tc>
                  <a:txBody>
                    <a:bodyPr wrap="square"/>
                    <a:lstStyle/>
                    <a:p>
                      <a:r>
                        <a:rPr sz="1400" b="0" i="0">
                          <a:solidFill>
                            <a:srgbClr val="000000"/>
                          </a:solidFill>
                          <a:latin typeface="Times New Roman"/>
                        </a:rPr>
                        <a:t>≤ 1.5</a:t>
                      </a:r>
                    </a:p>
                  </a:txBody>
                  <a:tcPr marL="0" marR="146304" marT="36576" marB="36576" anchor="ctr">
                    <a:noFill/>
                  </a:tcPr>
                </a:tc>
                <a:tc>
                  <a:txBody>
                    <a:bodyPr wrap="square"/>
                    <a:lstStyle/>
                    <a:p>
                      <a:r>
                        <a:rPr sz="1400" b="0" i="0">
                          <a:solidFill>
                            <a:srgbClr val="000000"/>
                          </a:solidFill>
                          <a:latin typeface="Times New Roman"/>
                        </a:rPr>
                        <a:t>the attack text must read almost as naturally as normal text, judged by a separate model</a:t>
                      </a:r>
                    </a:p>
                  </a:txBody>
                  <a:tcPr marL="0" marR="146304" marT="36576" marB="36576" anchor="ctr">
                    <a:noFill/>
                  </a:tcPr>
                </a:tc>
              </a:tr>
            </a:tbl>
          </a:graphicData>
        </a:graphic>
      </p:graphicFrame>
      <p:sp>
        <p:nvSpPr>
          <p:cNvPr id="6" name="TextBox 5"/>
          <p:cNvSpPr txBox="1"/>
          <p:nvPr/>
        </p:nvSpPr>
        <p:spPr>
          <a:xfrm>
            <a:off x="914400" y="4975961"/>
            <a:ext cx="10058400" cy="247649"/>
          </a:xfrm>
          <a:prstGeom prst="rect">
            <a:avLst/>
          </a:prstGeom>
          <a:noFill/>
        </p:spPr>
        <p:txBody>
          <a:bodyPr wrap="square" anchor="t" lIns="0" rIns="0" tIns="0" bIns="0">
            <a:spAutoFit/>
          </a:bodyPr>
          <a:lstStyle/>
          <a:p>
            <a:pPr>
              <a:lnSpc>
                <a:spcPct val="130000"/>
              </a:lnSpc>
              <a:spcAft>
                <a:spcPts val="0"/>
              </a:spcAft>
            </a:pPr>
            <a:r>
              <a:rPr sz="1250" b="0" i="1">
                <a:solidFill>
                  <a:srgbClr val="000000"/>
                </a:solidFill>
                <a:latin typeface="Times New Roman"/>
              </a:rPr>
              <a:t>All three must hold. If they do, the defence gets built. If any one fails, the project stops and publishes that finding, which is a useful result in its own right.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566928"/>
            <a:ext cx="10362895" cy="822960"/>
          </a:xfrm>
          <a:prstGeom prst="rect">
            <a:avLst/>
          </a:prstGeom>
          <a:noFill/>
        </p:spPr>
        <p:txBody>
          <a:bodyPr wrap="square" anchor="t" lIns="0" rIns="0" tIns="0" bIns="0">
            <a:spAutoFit/>
          </a:bodyPr>
          <a:lstStyle/>
          <a:p>
            <a:pPr>
              <a:lnSpc>
                <a:spcPct val="104000"/>
              </a:lnSpc>
              <a:spcAft>
                <a:spcPts val="0"/>
              </a:spcAft>
            </a:pPr>
            <a:r>
              <a:rPr sz="2800" b="1" i="0">
                <a:solidFill>
                  <a:srgbClr val="000000"/>
                </a:solidFill>
                <a:latin typeface="Times New Roman"/>
              </a:rPr>
              <a:t>Where things stand</a:t>
            </a:r>
          </a:p>
        </p:txBody>
      </p:sp>
      <p:cxnSp>
        <p:nvCxnSpPr>
          <p:cNvPr id="3" name="Connector 2"/>
          <p:cNvCxnSpPr/>
          <p:nvPr/>
        </p:nvCxnSpPr>
        <p:spPr>
          <a:xfrm>
            <a:off x="914400" y="1389888"/>
            <a:ext cx="10362895"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1627632"/>
            <a:ext cx="10058400" cy="3657600"/>
          </a:xfrm>
          <a:prstGeom prst="rect">
            <a:avLst/>
          </a:prstGeom>
          <a:noFill/>
        </p:spPr>
        <p:txBody>
          <a:bodyPr wrap="square" anchor="t" lIns="0" rIns="0" tIns="0" bIns="0">
            <a:spAutoFit/>
          </a:bodyPr>
          <a:lstStyle/>
          <a:p>
            <a:pPr>
              <a:lnSpc>
                <a:spcPct val="116000"/>
              </a:lnSpc>
              <a:spcAft>
                <a:spcPts val="1100"/>
              </a:spcAft>
            </a:pPr>
            <a:r>
              <a:rPr sz="1700" b="1">
                <a:solidFill>
                  <a:srgbClr val="000000"/>
                </a:solidFill>
                <a:latin typeface="Times New Roman"/>
              </a:rPr>
              <a:t>•  Done.</a:t>
            </a:r>
            <a:r>
              <a:rPr sz="1700">
                <a:solidFill>
                  <a:srgbClr val="000000"/>
                </a:solidFill>
                <a:latin typeface="Times New Roman"/>
              </a:rPr>
              <a:t>  The measuring tools are built and tested. A small practice version of the experiment runs on a fixed, verified input. The real model has been run for the first time. Costs have been measured rather than guessed.</a:t>
            </a:r>
          </a:p>
          <a:p>
            <a:pPr>
              <a:lnSpc>
                <a:spcPct val="116000"/>
              </a:lnSpc>
              <a:spcAft>
                <a:spcPts val="1100"/>
              </a:spcAft>
            </a:pPr>
            <a:r>
              <a:rPr sz="1700" b="1">
                <a:solidFill>
                  <a:srgbClr val="000000"/>
                </a:solidFill>
                <a:latin typeface="Times New Roman"/>
              </a:rPr>
              <a:t>•  Not done.</a:t>
            </a:r>
            <a:r>
              <a:rPr sz="1700">
                <a:solidFill>
                  <a:srgbClr val="000000"/>
                </a:solidFill>
                <a:latin typeface="Times New Roman"/>
              </a:rPr>
              <a:t>  The decisive test on the real model. It needs a rented data-centre GPU, which is being arranged.</a:t>
            </a:r>
          </a:p>
          <a:p>
            <a:pPr>
              <a:lnSpc>
                <a:spcPct val="116000"/>
              </a:lnSpc>
              <a:spcAft>
                <a:spcPts val="1100"/>
              </a:spcAft>
            </a:pPr>
            <a:r>
              <a:rPr sz="1700" b="1">
                <a:solidFill>
                  <a:srgbClr val="000000"/>
                </a:solidFill>
                <a:latin typeface="Times New Roman"/>
              </a:rPr>
              <a:t>•  Verdict.</a:t>
            </a:r>
            <a:r>
              <a:rPr sz="1700">
                <a:solidFill>
                  <a:srgbClr val="000000"/>
                </a:solidFill>
                <a:latin typeface="Times New Roman"/>
              </a:rPr>
              <a:t>  None yet. Nothing in this deck says whether the attack works.</a:t>
            </a:r>
          </a:p>
          <a:p>
            <a:pPr>
              <a:lnSpc>
                <a:spcPct val="116000"/>
              </a:lnSpc>
              <a:spcAft>
                <a:spcPts val="1100"/>
              </a:spcAft>
            </a:pPr>
            <a:r>
              <a:rPr sz="1700" b="1">
                <a:solidFill>
                  <a:srgbClr val="000000"/>
                </a:solidFill>
                <a:latin typeface="Times New Roman"/>
              </a:rPr>
              <a:t>•  Spent.</a:t>
            </a:r>
            <a:r>
              <a:rPr sz="1700">
                <a:solidFill>
                  <a:srgbClr val="000000"/>
                </a:solidFill>
                <a:latin typeface="Times New Roman"/>
              </a:rPr>
              <a:t>  $0.13 in total. All computing so far has used free hardware.</a:t>
            </a:r>
          </a:p>
        </p:txBody>
      </p:sp>
      <p:sp>
        <p:nvSpPr>
          <p:cNvPr id="5" name="TextBox 4"/>
          <p:cNvSpPr txBox="1"/>
          <p:nvPr/>
        </p:nvSpPr>
        <p:spPr>
          <a:xfrm>
            <a:off x="914400" y="3817112"/>
            <a:ext cx="10058400" cy="495299"/>
          </a:xfrm>
          <a:prstGeom prst="rect">
            <a:avLst/>
          </a:prstGeom>
          <a:noFill/>
        </p:spPr>
        <p:txBody>
          <a:bodyPr wrap="square" anchor="t" lIns="0" rIns="0" tIns="0" bIns="0">
            <a:spAutoFit/>
          </a:bodyPr>
          <a:lstStyle/>
          <a:p>
            <a:pPr>
              <a:lnSpc>
                <a:spcPct val="130000"/>
              </a:lnSpc>
              <a:spcAft>
                <a:spcPts val="0"/>
              </a:spcAft>
            </a:pPr>
            <a:r>
              <a:rPr sz="1250" b="0" i="1">
                <a:solidFill>
                  <a:srgbClr val="000000"/>
                </a:solidFill>
                <a:latin typeface="Times New Roman"/>
              </a:rPr>
              <a:t>Most of what follows is groundwork for an answer that can be trusted: testing the measuring tools, finding and fixing errors in them, and costing the real test before paying for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566928"/>
            <a:ext cx="10362895" cy="822960"/>
          </a:xfrm>
          <a:prstGeom prst="rect">
            <a:avLst/>
          </a:prstGeom>
          <a:noFill/>
        </p:spPr>
        <p:txBody>
          <a:bodyPr wrap="square" anchor="t" lIns="0" rIns="0" tIns="0" bIns="0">
            <a:spAutoFit/>
          </a:bodyPr>
          <a:lstStyle/>
          <a:p>
            <a:pPr>
              <a:lnSpc>
                <a:spcPct val="104000"/>
              </a:lnSpc>
              <a:spcAft>
                <a:spcPts val="0"/>
              </a:spcAft>
            </a:pPr>
            <a:r>
              <a:rPr sz="2800" b="1" i="0">
                <a:solidFill>
                  <a:srgbClr val="000000"/>
                </a:solidFill>
                <a:latin typeface="Times New Roman"/>
              </a:rPr>
              <a:t>A first test on a small stand-in model</a:t>
            </a:r>
          </a:p>
        </p:txBody>
      </p:sp>
      <p:cxnSp>
        <p:nvCxnSpPr>
          <p:cNvPr id="3" name="Connector 2"/>
          <p:cNvCxnSpPr/>
          <p:nvPr/>
        </p:nvCxnSpPr>
        <p:spPr>
          <a:xfrm>
            <a:off x="914400" y="1389888"/>
            <a:ext cx="10362895"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1627632"/>
            <a:ext cx="10058400" cy="3657600"/>
          </a:xfrm>
          <a:prstGeom prst="rect">
            <a:avLst/>
          </a:prstGeom>
          <a:noFill/>
        </p:spPr>
        <p:txBody>
          <a:bodyPr wrap="square" anchor="t" lIns="0" rIns="0" tIns="0" bIns="0">
            <a:spAutoFit/>
          </a:bodyPr>
          <a:lstStyle/>
          <a:p>
            <a:pPr>
              <a:lnSpc>
                <a:spcPct val="116000"/>
              </a:lnSpc>
              <a:spcAft>
                <a:spcPts val="800"/>
              </a:spcAft>
            </a:pPr>
            <a:r>
              <a:rPr sz="1600" b="1">
                <a:solidFill>
                  <a:srgbClr val="000000"/>
                </a:solidFill>
                <a:latin typeface="Times New Roman"/>
              </a:rPr>
              <a:t>•  Why a stand-in.</a:t>
            </a:r>
            <a:r>
              <a:rPr sz="1600">
                <a:solidFill>
                  <a:srgbClr val="000000"/>
                </a:solidFill>
                <a:latin typeface="Times New Roman"/>
              </a:rPr>
              <a:t>  The real model needs expensive hardware, so the whole pipeline was first run on a tiny model built the same way, with about 100,000 adjustable settings instead of a billion.</a:t>
            </a:r>
          </a:p>
          <a:p>
            <a:pPr>
              <a:lnSpc>
                <a:spcPct val="116000"/>
              </a:lnSpc>
              <a:spcAft>
                <a:spcPts val="800"/>
              </a:spcAft>
            </a:pPr>
            <a:r>
              <a:rPr sz="1600" b="1">
                <a:solidFill>
                  <a:srgbClr val="000000"/>
                </a:solidFill>
                <a:latin typeface="Times New Roman"/>
              </a:rPr>
              <a:t>•  What the attacker could do.</a:t>
            </a:r>
            <a:r>
              <a:rPr sz="1600">
                <a:solidFill>
                  <a:srgbClr val="000000"/>
                </a:solidFill>
                <a:latin typeface="Times New Roman"/>
              </a:rPr>
              <a:t>  Only choose which real, harmless sentences to feed the model, and in what order. No invented or unusual text.</a:t>
            </a:r>
          </a:p>
        </p:txBody>
      </p:sp>
      <p:graphicFrame>
        <p:nvGraphicFramePr>
          <p:cNvPr id="5" name="Table 4"/>
          <p:cNvGraphicFramePr>
            <a:graphicFrameLocks noGrp="1"/>
          </p:cNvGraphicFramePr>
          <p:nvPr/>
        </p:nvGraphicFramePr>
        <p:xfrm>
          <a:off x="914400" y="3126841"/>
          <a:ext cx="10058400" cy="1828800"/>
        </p:xfrm>
        <a:graphic>
          <a:graphicData uri="http://schemas.openxmlformats.org/drawingml/2006/table">
            <a:tbl>
              <a:tblPr>
                <a:tableStyleId>{5C22544A-7EE6-4342-B048-85BDC9FD1C3A}</a:tableStyleId>
              </a:tblPr>
              <a:tblGrid>
                <a:gridCol w="2926080"/>
                <a:gridCol w="1645920"/>
                <a:gridCol w="5486400"/>
              </a:tblGrid>
              <a:tr h="365760">
                <a:tc>
                  <a:txBody>
                    <a:bodyPr wrap="square"/>
                    <a:lstStyle/>
                    <a:p>
                      <a:r>
                        <a:rPr sz="1400" b="1" i="1">
                          <a:solidFill>
                            <a:srgbClr val="000000"/>
                          </a:solidFill>
                          <a:latin typeface="Times New Roman"/>
                        </a:rPr>
                        <a:t>Measurement</a:t>
                      </a:r>
                    </a:p>
                  </a:txBody>
                  <a:tcPr marL="0" marR="146304" marT="36576" marB="36576" anchor="ctr">
                    <a:noFill/>
                  </a:tcPr>
                </a:tc>
                <a:tc>
                  <a:txBody>
                    <a:bodyPr wrap="square"/>
                    <a:lstStyle/>
                    <a:p>
                      <a:r>
                        <a:rPr sz="1400" b="1" i="1">
                          <a:solidFill>
                            <a:srgbClr val="000000"/>
                          </a:solidFill>
                          <a:latin typeface="Times New Roman"/>
                        </a:rPr>
                        <a:t>Result</a:t>
                      </a:r>
                    </a:p>
                  </a:txBody>
                  <a:tcPr marL="0" marR="146304" marT="36576" marB="36576" anchor="ctr">
                    <a:noFill/>
                  </a:tcPr>
                </a:tc>
                <a:tc>
                  <a:txBody>
                    <a:bodyPr wrap="square"/>
                    <a:lstStyle/>
                    <a:p>
                      <a:r>
                        <a:rPr sz="1400" b="1" i="1">
                          <a:solidFill>
                            <a:srgbClr val="000000"/>
                          </a:solidFill>
                          <a:latin typeface="Times New Roman"/>
                        </a:rPr>
                        <a:t>How to read it</a:t>
                      </a:r>
                    </a:p>
                  </a:txBody>
                  <a:tcPr marL="0" marR="146304" marT="36576" marB="36576" anchor="ctr">
                    <a:noFill/>
                  </a:tcPr>
                </a:tc>
              </a:tr>
              <a:tr h="365760">
                <a:tc>
                  <a:txBody>
                    <a:bodyPr wrap="square"/>
                    <a:lstStyle/>
                    <a:p>
                      <a:r>
                        <a:rPr sz="1400" b="0" i="0">
                          <a:solidFill>
                            <a:srgbClr val="000000"/>
                          </a:solidFill>
                          <a:latin typeface="Times New Roman"/>
                        </a:rPr>
                        <a:t>Effect size (Cohen's d)</a:t>
                      </a:r>
                    </a:p>
                  </a:txBody>
                  <a:tcPr marL="0" marR="146304" marT="36576" marB="36576" anchor="ctr">
                    <a:noFill/>
                  </a:tcPr>
                </a:tc>
                <a:tc>
                  <a:txBody>
                    <a:bodyPr wrap="square"/>
                    <a:lstStyle/>
                    <a:p>
                      <a:r>
                        <a:rPr sz="1400" b="0" i="0">
                          <a:solidFill>
                            <a:srgbClr val="000000"/>
                          </a:solidFill>
                          <a:latin typeface="Times New Roman"/>
                        </a:rPr>
                        <a:t>+0.122</a:t>
                      </a:r>
                    </a:p>
                  </a:txBody>
                  <a:tcPr marL="0" marR="146304" marT="36576" marB="36576" anchor="ctr">
                    <a:noFill/>
                  </a:tcPr>
                </a:tc>
                <a:tc>
                  <a:txBody>
                    <a:bodyPr wrap="square"/>
                    <a:lstStyle/>
                    <a:p>
                      <a:r>
                        <a:rPr sz="1400" b="0" i="0">
                          <a:solidFill>
                            <a:srgbClr val="000000"/>
                          </a:solidFill>
                          <a:latin typeface="Times New Roman"/>
                        </a:rPr>
                        <a:t>far below the 0.80 required</a:t>
                      </a:r>
                    </a:p>
                  </a:txBody>
                  <a:tcPr marL="0" marR="146304" marT="36576" marB="36576" anchor="ctr">
                    <a:noFill/>
                  </a:tcPr>
                </a:tc>
              </a:tr>
              <a:tr h="365760">
                <a:tc>
                  <a:txBody>
                    <a:bodyPr wrap="square"/>
                    <a:lstStyle/>
                    <a:p>
                      <a:r>
                        <a:rPr sz="1400" b="0" i="0">
                          <a:solidFill>
                            <a:srgbClr val="000000"/>
                          </a:solidFill>
                          <a:latin typeface="Times New Roman"/>
                        </a:rPr>
                        <a:t>Same measurement, no attacker</a:t>
                      </a:r>
                    </a:p>
                  </a:txBody>
                  <a:tcPr marL="0" marR="146304" marT="36576" marB="36576" anchor="ctr">
                    <a:noFill/>
                  </a:tcPr>
                </a:tc>
                <a:tc>
                  <a:txBody>
                    <a:bodyPr wrap="square"/>
                    <a:lstStyle/>
                    <a:p>
                      <a:r>
                        <a:rPr sz="1400" b="0" i="0">
                          <a:solidFill>
                            <a:srgbClr val="000000"/>
                          </a:solidFill>
                          <a:latin typeface="Times New Roman"/>
                        </a:rPr>
                        <a:t>+0.225</a:t>
                      </a:r>
                    </a:p>
                  </a:txBody>
                  <a:tcPr marL="0" marR="146304" marT="36576" marB="36576" anchor="ctr">
                    <a:noFill/>
                  </a:tcPr>
                </a:tc>
                <a:tc>
                  <a:txBody>
                    <a:bodyPr wrap="square"/>
                    <a:lstStyle/>
                    <a:p>
                      <a:r>
                        <a:rPr sz="1400" b="0" i="0">
                          <a:solidFill>
                            <a:srgbClr val="000000"/>
                          </a:solidFill>
                          <a:latin typeface="Times New Roman"/>
                        </a:rPr>
                        <a:t>bigger than the attack's effect, so that effect is just noise</a:t>
                      </a:r>
                    </a:p>
                  </a:txBody>
                  <a:tcPr marL="0" marR="146304" marT="36576" marB="36576" anchor="ctr">
                    <a:noFill/>
                  </a:tcPr>
                </a:tc>
              </a:tr>
              <a:tr h="365760">
                <a:tc>
                  <a:txBody>
                    <a:bodyPr wrap="square"/>
                    <a:lstStyle/>
                    <a:p>
                      <a:r>
                        <a:rPr sz="1400" b="0" i="0">
                          <a:solidFill>
                            <a:srgbClr val="000000"/>
                          </a:solidFill>
                          <a:latin typeface="Times New Roman"/>
                        </a:rPr>
                        <a:t>Loss of performance</a:t>
                      </a:r>
                    </a:p>
                  </a:txBody>
                  <a:tcPr marL="0" marR="146304" marT="36576" marB="36576" anchor="ctr">
                    <a:noFill/>
                  </a:tcPr>
                </a:tc>
                <a:tc>
                  <a:txBody>
                    <a:bodyPr wrap="square"/>
                    <a:lstStyle/>
                    <a:p>
                      <a:r>
                        <a:rPr sz="1400" b="0" i="0">
                          <a:solidFill>
                            <a:srgbClr val="000000"/>
                          </a:solidFill>
                          <a:latin typeface="Times New Roman"/>
                        </a:rPr>
                        <a:t>0.0435%</a:t>
                      </a:r>
                    </a:p>
                  </a:txBody>
                  <a:tcPr marL="0" marR="146304" marT="36576" marB="36576" anchor="ctr">
                    <a:noFill/>
                  </a:tcPr>
                </a:tc>
                <a:tc>
                  <a:txBody>
                    <a:bodyPr wrap="square"/>
                    <a:lstStyle/>
                    <a:p>
                      <a:r>
                        <a:rPr sz="1400" b="0" i="0">
                          <a:solidFill>
                            <a:srgbClr val="000000"/>
                          </a:solidFill>
                          <a:latin typeface="Times New Roman"/>
                        </a:rPr>
                        <a:t>about 230 times smaller than the 10% required</a:t>
                      </a:r>
                    </a:p>
                  </a:txBody>
                  <a:tcPr marL="0" marR="146304" marT="36576" marB="36576" anchor="ctr">
                    <a:noFill/>
                  </a:tcPr>
                </a:tc>
              </a:tr>
              <a:tr h="365760">
                <a:tc>
                  <a:txBody>
                    <a:bodyPr wrap="square"/>
                    <a:lstStyle/>
                    <a:p>
                      <a:r>
                        <a:rPr sz="1400" b="0" i="0">
                          <a:solidFill>
                            <a:srgbClr val="000000"/>
                          </a:solidFill>
                          <a:latin typeface="Times New Roman"/>
                        </a:rPr>
                        <a:t>Learning while reading</a:t>
                      </a:r>
                    </a:p>
                  </a:txBody>
                  <a:tcPr marL="0" marR="146304" marT="36576" marB="36576" anchor="ctr">
                    <a:noFill/>
                  </a:tcPr>
                </a:tc>
                <a:tc>
                  <a:txBody>
                    <a:bodyPr wrap="square"/>
                    <a:lstStyle/>
                    <a:p>
                      <a:r>
                        <a:rPr sz="1400" b="0" i="0">
                          <a:solidFill>
                            <a:srgbClr val="000000"/>
                          </a:solidFill>
                          <a:latin typeface="Times New Roman"/>
                        </a:rPr>
                        <a:t>0.1114 nats</a:t>
                      </a:r>
                    </a:p>
                  </a:txBody>
                  <a:tcPr marL="0" marR="146304" marT="36576" marB="36576" anchor="ctr">
                    <a:noFill/>
                  </a:tcPr>
                </a:tc>
                <a:tc>
                  <a:txBody>
                    <a:bodyPr wrap="square"/>
                    <a:lstStyle/>
                    <a:p>
                      <a:r>
                        <a:rPr sz="1400" b="0" i="0">
                          <a:solidFill>
                            <a:srgbClr val="000000"/>
                          </a:solidFill>
                          <a:latin typeface="Times New Roman"/>
                        </a:rPr>
                        <a:t>clearly active (a model with almost no capacity to adapt scores 0.0007)</a:t>
                      </a:r>
                    </a:p>
                  </a:txBody>
                  <a:tcPr marL="0" marR="146304" marT="36576" marB="36576" anchor="ctr">
                    <a:noFill/>
                  </a:tcPr>
                </a:tc>
              </a:tr>
            </a:tbl>
          </a:graphicData>
        </a:graphic>
      </p:graphicFrame>
      <p:sp>
        <p:nvSpPr>
          <p:cNvPr id="6" name="TextBox 5"/>
          <p:cNvSpPr txBox="1"/>
          <p:nvPr/>
        </p:nvSpPr>
        <p:spPr>
          <a:xfrm>
            <a:off x="914400" y="5156809"/>
            <a:ext cx="10058400" cy="495299"/>
          </a:xfrm>
          <a:prstGeom prst="rect">
            <a:avLst/>
          </a:prstGeom>
          <a:noFill/>
        </p:spPr>
        <p:txBody>
          <a:bodyPr wrap="square" anchor="t" lIns="0" rIns="0" tIns="0" bIns="0">
            <a:spAutoFit/>
          </a:bodyPr>
          <a:lstStyle/>
          <a:p>
            <a:pPr>
              <a:lnSpc>
                <a:spcPct val="130000"/>
              </a:lnSpc>
              <a:spcAft>
                <a:spcPts val="0"/>
              </a:spcAft>
            </a:pPr>
            <a:r>
              <a:rPr sz="1250" b="0" i="1">
                <a:solidFill>
                  <a:srgbClr val="000000"/>
                </a:solidFill>
                <a:latin typeface="Times New Roman"/>
              </a:rPr>
              <a:t>The attack had no measurable effect on this small model. Because the model was genuinely learning from what it read, this is a real negative result rather than a broken test. It says nothing yet about the full-size model, which is around ten thousand times larger and built differently in important ways.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566928"/>
            <a:ext cx="10362895" cy="822960"/>
          </a:xfrm>
          <a:prstGeom prst="rect">
            <a:avLst/>
          </a:prstGeom>
          <a:noFill/>
        </p:spPr>
        <p:txBody>
          <a:bodyPr wrap="square" anchor="t" lIns="0" rIns="0" tIns="0" bIns="0">
            <a:spAutoFit/>
          </a:bodyPr>
          <a:lstStyle/>
          <a:p>
            <a:pPr>
              <a:lnSpc>
                <a:spcPct val="104000"/>
              </a:lnSpc>
              <a:spcAft>
                <a:spcPts val="0"/>
              </a:spcAft>
            </a:pPr>
            <a:r>
              <a:rPr sz="2800" b="1" i="0">
                <a:solidFill>
                  <a:srgbClr val="000000"/>
                </a:solidFill>
                <a:latin typeface="Times New Roman"/>
              </a:rPr>
              <a:t>Checking the measuring tool itself</a:t>
            </a:r>
          </a:p>
        </p:txBody>
      </p:sp>
      <p:cxnSp>
        <p:nvCxnSpPr>
          <p:cNvPr id="3" name="Connector 2"/>
          <p:cNvCxnSpPr/>
          <p:nvPr/>
        </p:nvCxnSpPr>
        <p:spPr>
          <a:xfrm>
            <a:off x="914400" y="1389888"/>
            <a:ext cx="10362895"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pic>
        <p:nvPicPr>
          <p:cNvPr id="4" name="Picture 3" descr="null_distribution.png"/>
          <p:cNvPicPr>
            <a:picLocks noChangeAspect="1"/>
          </p:cNvPicPr>
          <p:nvPr/>
        </p:nvPicPr>
        <p:blipFill>
          <a:blip r:embed="rId2"/>
          <a:stretch>
            <a:fillRect/>
          </a:stretch>
        </p:blipFill>
        <p:spPr>
          <a:xfrm>
            <a:off x="2146879" y="1627632"/>
            <a:ext cx="7897936" cy="2240280"/>
          </a:xfrm>
          <a:prstGeom prst="rect">
            <a:avLst/>
          </a:prstGeom>
        </p:spPr>
      </p:pic>
      <p:sp>
        <p:nvSpPr>
          <p:cNvPr id="5" name="TextBox 4"/>
          <p:cNvSpPr txBox="1"/>
          <p:nvPr/>
        </p:nvSpPr>
        <p:spPr>
          <a:xfrm>
            <a:off x="914400" y="4087368"/>
            <a:ext cx="10058400" cy="2496312"/>
          </a:xfrm>
          <a:prstGeom prst="rect">
            <a:avLst/>
          </a:prstGeom>
          <a:noFill/>
        </p:spPr>
        <p:txBody>
          <a:bodyPr wrap="square" anchor="t" lIns="0" rIns="0" tIns="0" bIns="0">
            <a:spAutoFit/>
          </a:bodyPr>
          <a:lstStyle/>
          <a:p>
            <a:pPr>
              <a:lnSpc>
                <a:spcPct val="116000"/>
              </a:lnSpc>
              <a:spcAft>
                <a:spcPts val="700"/>
              </a:spcAft>
            </a:pPr>
            <a:r>
              <a:rPr sz="1500" b="1">
                <a:solidFill>
                  <a:srgbClr val="000000"/>
                </a:solidFill>
                <a:latin typeface="Times New Roman"/>
              </a:rPr>
              <a:t>•  How to read the chart.</a:t>
            </a:r>
            <a:r>
              <a:rPr sz="1500">
                <a:solidFill>
                  <a:srgbClr val="000000"/>
                </a:solidFill>
                <a:latin typeface="Times New Roman"/>
              </a:rPr>
              <a:t>  Each dot is one of 20 repeats of the measurement with no attacker present, placed left or right by the effect size it reported. With nothing to find, every dot should sit near the middle. The dashed lines mark the 0.80 threshold, and dots in or at the edge of the grey zones are false alarms. The bold line is the attack's result from the previous slide.</a:t>
            </a:r>
          </a:p>
          <a:p>
            <a:pPr>
              <a:lnSpc>
                <a:spcPct val="116000"/>
              </a:lnSpc>
              <a:spcAft>
                <a:spcPts val="700"/>
              </a:spcAft>
            </a:pPr>
            <a:r>
              <a:rPr sz="1500" b="1">
                <a:solidFill>
                  <a:srgbClr val="000000"/>
                </a:solidFill>
                <a:latin typeface="Times New Roman"/>
              </a:rPr>
              <a:t>•  What it shows.</a:t>
            </a:r>
            <a:r>
              <a:rPr sz="1500">
                <a:solidFill>
                  <a:srgbClr val="000000"/>
                </a:solidFill>
                <a:latin typeface="Times New Roman"/>
              </a:rPr>
              <a:t>  3 of the 20 crossed the threshold with nothing to find, a false-alarm rate of about 15%. The attack's result sits among the no-attacker dots, so it cannot be told apart from chance.</a:t>
            </a:r>
          </a:p>
        </p:txBody>
      </p:sp>
      <p:sp>
        <p:nvSpPr>
          <p:cNvPr id="6" name="TextBox 5"/>
          <p:cNvSpPr txBox="1"/>
          <p:nvPr/>
        </p:nvSpPr>
        <p:spPr>
          <a:xfrm>
            <a:off x="914400" y="5645911"/>
            <a:ext cx="10058400" cy="495299"/>
          </a:xfrm>
          <a:prstGeom prst="rect">
            <a:avLst/>
          </a:prstGeom>
          <a:noFill/>
        </p:spPr>
        <p:txBody>
          <a:bodyPr wrap="square" anchor="t" lIns="0" rIns="0" tIns="0" bIns="0">
            <a:spAutoFit/>
          </a:bodyPr>
          <a:lstStyle/>
          <a:p>
            <a:pPr>
              <a:lnSpc>
                <a:spcPct val="130000"/>
              </a:lnSpc>
              <a:spcAft>
                <a:spcPts val="0"/>
              </a:spcAft>
            </a:pPr>
            <a:r>
              <a:rPr sz="1250" b="0" i="1">
                <a:solidFill>
                  <a:srgbClr val="000000"/>
                </a:solidFill>
                <a:latin typeface="Times New Roman"/>
              </a:rPr>
              <a:t>This is a finding about the rule itself. With five runs per condition, clearing the threshold once is not proof of an attack. The threshold was deliberately left unchanged, since moving it after seeing data would defeat the point of fixing it in advance.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566928"/>
            <a:ext cx="10362895" cy="822960"/>
          </a:xfrm>
          <a:prstGeom prst="rect">
            <a:avLst/>
          </a:prstGeom>
          <a:noFill/>
        </p:spPr>
        <p:txBody>
          <a:bodyPr wrap="square" anchor="t" lIns="0" rIns="0" tIns="0" bIns="0">
            <a:spAutoFit/>
          </a:bodyPr>
          <a:lstStyle/>
          <a:p>
            <a:pPr>
              <a:lnSpc>
                <a:spcPct val="104000"/>
              </a:lnSpc>
              <a:spcAft>
                <a:spcPts val="0"/>
              </a:spcAft>
            </a:pPr>
            <a:r>
              <a:rPr sz="2800" b="1" i="0">
                <a:solidFill>
                  <a:srgbClr val="000000"/>
                </a:solidFill>
                <a:latin typeface="Times New Roman"/>
              </a:rPr>
              <a:t>An error in our own experiment, found and fixed</a:t>
            </a:r>
          </a:p>
        </p:txBody>
      </p:sp>
      <p:cxnSp>
        <p:nvCxnSpPr>
          <p:cNvPr id="3" name="Connector 2"/>
          <p:cNvCxnSpPr/>
          <p:nvPr/>
        </p:nvCxnSpPr>
        <p:spPr>
          <a:xfrm>
            <a:off x="914400" y="1389888"/>
            <a:ext cx="10362895"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1627632"/>
            <a:ext cx="10058400" cy="3657600"/>
          </a:xfrm>
          <a:prstGeom prst="rect">
            <a:avLst/>
          </a:prstGeom>
          <a:noFill/>
        </p:spPr>
        <p:txBody>
          <a:bodyPr wrap="square" anchor="t" lIns="0" rIns="0" tIns="0" bIns="0">
            <a:spAutoFit/>
          </a:bodyPr>
          <a:lstStyle/>
          <a:p>
            <a:pPr>
              <a:lnSpc>
                <a:spcPct val="116000"/>
              </a:lnSpc>
              <a:spcAft>
                <a:spcPts val="800"/>
              </a:spcAft>
            </a:pPr>
            <a:r>
              <a:rPr sz="1600" b="1">
                <a:solidFill>
                  <a:srgbClr val="000000"/>
                </a:solidFill>
                <a:latin typeface="Times New Roman"/>
              </a:rPr>
              <a:t>•  The error.</a:t>
            </a:r>
            <a:r>
              <a:rPr sz="1600">
                <a:solidFill>
                  <a:srgbClr val="000000"/>
                </a:solidFill>
                <a:latin typeface="Times New Roman"/>
              </a:rPr>
              <a:t>  The practice experiment read its text from the project's own documentation at the moment it ran. Every edit to the documentation quietly changed the experiment's input.</a:t>
            </a:r>
          </a:p>
          <a:p>
            <a:pPr>
              <a:lnSpc>
                <a:spcPct val="116000"/>
              </a:lnSpc>
              <a:spcAft>
                <a:spcPts val="800"/>
              </a:spcAft>
            </a:pPr>
            <a:r>
              <a:rPr sz="1600" b="1">
                <a:solidFill>
                  <a:srgbClr val="000000"/>
                </a:solidFill>
                <a:latin typeface="Times New Roman"/>
              </a:rPr>
              <a:t>•  Why it mattered.</a:t>
            </a:r>
            <a:r>
              <a:rPr sz="1600">
                <a:solidFill>
                  <a:srgbClr val="000000"/>
                </a:solidFill>
                <a:latin typeface="Times New Roman"/>
              </a:rPr>
              <a:t>  Editing two unrelated files was enough to swing the result from slightly positive to strongly negative, past the threshold in the wrong direction. Identical code gave different answers on different days.</a:t>
            </a:r>
          </a:p>
        </p:txBody>
      </p:sp>
      <p:graphicFrame>
        <p:nvGraphicFramePr>
          <p:cNvPr id="5" name="Table 4"/>
          <p:cNvGraphicFramePr>
            <a:graphicFrameLocks noGrp="1"/>
          </p:cNvGraphicFramePr>
          <p:nvPr/>
        </p:nvGraphicFramePr>
        <p:xfrm>
          <a:off x="914400" y="3126841"/>
          <a:ext cx="10058400" cy="1463040"/>
        </p:xfrm>
        <a:graphic>
          <a:graphicData uri="http://schemas.openxmlformats.org/drawingml/2006/table">
            <a:tbl>
              <a:tblPr>
                <a:tableStyleId>{5C22544A-7EE6-4342-B048-85BDC9FD1C3A}</a:tableStyleId>
              </a:tblPr>
              <a:tblGrid>
                <a:gridCol w="2743200"/>
                <a:gridCol w="3657600"/>
                <a:gridCol w="3657600"/>
              </a:tblGrid>
              <a:tr h="365760">
                <a:tc>
                  <a:txBody>
                    <a:bodyPr wrap="square"/>
                    <a:lstStyle/>
                    <a:p>
                      <a:r>
                        <a:rPr sz="1400" b="1" i="1">
                          <a:solidFill>
                            <a:srgbClr val="000000"/>
                          </a:solidFill>
                          <a:latin typeface="Times New Roman"/>
                        </a:rPr>
                        <a:t/>
                      </a:r>
                    </a:p>
                  </a:txBody>
                  <a:tcPr marL="0" marR="146304" marT="36576" marB="36576" anchor="ctr">
                    <a:noFill/>
                  </a:tcPr>
                </a:tc>
                <a:tc>
                  <a:txBody>
                    <a:bodyPr wrap="square"/>
                    <a:lstStyle/>
                    <a:p>
                      <a:r>
                        <a:rPr sz="1400" b="1" i="1">
                          <a:solidFill>
                            <a:srgbClr val="000000"/>
                          </a:solidFill>
                          <a:latin typeface="Times New Roman"/>
                        </a:rPr>
                        <a:t>Before the fix</a:t>
                      </a:r>
                    </a:p>
                  </a:txBody>
                  <a:tcPr marL="0" marR="146304" marT="36576" marB="36576" anchor="ctr">
                    <a:noFill/>
                  </a:tcPr>
                </a:tc>
                <a:tc>
                  <a:txBody>
                    <a:bodyPr wrap="square"/>
                    <a:lstStyle/>
                    <a:p>
                      <a:r>
                        <a:rPr sz="1400" b="1" i="1">
                          <a:solidFill>
                            <a:srgbClr val="000000"/>
                          </a:solidFill>
                          <a:latin typeface="Times New Roman"/>
                        </a:rPr>
                        <a:t>After the fix</a:t>
                      </a:r>
                    </a:p>
                  </a:txBody>
                  <a:tcPr marL="0" marR="146304" marT="36576" marB="36576" anchor="ctr">
                    <a:noFill/>
                  </a:tcPr>
                </a:tc>
              </a:tr>
              <a:tr h="365760">
                <a:tc>
                  <a:txBody>
                    <a:bodyPr wrap="square"/>
                    <a:lstStyle/>
                    <a:p>
                      <a:r>
                        <a:rPr sz="1400" b="0" i="0">
                          <a:solidFill>
                            <a:srgbClr val="000000"/>
                          </a:solidFill>
                          <a:latin typeface="Times New Roman"/>
                        </a:rPr>
                        <a:t>Input text</a:t>
                      </a:r>
                    </a:p>
                  </a:txBody>
                  <a:tcPr marL="0" marR="146304" marT="36576" marB="36576" anchor="ctr">
                    <a:noFill/>
                  </a:tcPr>
                </a:tc>
                <a:tc>
                  <a:txBody>
                    <a:bodyPr wrap="square"/>
                    <a:lstStyle/>
                    <a:p>
                      <a:r>
                        <a:rPr sz="1400" b="0" i="0">
                          <a:solidFill>
                            <a:srgbClr val="000000"/>
                          </a:solidFill>
                          <a:latin typeface="Times New Roman"/>
                        </a:rPr>
                        <a:t>read live, changed with every edit</a:t>
                      </a:r>
                    </a:p>
                  </a:txBody>
                  <a:tcPr marL="0" marR="146304" marT="36576" marB="36576" anchor="ctr">
                    <a:noFill/>
                  </a:tcPr>
                </a:tc>
                <a:tc>
                  <a:txBody>
                    <a:bodyPr wrap="square"/>
                    <a:lstStyle/>
                    <a:p>
                      <a:r>
                        <a:rPr sz="1400" b="0" i="0">
                          <a:solidFill>
                            <a:srgbClr val="000000"/>
                          </a:solidFill>
                          <a:latin typeface="Times New Roman"/>
                        </a:rPr>
                        <a:t>frozen copy, checked before each run</a:t>
                      </a:r>
                    </a:p>
                  </a:txBody>
                  <a:tcPr marL="0" marR="146304" marT="36576" marB="36576" anchor="ctr">
                    <a:noFill/>
                  </a:tcPr>
                </a:tc>
              </a:tr>
              <a:tr h="365760">
                <a:tc>
                  <a:txBody>
                    <a:bodyPr wrap="square"/>
                    <a:lstStyle/>
                    <a:p>
                      <a:r>
                        <a:rPr sz="1400" b="0" i="0">
                          <a:solidFill>
                            <a:srgbClr val="000000"/>
                          </a:solidFill>
                          <a:latin typeface="Times New Roman"/>
                        </a:rPr>
                        <a:t>If the input changes</a:t>
                      </a:r>
                    </a:p>
                  </a:txBody>
                  <a:tcPr marL="0" marR="146304" marT="36576" marB="36576" anchor="ctr">
                    <a:noFill/>
                  </a:tcPr>
                </a:tc>
                <a:tc>
                  <a:txBody>
                    <a:bodyPr wrap="square"/>
                    <a:lstStyle/>
                    <a:p>
                      <a:r>
                        <a:rPr sz="1400" b="0" i="0">
                          <a:solidFill>
                            <a:srgbClr val="000000"/>
                          </a:solidFill>
                          <a:latin typeface="Times New Roman"/>
                        </a:rPr>
                        <a:t>result silently moves (+0.05 to −1.28)</a:t>
                      </a:r>
                    </a:p>
                  </a:txBody>
                  <a:tcPr marL="0" marR="146304" marT="36576" marB="36576" anchor="ctr">
                    <a:noFill/>
                  </a:tcPr>
                </a:tc>
                <a:tc>
                  <a:txBody>
                    <a:bodyPr wrap="square"/>
                    <a:lstStyle/>
                    <a:p>
                      <a:r>
                        <a:rPr sz="1400" b="0" i="0">
                          <a:solidFill>
                            <a:srgbClr val="000000"/>
                          </a:solidFill>
                          <a:latin typeface="Times New Roman"/>
                        </a:rPr>
                        <a:t>the run refuses to start</a:t>
                      </a:r>
                    </a:p>
                  </a:txBody>
                  <a:tcPr marL="0" marR="146304" marT="36576" marB="36576" anchor="ctr">
                    <a:noFill/>
                  </a:tcPr>
                </a:tc>
              </a:tr>
              <a:tr h="365760">
                <a:tc>
                  <a:txBody>
                    <a:bodyPr wrap="square"/>
                    <a:lstStyle/>
                    <a:p>
                      <a:r>
                        <a:rPr sz="1400" b="0" i="0">
                          <a:solidFill>
                            <a:srgbClr val="000000"/>
                          </a:solidFill>
                          <a:latin typeface="Times New Roman"/>
                        </a:rPr>
                        <a:t>False-alarm rate</a:t>
                      </a:r>
                    </a:p>
                  </a:txBody>
                  <a:tcPr marL="0" marR="146304" marT="36576" marB="36576" anchor="ctr">
                    <a:noFill/>
                  </a:tcPr>
                </a:tc>
                <a:tc>
                  <a:txBody>
                    <a:bodyPr wrap="square"/>
                    <a:lstStyle/>
                    <a:p>
                      <a:r>
                        <a:rPr sz="1400" b="0" i="0">
                          <a:solidFill>
                            <a:srgbClr val="000000"/>
                          </a:solidFill>
                          <a:latin typeface="Times New Roman"/>
                        </a:rPr>
                        <a:t>55%</a:t>
                      </a:r>
                    </a:p>
                  </a:txBody>
                  <a:tcPr marL="0" marR="146304" marT="36576" marB="36576" anchor="ctr">
                    <a:noFill/>
                  </a:tcPr>
                </a:tc>
                <a:tc>
                  <a:txBody>
                    <a:bodyPr wrap="square"/>
                    <a:lstStyle/>
                    <a:p>
                      <a:r>
                        <a:rPr sz="1400" b="0" i="0">
                          <a:solidFill>
                            <a:srgbClr val="000000"/>
                          </a:solidFill>
                          <a:latin typeface="Times New Roman"/>
                        </a:rPr>
                        <a:t>15%</a:t>
                      </a:r>
                    </a:p>
                  </a:txBody>
                  <a:tcPr marL="0" marR="146304" marT="36576" marB="36576" anchor="ctr">
                    <a:noFill/>
                  </a:tcPr>
                </a:tc>
              </a:tr>
            </a:tbl>
          </a:graphicData>
        </a:graphic>
      </p:graphicFrame>
      <p:sp>
        <p:nvSpPr>
          <p:cNvPr id="6" name="TextBox 5"/>
          <p:cNvSpPr txBox="1"/>
          <p:nvPr/>
        </p:nvSpPr>
        <p:spPr>
          <a:xfrm>
            <a:off x="914400" y="4791049"/>
            <a:ext cx="10058400" cy="495299"/>
          </a:xfrm>
          <a:prstGeom prst="rect">
            <a:avLst/>
          </a:prstGeom>
          <a:noFill/>
        </p:spPr>
        <p:txBody>
          <a:bodyPr wrap="square" anchor="t" lIns="0" rIns="0" tIns="0" bIns="0">
            <a:spAutoFit/>
          </a:bodyPr>
          <a:lstStyle/>
          <a:p>
            <a:pPr>
              <a:lnSpc>
                <a:spcPct val="130000"/>
              </a:lnSpc>
              <a:spcAft>
                <a:spcPts val="0"/>
              </a:spcAft>
            </a:pPr>
            <a:r>
              <a:rPr sz="1250" b="0" i="1">
                <a:solidFill>
                  <a:srgbClr val="000000"/>
                </a:solidFill>
                <a:latin typeface="Times New Roman"/>
              </a:rPr>
              <a:t>The error was in this project's own code, and it was caught before it could lead to a wrong conclusion. Every result in this deck was produced after the fix. The 55% false-alarm rate belongs to the faulty setup and should not be quoted.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566928"/>
            <a:ext cx="10362895" cy="822960"/>
          </a:xfrm>
          <a:prstGeom prst="rect">
            <a:avLst/>
          </a:prstGeom>
          <a:noFill/>
        </p:spPr>
        <p:txBody>
          <a:bodyPr wrap="square" anchor="t" lIns="0" rIns="0" tIns="0" bIns="0">
            <a:spAutoFit/>
          </a:bodyPr>
          <a:lstStyle/>
          <a:p>
            <a:pPr>
              <a:lnSpc>
                <a:spcPct val="104000"/>
              </a:lnSpc>
              <a:spcAft>
                <a:spcPts val="0"/>
              </a:spcAft>
            </a:pPr>
            <a:r>
              <a:rPr sz="2800" b="1" i="0">
                <a:solidFill>
                  <a:srgbClr val="000000"/>
                </a:solidFill>
                <a:latin typeface="Times New Roman"/>
              </a:rPr>
              <a:t>Running the real model for the first time</a:t>
            </a:r>
          </a:p>
        </p:txBody>
      </p:sp>
      <p:cxnSp>
        <p:nvCxnSpPr>
          <p:cNvPr id="3" name="Connector 2"/>
          <p:cNvCxnSpPr/>
          <p:nvPr/>
        </p:nvCxnSpPr>
        <p:spPr>
          <a:xfrm>
            <a:off x="914400" y="1389888"/>
            <a:ext cx="10362895"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1627632"/>
            <a:ext cx="10058400" cy="3657600"/>
          </a:xfrm>
          <a:prstGeom prst="rect">
            <a:avLst/>
          </a:prstGeom>
          <a:noFill/>
        </p:spPr>
        <p:txBody>
          <a:bodyPr wrap="square" anchor="t" lIns="0" rIns="0" tIns="0" bIns="0">
            <a:spAutoFit/>
          </a:bodyPr>
          <a:lstStyle/>
          <a:p>
            <a:pPr>
              <a:lnSpc>
                <a:spcPct val="116000"/>
              </a:lnSpc>
              <a:spcAft>
                <a:spcPts val="400"/>
              </a:spcAft>
            </a:pPr>
            <a:r>
              <a:rPr sz="1600" b="0">
                <a:solidFill>
                  <a:srgbClr val="000000"/>
                </a:solidFill>
                <a:latin typeface="Times New Roman"/>
              </a:rPr>
              <a:t>•  A small, untrained version of the real model, run only to confirm our code drives it correctly.</a:t>
            </a:r>
          </a:p>
        </p:txBody>
      </p:sp>
      <p:graphicFrame>
        <p:nvGraphicFramePr>
          <p:cNvPr id="5" name="Table 4"/>
          <p:cNvGraphicFramePr>
            <a:graphicFrameLocks noGrp="1"/>
          </p:cNvGraphicFramePr>
          <p:nvPr/>
        </p:nvGraphicFramePr>
        <p:xfrm>
          <a:off x="914400" y="2052726"/>
          <a:ext cx="10058400" cy="1463040"/>
        </p:xfrm>
        <a:graphic>
          <a:graphicData uri="http://schemas.openxmlformats.org/drawingml/2006/table">
            <a:tbl>
              <a:tblPr>
                <a:tableStyleId>{5C22544A-7EE6-4342-B048-85BDC9FD1C3A}</a:tableStyleId>
              </a:tblPr>
              <a:tblGrid>
                <a:gridCol w="3291840"/>
                <a:gridCol w="2103120"/>
                <a:gridCol w="4663440"/>
              </a:tblGrid>
              <a:tr h="365760">
                <a:tc>
                  <a:txBody>
                    <a:bodyPr wrap="square"/>
                    <a:lstStyle/>
                    <a:p>
                      <a:r>
                        <a:rPr sz="1400" b="1" i="1">
                          <a:solidFill>
                            <a:srgbClr val="000000"/>
                          </a:solidFill>
                          <a:latin typeface="Times New Roman"/>
                        </a:rPr>
                        <a:t>Measurement</a:t>
                      </a:r>
                    </a:p>
                  </a:txBody>
                  <a:tcPr marL="0" marR="146304" marT="36576" marB="36576" anchor="ctr">
                    <a:noFill/>
                  </a:tcPr>
                </a:tc>
                <a:tc>
                  <a:txBody>
                    <a:bodyPr wrap="square"/>
                    <a:lstStyle/>
                    <a:p>
                      <a:r>
                        <a:rPr sz="1400" b="1" i="1">
                          <a:solidFill>
                            <a:srgbClr val="000000"/>
                          </a:solidFill>
                          <a:latin typeface="Times New Roman"/>
                        </a:rPr>
                        <a:t>Result</a:t>
                      </a:r>
                    </a:p>
                  </a:txBody>
                  <a:tcPr marL="0" marR="146304" marT="36576" marB="36576" anchor="ctr">
                    <a:noFill/>
                  </a:tcPr>
                </a:tc>
                <a:tc>
                  <a:txBody>
                    <a:bodyPr wrap="square"/>
                    <a:lstStyle/>
                    <a:p>
                      <a:r>
                        <a:rPr sz="1400" b="1" i="1">
                          <a:solidFill>
                            <a:srgbClr val="000000"/>
                          </a:solidFill>
                          <a:latin typeface="Times New Roman"/>
                        </a:rPr>
                        <a:t>What it means</a:t>
                      </a:r>
                    </a:p>
                  </a:txBody>
                  <a:tcPr marL="0" marR="146304" marT="36576" marB="36576" anchor="ctr">
                    <a:noFill/>
                  </a:tcPr>
                </a:tc>
              </a:tr>
              <a:tr h="365760">
                <a:tc>
                  <a:txBody>
                    <a:bodyPr wrap="square"/>
                    <a:lstStyle/>
                    <a:p>
                      <a:r>
                        <a:rPr sz="1400" b="0" i="0">
                          <a:solidFill>
                            <a:srgbClr val="000000"/>
                          </a:solidFill>
                          <a:latin typeface="Times New Roman"/>
                        </a:rPr>
                        <a:t>Adjustable settings in total</a:t>
                      </a:r>
                    </a:p>
                  </a:txBody>
                  <a:tcPr marL="0" marR="146304" marT="36576" marB="36576" anchor="ctr">
                    <a:noFill/>
                  </a:tcPr>
                </a:tc>
                <a:tc>
                  <a:txBody>
                    <a:bodyPr wrap="square"/>
                    <a:lstStyle/>
                    <a:p>
                      <a:r>
                        <a:rPr sz="1400" b="0" i="0">
                          <a:solidFill>
                            <a:srgbClr val="000000"/>
                          </a:solidFill>
                          <a:latin typeface="Times New Roman"/>
                        </a:rPr>
                        <a:t>184,363,776</a:t>
                      </a:r>
                    </a:p>
                  </a:txBody>
                  <a:tcPr marL="0" marR="146304" marT="36576" marB="36576" anchor="ctr">
                    <a:noFill/>
                  </a:tcPr>
                </a:tc>
                <a:tc>
                  <a:txBody>
                    <a:bodyPr wrap="square"/>
                    <a:lstStyle/>
                    <a:p>
                      <a:r>
                        <a:rPr sz="1400" b="0" i="0">
                          <a:solidFill>
                            <a:srgbClr val="000000"/>
                          </a:solidFill>
                          <a:latin typeface="Times New Roman"/>
                        </a:rPr>
                        <a:t>matches the published design</a:t>
                      </a:r>
                    </a:p>
                  </a:txBody>
                  <a:tcPr marL="0" marR="146304" marT="36576" marB="36576" anchor="ctr">
                    <a:noFill/>
                  </a:tcPr>
                </a:tc>
              </a:tr>
              <a:tr h="365760">
                <a:tc>
                  <a:txBody>
                    <a:bodyPr wrap="square"/>
                    <a:lstStyle/>
                    <a:p>
                      <a:r>
                        <a:rPr sz="1400" b="0" i="0">
                          <a:solidFill>
                            <a:srgbClr val="000000"/>
                          </a:solidFill>
                          <a:latin typeface="Times New Roman"/>
                        </a:rPr>
                        <a:t>Settings rewritten while reading</a:t>
                      </a:r>
                    </a:p>
                  </a:txBody>
                  <a:tcPr marL="0" marR="146304" marT="36576" marB="36576" anchor="ctr">
                    <a:noFill/>
                  </a:tcPr>
                </a:tc>
                <a:tc>
                  <a:txBody>
                    <a:bodyPr wrap="square"/>
                    <a:lstStyle/>
                    <a:p>
                      <a:r>
                        <a:rPr sz="1400" b="0" i="0">
                          <a:solidFill>
                            <a:srgbClr val="000000"/>
                          </a:solidFill>
                          <a:latin typeface="Times New Roman"/>
                        </a:rPr>
                        <a:t>11,501,568</a:t>
                      </a:r>
                    </a:p>
                  </a:txBody>
                  <a:tcPr marL="0" marR="146304" marT="36576" marB="36576" anchor="ctr">
                    <a:noFill/>
                  </a:tcPr>
                </a:tc>
                <a:tc>
                  <a:txBody>
                    <a:bodyPr wrap="square"/>
                    <a:lstStyle/>
                    <a:p>
                      <a:r>
                        <a:rPr sz="1400" b="0" i="0">
                          <a:solidFill>
                            <a:srgbClr val="000000"/>
                          </a:solidFill>
                          <a:latin typeface="Times New Roman"/>
                        </a:rPr>
                        <a:t>the part an attacker could influence</a:t>
                      </a:r>
                    </a:p>
                  </a:txBody>
                  <a:tcPr marL="0" marR="146304" marT="36576" marB="36576" anchor="ctr">
                    <a:noFill/>
                  </a:tcPr>
                </a:tc>
              </a:tr>
              <a:tr h="365760">
                <a:tc>
                  <a:txBody>
                    <a:bodyPr wrap="square"/>
                    <a:lstStyle/>
                    <a:p>
                      <a:r>
                        <a:rPr sz="1400" b="0" i="0">
                          <a:solidFill>
                            <a:srgbClr val="000000"/>
                          </a:solidFill>
                          <a:latin typeface="Times New Roman"/>
                        </a:rPr>
                        <a:t>Share open to influence</a:t>
                      </a:r>
                    </a:p>
                  </a:txBody>
                  <a:tcPr marL="0" marR="146304" marT="36576" marB="36576" anchor="ctr">
                    <a:noFill/>
                  </a:tcPr>
                </a:tc>
                <a:tc>
                  <a:txBody>
                    <a:bodyPr wrap="square"/>
                    <a:lstStyle/>
                    <a:p>
                      <a:r>
                        <a:rPr sz="1400" b="0" i="0">
                          <a:solidFill>
                            <a:srgbClr val="000000"/>
                          </a:solidFill>
                          <a:latin typeface="Times New Roman"/>
                        </a:rPr>
                        <a:t>6.24%</a:t>
                      </a:r>
                    </a:p>
                  </a:txBody>
                  <a:tcPr marL="0" marR="146304" marT="36576" marB="36576" anchor="ctr">
                    <a:noFill/>
                  </a:tcPr>
                </a:tc>
                <a:tc>
                  <a:txBody>
                    <a:bodyPr wrap="square"/>
                    <a:lstStyle/>
                    <a:p>
                      <a:r>
                        <a:rPr sz="1400" b="0" i="0">
                          <a:solidFill>
                            <a:srgbClr val="000000"/>
                          </a:solidFill>
                          <a:latin typeface="Times New Roman"/>
                        </a:rPr>
                        <a:t>about 1 setting in 16</a:t>
                      </a:r>
                    </a:p>
                  </a:txBody>
                  <a:tcPr marL="0" marR="146304" marT="36576" marB="36576" anchor="ctr">
                    <a:noFill/>
                  </a:tcPr>
                </a:tc>
              </a:tr>
            </a:tbl>
          </a:graphicData>
        </a:graphic>
      </p:graphicFrame>
      <p:pic>
        <p:nvPicPr>
          <p:cNvPr id="6" name="Picture 5" descr="inner_loop_curve.png"/>
          <p:cNvPicPr>
            <a:picLocks noChangeAspect="1"/>
          </p:cNvPicPr>
          <p:nvPr/>
        </p:nvPicPr>
        <p:blipFill>
          <a:blip r:embed="rId2"/>
          <a:stretch>
            <a:fillRect/>
          </a:stretch>
        </p:blipFill>
        <p:spPr>
          <a:xfrm>
            <a:off x="3369716" y="3698646"/>
            <a:ext cx="5452262" cy="1572768"/>
          </a:xfrm>
          <a:prstGeom prst="rect">
            <a:avLst/>
          </a:prstGeom>
        </p:spPr>
      </p:pic>
      <p:sp>
        <p:nvSpPr>
          <p:cNvPr id="7" name="TextBox 6"/>
          <p:cNvSpPr txBox="1"/>
          <p:nvPr/>
        </p:nvSpPr>
        <p:spPr>
          <a:xfrm>
            <a:off x="914400" y="5381142"/>
            <a:ext cx="10058400" cy="990599"/>
          </a:xfrm>
          <a:prstGeom prst="rect">
            <a:avLst/>
          </a:prstGeom>
          <a:noFill/>
        </p:spPr>
        <p:txBody>
          <a:bodyPr wrap="square" anchor="t" lIns="0" rIns="0" tIns="0" bIns="0">
            <a:spAutoFit/>
          </a:bodyPr>
          <a:lstStyle/>
          <a:p>
            <a:pPr>
              <a:lnSpc>
                <a:spcPct val="130000"/>
              </a:lnSpc>
              <a:spcAft>
                <a:spcPts val="0"/>
              </a:spcAft>
            </a:pPr>
            <a:r>
              <a:rPr sz="1250" b="0" i="1">
                <a:solidFill>
                  <a:srgbClr val="000000"/>
                </a:solidFill>
                <a:latin typeface="Times New Roman"/>
              </a:rPr>
              <a:t>How to read the chart: each point is one section of 1,024 tokens, read in order, and its height is the model's prediction error on that section, so lower is better. The dashed line is the starting error worked out in advance from the model's design. The first point lands within 0.029 of it, which confirms the setup is right, and the line then drops by 2.035 as the model reads. That drop is the fast weights learning from what they read in real time, which is exactly the behaviour an attacker would try to exploit.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566928"/>
            <a:ext cx="10362895" cy="822960"/>
          </a:xfrm>
          <a:prstGeom prst="rect">
            <a:avLst/>
          </a:prstGeom>
          <a:noFill/>
        </p:spPr>
        <p:txBody>
          <a:bodyPr wrap="square" anchor="t" lIns="0" rIns="0" tIns="0" bIns="0">
            <a:spAutoFit/>
          </a:bodyPr>
          <a:lstStyle/>
          <a:p>
            <a:pPr>
              <a:lnSpc>
                <a:spcPct val="104000"/>
              </a:lnSpc>
              <a:spcAft>
                <a:spcPts val="0"/>
              </a:spcAft>
            </a:pPr>
            <a:r>
              <a:rPr sz="2800" b="1" i="0">
                <a:solidFill>
                  <a:srgbClr val="000000"/>
                </a:solidFill>
                <a:latin typeface="Times New Roman"/>
              </a:rPr>
              <a:t>Costing the real test before paying for it</a:t>
            </a:r>
          </a:p>
        </p:txBody>
      </p:sp>
      <p:cxnSp>
        <p:nvCxnSpPr>
          <p:cNvPr id="3" name="Connector 2"/>
          <p:cNvCxnSpPr/>
          <p:nvPr/>
        </p:nvCxnSpPr>
        <p:spPr>
          <a:xfrm>
            <a:off x="914400" y="1389888"/>
            <a:ext cx="10362895"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nvGraphicFramePr>
        <p:xfrm>
          <a:off x="914400" y="1627632"/>
          <a:ext cx="10058400" cy="1828800"/>
        </p:xfrm>
        <a:graphic>
          <a:graphicData uri="http://schemas.openxmlformats.org/drawingml/2006/table">
            <a:tbl>
              <a:tblPr>
                <a:tableStyleId>{5C22544A-7EE6-4342-B048-85BDC9FD1C3A}</a:tableStyleId>
              </a:tblPr>
              <a:tblGrid>
                <a:gridCol w="2194560"/>
                <a:gridCol w="2103120"/>
                <a:gridCol w="2286000"/>
                <a:gridCol w="3474720"/>
              </a:tblGrid>
              <a:tr h="365760">
                <a:tc>
                  <a:txBody>
                    <a:bodyPr wrap="square"/>
                    <a:lstStyle/>
                    <a:p>
                      <a:r>
                        <a:rPr sz="1400" b="1" i="1">
                          <a:solidFill>
                            <a:srgbClr val="000000"/>
                          </a:solidFill>
                          <a:latin typeface="Times New Roman"/>
                        </a:rPr>
                        <a:t>Item</a:t>
                      </a:r>
                    </a:p>
                  </a:txBody>
                  <a:tcPr marL="0" marR="146304" marT="36576" marB="36576" anchor="ctr">
                    <a:noFill/>
                  </a:tcPr>
                </a:tc>
                <a:tc>
                  <a:txBody>
                    <a:bodyPr wrap="square"/>
                    <a:lstStyle/>
                    <a:p>
                      <a:r>
                        <a:rPr sz="1400" b="1" i="1">
                          <a:solidFill>
                            <a:srgbClr val="000000"/>
                          </a:solidFill>
                          <a:latin typeface="Times New Roman"/>
                        </a:rPr>
                        <a:t>Assumed</a:t>
                      </a:r>
                    </a:p>
                  </a:txBody>
                  <a:tcPr marL="0" marR="146304" marT="36576" marB="36576" anchor="ctr">
                    <a:noFill/>
                  </a:tcPr>
                </a:tc>
                <a:tc>
                  <a:txBody>
                    <a:bodyPr wrap="square"/>
                    <a:lstStyle/>
                    <a:p>
                      <a:r>
                        <a:rPr sz="1400" b="1" i="1">
                          <a:solidFill>
                            <a:srgbClr val="000000"/>
                          </a:solidFill>
                          <a:latin typeface="Times New Roman"/>
                        </a:rPr>
                        <a:t>Found on checking</a:t>
                      </a:r>
                    </a:p>
                  </a:txBody>
                  <a:tcPr marL="0" marR="146304" marT="36576" marB="36576" anchor="ctr">
                    <a:noFill/>
                  </a:tcPr>
                </a:tc>
                <a:tc>
                  <a:txBody>
                    <a:bodyPr wrap="square"/>
                    <a:lstStyle/>
                    <a:p>
                      <a:r>
                        <a:rPr sz="1400" b="1" i="1">
                          <a:solidFill>
                            <a:srgbClr val="000000"/>
                          </a:solidFill>
                          <a:latin typeface="Times New Roman"/>
                        </a:rPr>
                        <a:t>Consequence</a:t>
                      </a:r>
                    </a:p>
                  </a:txBody>
                  <a:tcPr marL="0" marR="146304" marT="36576" marB="36576" anchor="ctr">
                    <a:noFill/>
                  </a:tcPr>
                </a:tc>
              </a:tr>
              <a:tr h="365760">
                <a:tc>
                  <a:txBody>
                    <a:bodyPr wrap="square"/>
                    <a:lstStyle/>
                    <a:p>
                      <a:r>
                        <a:rPr sz="1400" b="0" i="0">
                          <a:solidFill>
                            <a:srgbClr val="000000"/>
                          </a:solidFill>
                          <a:latin typeface="Times New Roman"/>
                        </a:rPr>
                        <a:t>Evaluation text</a:t>
                      </a:r>
                    </a:p>
                  </a:txBody>
                  <a:tcPr marL="0" marR="146304" marT="36576" marB="36576" anchor="ctr">
                    <a:noFill/>
                  </a:tcPr>
                </a:tc>
                <a:tc>
                  <a:txBody>
                    <a:bodyPr wrap="square"/>
                    <a:lstStyle/>
                    <a:p>
                      <a:r>
                        <a:rPr sz="1400" b="0" i="0">
                          <a:solidFill>
                            <a:srgbClr val="000000"/>
                          </a:solidFill>
                          <a:latin typeface="Times New Roman"/>
                        </a:rPr>
                        <a:t>up to 1 billion tokens</a:t>
                      </a:r>
                    </a:p>
                  </a:txBody>
                  <a:tcPr marL="0" marR="146304" marT="36576" marB="36576" anchor="ctr">
                    <a:noFill/>
                  </a:tcPr>
                </a:tc>
                <a:tc>
                  <a:txBody>
                    <a:bodyPr wrap="square"/>
                    <a:lstStyle/>
                    <a:p>
                      <a:r>
                        <a:rPr sz="1400" b="0" i="0">
                          <a:solidFill>
                            <a:srgbClr val="000000"/>
                          </a:solidFill>
                          <a:latin typeface="Times New Roman"/>
                        </a:rPr>
                        <a:t>2.0 billion tokens</a:t>
                      </a:r>
                    </a:p>
                  </a:txBody>
                  <a:tcPr marL="0" marR="146304" marT="36576" marB="36576" anchor="ctr">
                    <a:noFill/>
                  </a:tcPr>
                </a:tc>
                <a:tc>
                  <a:txBody>
                    <a:bodyPr wrap="square"/>
                    <a:lstStyle/>
                    <a:p>
                      <a:r>
                        <a:rPr sz="1400" b="0" i="0">
                          <a:solidFill>
                            <a:srgbClr val="000000"/>
                          </a:solidFill>
                          <a:latin typeface="Times New Roman"/>
                        </a:rPr>
                        <a:t>a full pass takes about 7.5 hours, not under 1</a:t>
                      </a:r>
                    </a:p>
                  </a:txBody>
                  <a:tcPr marL="0" marR="146304" marT="36576" marB="36576" anchor="ctr">
                    <a:noFill/>
                  </a:tcPr>
                </a:tc>
              </a:tr>
              <a:tr h="365760">
                <a:tc>
                  <a:txBody>
                    <a:bodyPr wrap="square"/>
                    <a:lstStyle/>
                    <a:p>
                      <a:r>
                        <a:rPr sz="1400" b="0" i="0">
                          <a:solidFill>
                            <a:srgbClr val="000000"/>
                          </a:solidFill>
                          <a:latin typeface="Times New Roman"/>
                        </a:rPr>
                        <a:t>Model file</a:t>
                      </a:r>
                    </a:p>
                  </a:txBody>
                  <a:tcPr marL="0" marR="146304" marT="36576" marB="36576" anchor="ctr">
                    <a:noFill/>
                  </a:tcPr>
                </a:tc>
                <a:tc>
                  <a:txBody>
                    <a:bodyPr wrap="square"/>
                    <a:lstStyle/>
                    <a:p>
                      <a:r>
                        <a:rPr sz="1400" b="0" i="0">
                          <a:solidFill>
                            <a:srgbClr val="000000"/>
                          </a:solidFill>
                          <a:latin typeface="Times New Roman"/>
                        </a:rPr>
                        <a:t>5.9 GB</a:t>
                      </a:r>
                    </a:p>
                  </a:txBody>
                  <a:tcPr marL="0" marR="146304" marT="36576" marB="36576" anchor="ctr">
                    <a:noFill/>
                  </a:tcPr>
                </a:tc>
                <a:tc>
                  <a:txBody>
                    <a:bodyPr wrap="square"/>
                    <a:lstStyle/>
                    <a:p>
                      <a:r>
                        <a:rPr sz="1400" b="0" i="0">
                          <a:solidFill>
                            <a:srgbClr val="000000"/>
                          </a:solidFill>
                          <a:latin typeface="Times New Roman"/>
                        </a:rPr>
                        <a:t>5.35 GB</a:t>
                      </a:r>
                    </a:p>
                  </a:txBody>
                  <a:tcPr marL="0" marR="146304" marT="36576" marB="36576" anchor="ctr">
                    <a:noFill/>
                  </a:tcPr>
                </a:tc>
                <a:tc>
                  <a:txBody>
                    <a:bodyPr wrap="square"/>
                    <a:lstStyle/>
                    <a:p>
                      <a:r>
                        <a:rPr sz="1400" b="0" i="0">
                          <a:solidFill>
                            <a:srgbClr val="000000"/>
                          </a:solidFill>
                          <a:latin typeface="Times New Roman"/>
                        </a:rPr>
                        <a:t>within the expected range</a:t>
                      </a:r>
                    </a:p>
                  </a:txBody>
                  <a:tcPr marL="0" marR="146304" marT="36576" marB="36576" anchor="ctr">
                    <a:noFill/>
                  </a:tcPr>
                </a:tc>
              </a:tr>
              <a:tr h="365760">
                <a:tc>
                  <a:txBody>
                    <a:bodyPr wrap="square"/>
                    <a:lstStyle/>
                    <a:p>
                      <a:r>
                        <a:rPr sz="1400" b="0" i="0">
                          <a:solidFill>
                            <a:srgbClr val="000000"/>
                          </a:solidFill>
                          <a:latin typeface="Times New Roman"/>
                        </a:rPr>
                        <a:t>GPU memory needed</a:t>
                      </a:r>
                    </a:p>
                  </a:txBody>
                  <a:tcPr marL="0" marR="146304" marT="36576" marB="36576" anchor="ctr">
                    <a:noFill/>
                  </a:tcPr>
                </a:tc>
                <a:tc>
                  <a:txBody>
                    <a:bodyPr wrap="square"/>
                    <a:lstStyle/>
                    <a:p>
                      <a:r>
                        <a:rPr sz="1400" b="0" i="0">
                          <a:solidFill>
                            <a:srgbClr val="000000"/>
                          </a:solidFill>
                          <a:latin typeface="Times New Roman"/>
                        </a:rPr>
                        <a:t>about 25 GB</a:t>
                      </a:r>
                    </a:p>
                  </a:txBody>
                  <a:tcPr marL="0" marR="146304" marT="36576" marB="36576" anchor="ctr">
                    <a:noFill/>
                  </a:tcPr>
                </a:tc>
                <a:tc>
                  <a:txBody>
                    <a:bodyPr wrap="square"/>
                    <a:lstStyle/>
                    <a:p>
                      <a:r>
                        <a:rPr sz="1400" b="0" i="0">
                          <a:solidFill>
                            <a:srgbClr val="000000"/>
                          </a:solidFill>
                          <a:latin typeface="Times New Roman"/>
                        </a:rPr>
                        <a:t>36 to 49 GB, estimated</a:t>
                      </a:r>
                    </a:p>
                  </a:txBody>
                  <a:tcPr marL="0" marR="146304" marT="36576" marB="36576" anchor="ctr">
                    <a:noFill/>
                  </a:tcPr>
                </a:tc>
                <a:tc>
                  <a:txBody>
                    <a:bodyPr wrap="square"/>
                    <a:lstStyle/>
                    <a:p>
                      <a:r>
                        <a:rPr sz="1400" b="0" i="0">
                          <a:solidFill>
                            <a:srgbClr val="000000"/>
                          </a:solidFill>
                          <a:latin typeface="Times New Roman"/>
                        </a:rPr>
                        <a:t>an 80 GB card is required</a:t>
                      </a:r>
                    </a:p>
                  </a:txBody>
                  <a:tcPr marL="0" marR="146304" marT="36576" marB="36576" anchor="ctr">
                    <a:noFill/>
                  </a:tcPr>
                </a:tc>
              </a:tr>
              <a:tr h="365760">
                <a:tc>
                  <a:txBody>
                    <a:bodyPr wrap="square"/>
                    <a:lstStyle/>
                    <a:p>
                      <a:r>
                        <a:rPr sz="1400" b="0" i="0">
                          <a:solidFill>
                            <a:srgbClr val="000000"/>
                          </a:solidFill>
                          <a:latin typeface="Times New Roman"/>
                        </a:rPr>
                        <a:t>Whole session</a:t>
                      </a:r>
                    </a:p>
                  </a:txBody>
                  <a:tcPr marL="0" marR="146304" marT="36576" marB="36576" anchor="ctr">
                    <a:noFill/>
                  </a:tcPr>
                </a:tc>
                <a:tc>
                  <a:txBody>
                    <a:bodyPr wrap="square"/>
                    <a:lstStyle/>
                    <a:p>
                      <a:r>
                        <a:rPr sz="1400" b="0" i="0">
                          <a:solidFill>
                            <a:srgbClr val="000000"/>
                          </a:solidFill>
                          <a:latin typeface="Times New Roman"/>
                        </a:rPr>
                        <a:t>about 4 hours</a:t>
                      </a:r>
                    </a:p>
                  </a:txBody>
                  <a:tcPr marL="0" marR="146304" marT="36576" marB="36576" anchor="ctr">
                    <a:noFill/>
                  </a:tcPr>
                </a:tc>
                <a:tc>
                  <a:txBody>
                    <a:bodyPr wrap="square"/>
                    <a:lstStyle/>
                    <a:p>
                      <a:r>
                        <a:rPr sz="1400" b="0" i="0">
                          <a:solidFill>
                            <a:srgbClr val="000000"/>
                          </a:solidFill>
                          <a:latin typeface="Times New Roman"/>
                        </a:rPr>
                        <a:t>about 10.5 hours</a:t>
                      </a:r>
                    </a:p>
                  </a:txBody>
                  <a:tcPr marL="0" marR="146304" marT="36576" marB="36576" anchor="ctr">
                    <a:noFill/>
                  </a:tcPr>
                </a:tc>
                <a:tc>
                  <a:txBody>
                    <a:bodyPr wrap="square"/>
                    <a:lstStyle/>
                    <a:p>
                      <a:r>
                        <a:rPr sz="1400" b="0" i="0">
                          <a:solidFill>
                            <a:srgbClr val="000000"/>
                          </a:solidFill>
                          <a:latin typeface="Times New Roman"/>
                        </a:rPr>
                        <a:t>too close to the 12-hour spending limit</a:t>
                      </a:r>
                    </a:p>
                  </a:txBody>
                  <a:tcPr marL="0" marR="146304" marT="36576" marB="36576" anchor="ctr">
                    <a:noFill/>
                  </a:tcPr>
                </a:tc>
              </a:tr>
            </a:tbl>
          </a:graphicData>
        </a:graphic>
      </p:graphicFrame>
      <p:sp>
        <p:nvSpPr>
          <p:cNvPr id="5" name="TextBox 4"/>
          <p:cNvSpPr txBox="1"/>
          <p:nvPr/>
        </p:nvSpPr>
        <p:spPr>
          <a:xfrm>
            <a:off x="914400" y="3657600"/>
            <a:ext cx="10058400" cy="742950"/>
          </a:xfrm>
          <a:prstGeom prst="rect">
            <a:avLst/>
          </a:prstGeom>
          <a:noFill/>
        </p:spPr>
        <p:txBody>
          <a:bodyPr wrap="square" anchor="t" lIns="0" rIns="0" tIns="0" bIns="0">
            <a:spAutoFit/>
          </a:bodyPr>
          <a:lstStyle/>
          <a:p>
            <a:pPr>
              <a:lnSpc>
                <a:spcPct val="130000"/>
              </a:lnSpc>
              <a:spcAft>
                <a:spcPts val="0"/>
              </a:spcAft>
            </a:pPr>
            <a:r>
              <a:rPr sz="1250" b="0" i="1">
                <a:solidFill>
                  <a:srgbClr val="000000"/>
                </a:solidFill>
                <a:latin typeface="Times New Roman"/>
              </a:rPr>
              <a:t>All of this was found by inspecting data and code for free, before renting anything. Because the full evaluation text is too large to use in one session, the real test will use a fixed sample of it. The sample is still far larger than needed to detect the differences that matter, and it was chosen and written down before any result was seen.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566928"/>
            <a:ext cx="10362895" cy="822960"/>
          </a:xfrm>
          <a:prstGeom prst="rect">
            <a:avLst/>
          </a:prstGeom>
          <a:noFill/>
        </p:spPr>
        <p:txBody>
          <a:bodyPr wrap="square" anchor="t" lIns="0" rIns="0" tIns="0" bIns="0">
            <a:spAutoFit/>
          </a:bodyPr>
          <a:lstStyle/>
          <a:p>
            <a:pPr>
              <a:lnSpc>
                <a:spcPct val="104000"/>
              </a:lnSpc>
              <a:spcAft>
                <a:spcPts val="0"/>
              </a:spcAft>
            </a:pPr>
            <a:r>
              <a:rPr sz="2800" b="1" i="0">
                <a:solidFill>
                  <a:srgbClr val="000000"/>
                </a:solidFill>
                <a:latin typeface="Times New Roman"/>
              </a:rPr>
              <a:t>The measuring tools are ready</a:t>
            </a:r>
          </a:p>
        </p:txBody>
      </p:sp>
      <p:cxnSp>
        <p:nvCxnSpPr>
          <p:cNvPr id="3" name="Connector 2"/>
          <p:cNvCxnSpPr/>
          <p:nvPr/>
        </p:nvCxnSpPr>
        <p:spPr>
          <a:xfrm>
            <a:off x="914400" y="1389888"/>
            <a:ext cx="10362895"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1627632"/>
            <a:ext cx="10058400" cy="3657600"/>
          </a:xfrm>
          <a:prstGeom prst="rect">
            <a:avLst/>
          </a:prstGeom>
          <a:noFill/>
        </p:spPr>
        <p:txBody>
          <a:bodyPr wrap="square" anchor="t" lIns="0" rIns="0" tIns="0" bIns="0">
            <a:spAutoFit/>
          </a:bodyPr>
          <a:lstStyle/>
          <a:p>
            <a:pPr>
              <a:lnSpc>
                <a:spcPct val="116000"/>
              </a:lnSpc>
              <a:spcAft>
                <a:spcPts val="800"/>
              </a:spcAft>
            </a:pPr>
            <a:r>
              <a:rPr sz="1600" b="1">
                <a:solidFill>
                  <a:srgbClr val="000000"/>
                </a:solidFill>
                <a:latin typeface="Times New Roman"/>
              </a:rPr>
              <a:t>•  An independent judge.</a:t>
            </a:r>
            <a:r>
              <a:rPr sz="1600">
                <a:solidFill>
                  <a:srgbClr val="000000"/>
                </a:solidFill>
                <a:latin typeface="Times New Roman"/>
              </a:rPr>
              <a:t>  Whether attack text reads naturally is scored by a separate, well-known model, GPT-2, never by the model under attack. A compromised model cannot be trusted to judge.</a:t>
            </a:r>
          </a:p>
          <a:p>
            <a:pPr>
              <a:lnSpc>
                <a:spcPct val="116000"/>
              </a:lnSpc>
              <a:spcAft>
                <a:spcPts val="800"/>
              </a:spcAft>
            </a:pPr>
            <a:r>
              <a:rPr sz="1600" b="1">
                <a:solidFill>
                  <a:srgbClr val="000000"/>
                </a:solidFill>
                <a:latin typeface="Times New Roman"/>
              </a:rPr>
              <a:t>•  The full test runs end to end.</a:t>
            </a:r>
            <a:r>
              <a:rPr sz="1600">
                <a:solidFill>
                  <a:srgbClr val="000000"/>
                </a:solidFill>
                <a:latin typeface="Times New Roman"/>
              </a:rPr>
              <a:t>  Every step of the decisive test now runs. With an untrained model plugged in, it gives no verdict and says so at the top of its report.</a:t>
            </a:r>
          </a:p>
        </p:txBody>
      </p:sp>
      <p:graphicFrame>
        <p:nvGraphicFramePr>
          <p:cNvPr id="5" name="Table 4"/>
          <p:cNvGraphicFramePr>
            <a:graphicFrameLocks noGrp="1"/>
          </p:cNvGraphicFramePr>
          <p:nvPr/>
        </p:nvGraphicFramePr>
        <p:xfrm>
          <a:off x="914400" y="3126841"/>
          <a:ext cx="10058399" cy="1828800"/>
        </p:xfrm>
        <a:graphic>
          <a:graphicData uri="http://schemas.openxmlformats.org/drawingml/2006/table">
            <a:tbl>
              <a:tblPr>
                <a:tableStyleId>{5C22544A-7EE6-4342-B048-85BDC9FD1C3A}</a:tableStyleId>
              </a:tblPr>
              <a:tblGrid>
                <a:gridCol w="3657600"/>
                <a:gridCol w="1371600"/>
                <a:gridCol w="1280160"/>
                <a:gridCol w="3749039"/>
              </a:tblGrid>
              <a:tr h="365760">
                <a:tc>
                  <a:txBody>
                    <a:bodyPr wrap="square"/>
                    <a:lstStyle/>
                    <a:p>
                      <a:r>
                        <a:rPr sz="1400" b="1" i="1">
                          <a:solidFill>
                            <a:srgbClr val="000000"/>
                          </a:solidFill>
                          <a:latin typeface="Times New Roman"/>
                        </a:rPr>
                        <a:t>Check</a:t>
                      </a:r>
                    </a:p>
                  </a:txBody>
                  <a:tcPr marL="0" marR="146304" marT="36576" marB="36576" anchor="ctr">
                    <a:noFill/>
                  </a:tcPr>
                </a:tc>
                <a:tc>
                  <a:txBody>
                    <a:bodyPr wrap="square"/>
                    <a:lstStyle/>
                    <a:p>
                      <a:r>
                        <a:rPr sz="1400" b="1" i="1">
                          <a:solidFill>
                            <a:srgbClr val="000000"/>
                          </a:solidFill>
                          <a:latin typeface="Times New Roman"/>
                        </a:rPr>
                        <a:t>Result</a:t>
                      </a:r>
                    </a:p>
                  </a:txBody>
                  <a:tcPr marL="0" marR="146304" marT="36576" marB="36576" anchor="ctr">
                    <a:noFill/>
                  </a:tcPr>
                </a:tc>
                <a:tc>
                  <a:txBody>
                    <a:bodyPr wrap="square"/>
                    <a:lstStyle/>
                    <a:p>
                      <a:r>
                        <a:rPr sz="1400" b="1" i="1">
                          <a:solidFill>
                            <a:srgbClr val="000000"/>
                          </a:solidFill>
                          <a:latin typeface="Times New Roman"/>
                        </a:rPr>
                        <a:t>Required</a:t>
                      </a:r>
                    </a:p>
                  </a:txBody>
                  <a:tcPr marL="0" marR="146304" marT="36576" marB="36576" anchor="ctr">
                    <a:noFill/>
                  </a:tcPr>
                </a:tc>
                <a:tc>
                  <a:txBody>
                    <a:bodyPr wrap="square"/>
                    <a:lstStyle/>
                    <a:p>
                      <a:r>
                        <a:rPr sz="1400" b="1" i="1">
                          <a:solidFill>
                            <a:srgbClr val="000000"/>
                          </a:solidFill>
                          <a:latin typeface="Times New Roman"/>
                        </a:rPr>
                        <a:t>What it shows</a:t>
                      </a:r>
                    </a:p>
                  </a:txBody>
                  <a:tcPr marL="0" marR="146304" marT="36576" marB="36576" anchor="ctr">
                    <a:noFill/>
                  </a:tcPr>
                </a:tc>
              </a:tr>
              <a:tr h="365760">
                <a:tc>
                  <a:txBody>
                    <a:bodyPr wrap="square"/>
                    <a:lstStyle/>
                    <a:p>
                      <a:r>
                        <a:rPr sz="1400" b="0" i="0">
                          <a:solidFill>
                            <a:srgbClr val="000000"/>
                          </a:solidFill>
                          <a:latin typeface="Times New Roman"/>
                        </a:rPr>
                        <a:t>Tells normal text from scrambled text</a:t>
                      </a:r>
                    </a:p>
                  </a:txBody>
                  <a:tcPr marL="0" marR="146304" marT="36576" marB="36576" anchor="ctr">
                    <a:noFill/>
                  </a:tcPr>
                </a:tc>
                <a:tc>
                  <a:txBody>
                    <a:bodyPr wrap="square"/>
                    <a:lstStyle/>
                    <a:p>
                      <a:r>
                        <a:rPr sz="1400" b="0" i="0">
                          <a:solidFill>
                            <a:srgbClr val="000000"/>
                          </a:solidFill>
                          <a:latin typeface="Times New Roman"/>
                        </a:rPr>
                        <a:t>66×</a:t>
                      </a:r>
                    </a:p>
                  </a:txBody>
                  <a:tcPr marL="0" marR="146304" marT="36576" marB="36576" anchor="ctr">
                    <a:noFill/>
                  </a:tcPr>
                </a:tc>
                <a:tc>
                  <a:txBody>
                    <a:bodyPr wrap="square"/>
                    <a:lstStyle/>
                    <a:p>
                      <a:r>
                        <a:rPr sz="1400" b="0" i="0">
                          <a:solidFill>
                            <a:srgbClr val="000000"/>
                          </a:solidFill>
                          <a:latin typeface="Times New Roman"/>
                        </a:rPr>
                        <a:t>&gt; 2×</a:t>
                      </a:r>
                    </a:p>
                  </a:txBody>
                  <a:tcPr marL="0" marR="146304" marT="36576" marB="36576" anchor="ctr">
                    <a:noFill/>
                  </a:tcPr>
                </a:tc>
                <a:tc>
                  <a:txBody>
                    <a:bodyPr wrap="square"/>
                    <a:lstStyle/>
                    <a:p>
                      <a:r>
                        <a:rPr sz="1400" b="0" i="0">
                          <a:solidFill>
                            <a:srgbClr val="000000"/>
                          </a:solidFill>
                          <a:latin typeface="Times New Roman"/>
                        </a:rPr>
                        <a:t>the judge spots unnatural text easily</a:t>
                      </a:r>
                    </a:p>
                  </a:txBody>
                  <a:tcPr marL="0" marR="146304" marT="36576" marB="36576" anchor="ctr">
                    <a:noFill/>
                  </a:tcPr>
                </a:tc>
              </a:tr>
              <a:tr h="365760">
                <a:tc>
                  <a:txBody>
                    <a:bodyPr wrap="square"/>
                    <a:lstStyle/>
                    <a:p>
                      <a:r>
                        <a:rPr sz="1400" b="0" i="0">
                          <a:solidFill>
                            <a:srgbClr val="000000"/>
                          </a:solidFill>
                          <a:latin typeface="Times New Roman"/>
                        </a:rPr>
                        <a:t>Difference from the official GPT-2</a:t>
                      </a:r>
                    </a:p>
                  </a:txBody>
                  <a:tcPr marL="0" marR="146304" marT="36576" marB="36576" anchor="ctr">
                    <a:noFill/>
                  </a:tcPr>
                </a:tc>
                <a:tc>
                  <a:txBody>
                    <a:bodyPr wrap="square"/>
                    <a:lstStyle/>
                    <a:p>
                      <a:r>
                        <a:rPr sz="1400" b="0" i="0">
                          <a:solidFill>
                            <a:srgbClr val="000000"/>
                          </a:solidFill>
                          <a:latin typeface="Times New Roman"/>
                        </a:rPr>
                        <a:t>0.0006</a:t>
                      </a:r>
                    </a:p>
                  </a:txBody>
                  <a:tcPr marL="0" marR="146304" marT="36576" marB="36576" anchor="ctr">
                    <a:noFill/>
                  </a:tcPr>
                </a:tc>
                <a:tc>
                  <a:txBody>
                    <a:bodyPr wrap="square"/>
                    <a:lstStyle/>
                    <a:p>
                      <a:r>
                        <a:rPr sz="1400" b="0" i="0">
                          <a:solidFill>
                            <a:srgbClr val="000000"/>
                          </a:solidFill>
                          <a:latin typeface="Times New Roman"/>
                        </a:rPr>
                        <a:t>&lt; 0.001</a:t>
                      </a:r>
                    </a:p>
                  </a:txBody>
                  <a:tcPr marL="0" marR="146304" marT="36576" marB="36576" anchor="ctr">
                    <a:noFill/>
                  </a:tcPr>
                </a:tc>
                <a:tc>
                  <a:txBody>
                    <a:bodyPr wrap="square"/>
                    <a:lstStyle/>
                    <a:p>
                      <a:r>
                        <a:rPr sz="1400" b="0" i="0">
                          <a:solidFill>
                            <a:srgbClr val="000000"/>
                          </a:solidFill>
                          <a:latin typeface="Times New Roman"/>
                        </a:rPr>
                        <a:t>our copy is the same model</a:t>
                      </a:r>
                    </a:p>
                  </a:txBody>
                  <a:tcPr marL="0" marR="146304" marT="36576" marB="36576" anchor="ctr">
                    <a:noFill/>
                  </a:tcPr>
                </a:tc>
              </a:tr>
              <a:tr h="365760">
                <a:tc>
                  <a:txBody>
                    <a:bodyPr wrap="square"/>
                    <a:lstStyle/>
                    <a:p>
                      <a:r>
                        <a:rPr sz="1400" b="0" i="0">
                          <a:solidFill>
                            <a:srgbClr val="000000"/>
                          </a:solidFill>
                          <a:latin typeface="Times New Roman"/>
                        </a:rPr>
                        <a:t>Agrees on the next word</a:t>
                      </a:r>
                    </a:p>
                  </a:txBody>
                  <a:tcPr marL="0" marR="146304" marT="36576" marB="36576" anchor="ctr">
                    <a:noFill/>
                  </a:tcPr>
                </a:tc>
                <a:tc>
                  <a:txBody>
                    <a:bodyPr wrap="square"/>
                    <a:lstStyle/>
                    <a:p>
                      <a:r>
                        <a:rPr sz="1400" b="0" i="0">
                          <a:solidFill>
                            <a:srgbClr val="000000"/>
                          </a:solidFill>
                          <a:latin typeface="Times New Roman"/>
                        </a:rPr>
                        <a:t>100%</a:t>
                      </a:r>
                    </a:p>
                  </a:txBody>
                  <a:tcPr marL="0" marR="146304" marT="36576" marB="36576" anchor="ctr">
                    <a:noFill/>
                  </a:tcPr>
                </a:tc>
                <a:tc>
                  <a:txBody>
                    <a:bodyPr wrap="square"/>
                    <a:lstStyle/>
                    <a:p>
                      <a:r>
                        <a:rPr sz="1400" b="0" i="0">
                          <a:solidFill>
                            <a:srgbClr val="000000"/>
                          </a:solidFill>
                          <a:latin typeface="Times New Roman"/>
                        </a:rPr>
                        <a:t/>
                      </a:r>
                    </a:p>
                  </a:txBody>
                  <a:tcPr marL="0" marR="146304" marT="36576" marB="36576" anchor="ctr">
                    <a:noFill/>
                  </a:tcPr>
                </a:tc>
                <a:tc>
                  <a:txBody>
                    <a:bodyPr wrap="square"/>
                    <a:lstStyle/>
                    <a:p>
                      <a:r>
                        <a:rPr sz="1400" b="0" i="0">
                          <a:solidFill>
                            <a:srgbClr val="000000"/>
                          </a:solidFill>
                          <a:latin typeface="Times New Roman"/>
                        </a:rPr>
                        <a:t>identical choices over 1,024 tokens</a:t>
                      </a:r>
                    </a:p>
                  </a:txBody>
                  <a:tcPr marL="0" marR="146304" marT="36576" marB="36576" anchor="ctr">
                    <a:noFill/>
                  </a:tcPr>
                </a:tc>
              </a:tr>
              <a:tr h="365760">
                <a:tc>
                  <a:txBody>
                    <a:bodyPr wrap="square"/>
                    <a:lstStyle/>
                    <a:p>
                      <a:r>
                        <a:rPr sz="1400" b="0" i="0">
                          <a:solidFill>
                            <a:srgbClr val="000000"/>
                          </a:solidFill>
                          <a:latin typeface="Times New Roman"/>
                        </a:rPr>
                        <a:t>Automated tests on the tools</a:t>
                      </a:r>
                    </a:p>
                  </a:txBody>
                  <a:tcPr marL="0" marR="146304" marT="36576" marB="36576" anchor="ctr">
                    <a:noFill/>
                  </a:tcPr>
                </a:tc>
                <a:tc>
                  <a:txBody>
                    <a:bodyPr wrap="square"/>
                    <a:lstStyle/>
                    <a:p>
                      <a:r>
                        <a:rPr sz="1400" b="0" i="0">
                          <a:solidFill>
                            <a:srgbClr val="000000"/>
                          </a:solidFill>
                          <a:latin typeface="Times New Roman"/>
                        </a:rPr>
                        <a:t>319 passing</a:t>
                      </a:r>
                    </a:p>
                  </a:txBody>
                  <a:tcPr marL="0" marR="146304" marT="36576" marB="36576" anchor="ctr">
                    <a:noFill/>
                  </a:tcPr>
                </a:tc>
                <a:tc>
                  <a:txBody>
                    <a:bodyPr wrap="square"/>
                    <a:lstStyle/>
                    <a:p>
                      <a:r>
                        <a:rPr sz="1400" b="0" i="0">
                          <a:solidFill>
                            <a:srgbClr val="000000"/>
                          </a:solidFill>
                          <a:latin typeface="Times New Roman"/>
                        </a:rPr>
                        <a:t/>
                      </a:r>
                    </a:p>
                  </a:txBody>
                  <a:tcPr marL="0" marR="146304" marT="36576" marB="36576" anchor="ctr">
                    <a:noFill/>
                  </a:tcPr>
                </a:tc>
                <a:tc>
                  <a:txBody>
                    <a:bodyPr wrap="square"/>
                    <a:lstStyle/>
                    <a:p>
                      <a:r>
                        <a:rPr sz="1400" b="0" i="0">
                          <a:solidFill>
                            <a:srgbClr val="000000"/>
                          </a:solidFill>
                          <a:latin typeface="Times New Roman"/>
                        </a:rPr>
                        <a:t>checked by code, not by eye</a:t>
                      </a:r>
                    </a:p>
                  </a:txBody>
                  <a:tcPr marL="0" marR="146304" marT="36576" marB="36576" anchor="ctr">
                    <a:noFill/>
                  </a:tcPr>
                </a:tc>
              </a:tr>
            </a:tbl>
          </a:graphicData>
        </a:graphic>
      </p:graphicFrame>
      <p:sp>
        <p:nvSpPr>
          <p:cNvPr id="6" name="TextBox 5"/>
          <p:cNvSpPr txBox="1"/>
          <p:nvPr/>
        </p:nvSpPr>
        <p:spPr>
          <a:xfrm>
            <a:off x="914400" y="5156809"/>
            <a:ext cx="10058400" cy="247649"/>
          </a:xfrm>
          <a:prstGeom prst="rect">
            <a:avLst/>
          </a:prstGeom>
          <a:noFill/>
        </p:spPr>
        <p:txBody>
          <a:bodyPr wrap="square" anchor="t" lIns="0" rIns="0" tIns="0" bIns="0">
            <a:spAutoFit/>
          </a:bodyPr>
          <a:lstStyle/>
          <a:p>
            <a:pPr>
              <a:lnSpc>
                <a:spcPct val="130000"/>
              </a:lnSpc>
              <a:spcAft>
                <a:spcPts val="0"/>
              </a:spcAft>
            </a:pPr>
            <a:r>
              <a:rPr sz="1250" b="0" i="1">
                <a:solidFill>
                  <a:srgbClr val="000000"/>
                </a:solidFill>
                <a:latin typeface="Times New Roman"/>
              </a:rPr>
              <a:t>The naturalness condition could not be scored until a trustworthy judge existed. It can be now, at the same threshold set in July.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566928"/>
            <a:ext cx="10362895" cy="822960"/>
          </a:xfrm>
          <a:prstGeom prst="rect">
            <a:avLst/>
          </a:prstGeom>
          <a:noFill/>
        </p:spPr>
        <p:txBody>
          <a:bodyPr wrap="square" anchor="t" lIns="0" rIns="0" tIns="0" bIns="0">
            <a:spAutoFit/>
          </a:bodyPr>
          <a:lstStyle/>
          <a:p>
            <a:pPr>
              <a:lnSpc>
                <a:spcPct val="104000"/>
              </a:lnSpc>
              <a:spcAft>
                <a:spcPts val="0"/>
              </a:spcAft>
            </a:pPr>
            <a:r>
              <a:rPr sz="2800" b="1" i="0">
                <a:solidFill>
                  <a:srgbClr val="000000"/>
                </a:solidFill>
                <a:latin typeface="Times New Roman"/>
              </a:rPr>
              <a:t>What is not yet known</a:t>
            </a:r>
          </a:p>
        </p:txBody>
      </p:sp>
      <p:cxnSp>
        <p:nvCxnSpPr>
          <p:cNvPr id="3" name="Connector 2"/>
          <p:cNvCxnSpPr/>
          <p:nvPr/>
        </p:nvCxnSpPr>
        <p:spPr>
          <a:xfrm>
            <a:off x="914400" y="1389888"/>
            <a:ext cx="10362895"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1627632"/>
            <a:ext cx="10058400" cy="3657600"/>
          </a:xfrm>
          <a:prstGeom prst="rect">
            <a:avLst/>
          </a:prstGeom>
          <a:noFill/>
        </p:spPr>
        <p:txBody>
          <a:bodyPr wrap="square" anchor="t" lIns="0" rIns="0" tIns="0" bIns="0">
            <a:spAutoFit/>
          </a:bodyPr>
          <a:lstStyle/>
          <a:p>
            <a:pPr>
              <a:lnSpc>
                <a:spcPct val="116000"/>
              </a:lnSpc>
              <a:spcAft>
                <a:spcPts val="1100"/>
              </a:spcAft>
            </a:pPr>
            <a:r>
              <a:rPr sz="1600" b="1">
                <a:solidFill>
                  <a:srgbClr val="000000"/>
                </a:solidFill>
                <a:latin typeface="Times New Roman"/>
              </a:rPr>
              <a:t>•  Whether the attack works on the real model.</a:t>
            </a:r>
            <a:r>
              <a:rPr sz="1600">
                <a:solidFill>
                  <a:srgbClr val="000000"/>
                </a:solidFill>
                <a:latin typeface="Times New Roman"/>
              </a:rPr>
              <a:t>  The decisive test has not been run, so there is no verdict.</a:t>
            </a:r>
          </a:p>
          <a:p>
            <a:pPr>
              <a:lnSpc>
                <a:spcPct val="116000"/>
              </a:lnSpc>
              <a:spcAft>
                <a:spcPts val="1100"/>
              </a:spcAft>
            </a:pPr>
            <a:r>
              <a:rPr sz="1600" b="1">
                <a:solidFill>
                  <a:srgbClr val="000000"/>
                </a:solidFill>
                <a:latin typeface="Times New Roman"/>
              </a:rPr>
              <a:t>•  Whether the real model's learning builds up correctly over a long text.</a:t>
            </a:r>
            <a:r>
              <a:rPr sz="1600">
                <a:solidFill>
                  <a:srgbClr val="000000"/>
                </a:solidFill>
                <a:latin typeface="Times New Roman"/>
              </a:rPr>
              <a:t>  This check could not finish on a home graphics card. A 24 GB card has been arranged.</a:t>
            </a:r>
          </a:p>
          <a:p>
            <a:pPr>
              <a:lnSpc>
                <a:spcPct val="116000"/>
              </a:lnSpc>
              <a:spcAft>
                <a:spcPts val="1100"/>
              </a:spcAft>
            </a:pPr>
            <a:r>
              <a:rPr sz="1600" b="1">
                <a:solidFill>
                  <a:srgbClr val="000000"/>
                </a:solidFill>
                <a:latin typeface="Times New Roman"/>
              </a:rPr>
              <a:t>•  How the full-size model behaves.</a:t>
            </a:r>
            <a:r>
              <a:rPr sz="1600">
                <a:solidFill>
                  <a:srgbClr val="000000"/>
                </a:solidFill>
                <a:latin typeface="Times New Roman"/>
              </a:rPr>
              <a:t>  It needs a rented 80 GB data-centre GPU. Free services such as Colab and Kaggle cannot run it.</a:t>
            </a:r>
          </a:p>
          <a:p>
            <a:pPr>
              <a:lnSpc>
                <a:spcPct val="116000"/>
              </a:lnSpc>
              <a:spcAft>
                <a:spcPts val="1100"/>
              </a:spcAft>
            </a:pPr>
            <a:r>
              <a:rPr sz="1600" b="1">
                <a:solidFill>
                  <a:srgbClr val="000000"/>
                </a:solidFill>
                <a:latin typeface="Times New Roman"/>
              </a:rPr>
              <a:t>•  Anything about the real model from the small test.</a:t>
            </a:r>
            <a:r>
              <a:rPr sz="1600">
                <a:solidFill>
                  <a:srgbClr val="000000"/>
                </a:solidFill>
                <a:latin typeface="Times New Roman"/>
              </a:rPr>
              <a:t>  The practice model is far smaller and built differently, so its result does not carry over.</a:t>
            </a:r>
          </a:p>
        </p:txBody>
      </p:sp>
      <p:sp>
        <p:nvSpPr>
          <p:cNvPr id="5" name="TextBox 4"/>
          <p:cNvSpPr txBox="1"/>
          <p:nvPr/>
        </p:nvSpPr>
        <p:spPr>
          <a:xfrm>
            <a:off x="914400" y="4349292"/>
            <a:ext cx="10058400" cy="495299"/>
          </a:xfrm>
          <a:prstGeom prst="rect">
            <a:avLst/>
          </a:prstGeom>
          <a:noFill/>
        </p:spPr>
        <p:txBody>
          <a:bodyPr wrap="square" anchor="t" lIns="0" rIns="0" tIns="0" bIns="0">
            <a:spAutoFit/>
          </a:bodyPr>
          <a:lstStyle/>
          <a:p>
            <a:pPr>
              <a:lnSpc>
                <a:spcPct val="130000"/>
              </a:lnSpc>
              <a:spcAft>
                <a:spcPts val="0"/>
              </a:spcAft>
            </a:pPr>
            <a:r>
              <a:rPr sz="1250" b="0" i="1">
                <a:solidFill>
                  <a:srgbClr val="000000"/>
                </a:solidFill>
                <a:latin typeface="Times New Roman"/>
              </a:rPr>
              <a:t>This slide is here so the earlier results are not read as more than they are. Along the way, seven setup failures were found and fixed on free hardware, each of which would otherwise have cost paid GPU time.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566928"/>
            <a:ext cx="10362895" cy="822960"/>
          </a:xfrm>
          <a:prstGeom prst="rect">
            <a:avLst/>
          </a:prstGeom>
          <a:noFill/>
        </p:spPr>
        <p:txBody>
          <a:bodyPr wrap="square" anchor="t" lIns="0" rIns="0" tIns="0" bIns="0">
            <a:spAutoFit/>
          </a:bodyPr>
          <a:lstStyle/>
          <a:p>
            <a:pPr>
              <a:lnSpc>
                <a:spcPct val="104000"/>
              </a:lnSpc>
              <a:spcAft>
                <a:spcPts val="0"/>
              </a:spcAft>
            </a:pPr>
            <a:r>
              <a:rPr sz="2800" b="1" i="0">
                <a:solidFill>
                  <a:srgbClr val="000000"/>
                </a:solidFill>
                <a:latin typeface="Times New Roman"/>
              </a:rPr>
              <a:t>Next steps</a:t>
            </a:r>
          </a:p>
        </p:txBody>
      </p:sp>
      <p:cxnSp>
        <p:nvCxnSpPr>
          <p:cNvPr id="3" name="Connector 2"/>
          <p:cNvCxnSpPr/>
          <p:nvPr/>
        </p:nvCxnSpPr>
        <p:spPr>
          <a:xfrm>
            <a:off x="914400" y="1389888"/>
            <a:ext cx="10362895"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nvGraphicFramePr>
        <p:xfrm>
          <a:off x="914400" y="1627632"/>
          <a:ext cx="10058400" cy="2194560"/>
        </p:xfrm>
        <a:graphic>
          <a:graphicData uri="http://schemas.openxmlformats.org/drawingml/2006/table">
            <a:tbl>
              <a:tblPr>
                <a:tableStyleId>{5C22544A-7EE6-4342-B048-85BDC9FD1C3A}</a:tableStyleId>
              </a:tblPr>
              <a:tblGrid>
                <a:gridCol w="4572000"/>
                <a:gridCol w="3291840"/>
                <a:gridCol w="2194560"/>
              </a:tblGrid>
              <a:tr h="365760">
                <a:tc>
                  <a:txBody>
                    <a:bodyPr wrap="square"/>
                    <a:lstStyle/>
                    <a:p>
                      <a:r>
                        <a:rPr sz="1400" b="1" i="1">
                          <a:solidFill>
                            <a:srgbClr val="000000"/>
                          </a:solidFill>
                          <a:latin typeface="Times New Roman"/>
                        </a:rPr>
                        <a:t>Step</a:t>
                      </a:r>
                    </a:p>
                  </a:txBody>
                  <a:tcPr marL="0" marR="146304" marT="36576" marB="36576" anchor="ctr">
                    <a:noFill/>
                  </a:tcPr>
                </a:tc>
                <a:tc>
                  <a:txBody>
                    <a:bodyPr wrap="square"/>
                    <a:lstStyle/>
                    <a:p>
                      <a:r>
                        <a:rPr sz="1400" b="1" i="1">
                          <a:solidFill>
                            <a:srgbClr val="000000"/>
                          </a:solidFill>
                          <a:latin typeface="Times New Roman"/>
                        </a:rPr>
                        <a:t>Needs</a:t>
                      </a:r>
                    </a:p>
                  </a:txBody>
                  <a:tcPr marL="0" marR="146304" marT="36576" marB="36576" anchor="ctr">
                    <a:noFill/>
                  </a:tcPr>
                </a:tc>
                <a:tc>
                  <a:txBody>
                    <a:bodyPr wrap="square"/>
                    <a:lstStyle/>
                    <a:p>
                      <a:r>
                        <a:rPr sz="1400" b="1" i="1">
                          <a:solidFill>
                            <a:srgbClr val="000000"/>
                          </a:solidFill>
                          <a:latin typeface="Times New Roman"/>
                        </a:rPr>
                        <a:t>Estimated cost</a:t>
                      </a:r>
                    </a:p>
                  </a:txBody>
                  <a:tcPr marL="0" marR="146304" marT="36576" marB="36576" anchor="ctr">
                    <a:noFill/>
                  </a:tcPr>
                </a:tc>
              </a:tr>
              <a:tr h="365760">
                <a:tc>
                  <a:txBody>
                    <a:bodyPr wrap="square"/>
                    <a:lstStyle/>
                    <a:p>
                      <a:r>
                        <a:rPr sz="1400" b="0" i="0">
                          <a:solidFill>
                            <a:srgbClr val="000000"/>
                          </a:solidFill>
                          <a:latin typeface="Times New Roman"/>
                        </a:rPr>
                        <a:t>1. Finish the real-model check</a:t>
                      </a:r>
                    </a:p>
                  </a:txBody>
                  <a:tcPr marL="0" marR="146304" marT="36576" marB="36576" anchor="ctr">
                    <a:noFill/>
                  </a:tcPr>
                </a:tc>
                <a:tc>
                  <a:txBody>
                    <a:bodyPr wrap="square"/>
                    <a:lstStyle/>
                    <a:p>
                      <a:r>
                        <a:rPr sz="1400" b="0" i="0">
                          <a:solidFill>
                            <a:srgbClr val="000000"/>
                          </a:solidFill>
                          <a:latin typeface="Times New Roman"/>
                        </a:rPr>
                        <a:t>rented 24 GB GPU</a:t>
                      </a:r>
                    </a:p>
                  </a:txBody>
                  <a:tcPr marL="0" marR="146304" marT="36576" marB="36576" anchor="ctr">
                    <a:noFill/>
                  </a:tcPr>
                </a:tc>
                <a:tc>
                  <a:txBody>
                    <a:bodyPr wrap="square"/>
                    <a:lstStyle/>
                    <a:p>
                      <a:r>
                        <a:rPr sz="1400" b="0" i="0">
                          <a:solidFill>
                            <a:srgbClr val="000000"/>
                          </a:solidFill>
                          <a:latin typeface="Times New Roman"/>
                        </a:rPr>
                        <a:t>about 1 hour, ≈ ₹50</a:t>
                      </a:r>
                    </a:p>
                  </a:txBody>
                  <a:tcPr marL="0" marR="146304" marT="36576" marB="36576" anchor="ctr">
                    <a:noFill/>
                  </a:tcPr>
                </a:tc>
              </a:tr>
              <a:tr h="365760">
                <a:tc>
                  <a:txBody>
                    <a:bodyPr wrap="square"/>
                    <a:lstStyle/>
                    <a:p>
                      <a:r>
                        <a:rPr sz="1400" b="0" i="0">
                          <a:solidFill>
                            <a:srgbClr val="000000"/>
                          </a:solidFill>
                          <a:latin typeface="Times New Roman"/>
                        </a:rPr>
                        <a:t>2. Dry run of the full test</a:t>
                      </a:r>
                    </a:p>
                  </a:txBody>
                  <a:tcPr marL="0" marR="146304" marT="36576" marB="36576" anchor="ctr">
                    <a:noFill/>
                  </a:tcPr>
                </a:tc>
                <a:tc>
                  <a:txBody>
                    <a:bodyPr wrap="square"/>
                    <a:lstStyle/>
                    <a:p>
                      <a:r>
                        <a:rPr sz="1400" b="0" i="0">
                          <a:solidFill>
                            <a:srgbClr val="000000"/>
                          </a:solidFill>
                          <a:latin typeface="Times New Roman"/>
                        </a:rPr>
                        <a:t>same session</a:t>
                      </a:r>
                    </a:p>
                  </a:txBody>
                  <a:tcPr marL="0" marR="146304" marT="36576" marB="36576" anchor="ctr">
                    <a:noFill/>
                  </a:tcPr>
                </a:tc>
                <a:tc>
                  <a:txBody>
                    <a:bodyPr wrap="square"/>
                    <a:lstStyle/>
                    <a:p>
                      <a:r>
                        <a:rPr sz="1400" b="0" i="0">
                          <a:solidFill>
                            <a:srgbClr val="000000"/>
                          </a:solidFill>
                          <a:latin typeface="Times New Roman"/>
                        </a:rPr>
                        <a:t>about 30 minutes, ≈ ₹25</a:t>
                      </a:r>
                    </a:p>
                  </a:txBody>
                  <a:tcPr marL="0" marR="146304" marT="36576" marB="36576" anchor="ctr">
                    <a:noFill/>
                  </a:tcPr>
                </a:tc>
              </a:tr>
              <a:tr h="365760">
                <a:tc>
                  <a:txBody>
                    <a:bodyPr wrap="square"/>
                    <a:lstStyle/>
                    <a:p>
                      <a:r>
                        <a:rPr sz="1400" b="0" i="0">
                          <a:solidFill>
                            <a:srgbClr val="000000"/>
                          </a:solidFill>
                          <a:latin typeface="Times New Roman"/>
                        </a:rPr>
                        <a:t>3. Rehearsal on a small trained model</a:t>
                      </a:r>
                    </a:p>
                  </a:txBody>
                  <a:tcPr marL="0" marR="146304" marT="36576" marB="36576" anchor="ctr">
                    <a:noFill/>
                  </a:tcPr>
                </a:tc>
                <a:tc>
                  <a:txBody>
                    <a:bodyPr wrap="square"/>
                    <a:lstStyle/>
                    <a:p>
                      <a:r>
                        <a:rPr sz="1400" b="0" i="0">
                          <a:solidFill>
                            <a:srgbClr val="000000"/>
                          </a:solidFill>
                          <a:latin typeface="Times New Roman"/>
                        </a:rPr>
                        <a:t>model file already downloaded</a:t>
                      </a:r>
                    </a:p>
                  </a:txBody>
                  <a:tcPr marL="0" marR="146304" marT="36576" marB="36576" anchor="ctr">
                    <a:noFill/>
                  </a:tcPr>
                </a:tc>
                <a:tc>
                  <a:txBody>
                    <a:bodyPr wrap="square"/>
                    <a:lstStyle/>
                    <a:p>
                      <a:r>
                        <a:rPr sz="1400" b="0" i="0">
                          <a:solidFill>
                            <a:srgbClr val="000000"/>
                          </a:solidFill>
                          <a:latin typeface="Times New Roman"/>
                        </a:rPr>
                        <a:t>about 30 minutes</a:t>
                      </a:r>
                    </a:p>
                  </a:txBody>
                  <a:tcPr marL="0" marR="146304" marT="36576" marB="36576" anchor="ctr">
                    <a:noFill/>
                  </a:tcPr>
                </a:tc>
              </a:tr>
              <a:tr h="365760">
                <a:tc>
                  <a:txBody>
                    <a:bodyPr wrap="square"/>
                    <a:lstStyle/>
                    <a:p>
                      <a:r>
                        <a:rPr sz="1400" b="0" i="0">
                          <a:solidFill>
                            <a:srgbClr val="000000"/>
                          </a:solidFill>
                          <a:latin typeface="Times New Roman"/>
                        </a:rPr>
                        <a:t>4. Confirm the full-size model is set up correctly</a:t>
                      </a:r>
                    </a:p>
                  </a:txBody>
                  <a:tcPr marL="0" marR="146304" marT="36576" marB="36576" anchor="ctr">
                    <a:noFill/>
                  </a:tcPr>
                </a:tc>
                <a:tc>
                  <a:txBody>
                    <a:bodyPr wrap="square"/>
                    <a:lstStyle/>
                    <a:p>
                      <a:r>
                        <a:rPr sz="1400" b="0" i="0">
                          <a:solidFill>
                            <a:srgbClr val="000000"/>
                          </a:solidFill>
                          <a:latin typeface="Times New Roman"/>
                        </a:rPr>
                        <a:t>rented 80 GB GPU</a:t>
                      </a:r>
                    </a:p>
                  </a:txBody>
                  <a:tcPr marL="0" marR="146304" marT="36576" marB="36576" anchor="ctr">
                    <a:noFill/>
                  </a:tcPr>
                </a:tc>
                <a:tc>
                  <a:txBody>
                    <a:bodyPr wrap="square"/>
                    <a:lstStyle/>
                    <a:p>
                      <a:r>
                        <a:rPr sz="1400" b="0" i="0">
                          <a:solidFill>
                            <a:srgbClr val="000000"/>
                          </a:solidFill>
                          <a:latin typeface="Times New Roman"/>
                        </a:rPr>
                        <a:t>about 4 hours, ≈ ₹740</a:t>
                      </a:r>
                    </a:p>
                  </a:txBody>
                  <a:tcPr marL="0" marR="146304" marT="36576" marB="36576" anchor="ctr">
                    <a:noFill/>
                  </a:tcPr>
                </a:tc>
              </a:tr>
              <a:tr h="365760">
                <a:tc>
                  <a:txBody>
                    <a:bodyPr wrap="square"/>
                    <a:lstStyle/>
                    <a:p>
                      <a:r>
                        <a:rPr sz="1400" b="0" i="0">
                          <a:solidFill>
                            <a:srgbClr val="000000"/>
                          </a:solidFill>
                          <a:latin typeface="Times New Roman"/>
                        </a:rPr>
                        <a:t>5. The decisive test</a:t>
                      </a:r>
                    </a:p>
                  </a:txBody>
                  <a:tcPr marL="0" marR="146304" marT="36576" marB="36576" anchor="ctr">
                    <a:noFill/>
                  </a:tcPr>
                </a:tc>
                <a:tc>
                  <a:txBody>
                    <a:bodyPr wrap="square"/>
                    <a:lstStyle/>
                    <a:p>
                      <a:r>
                        <a:rPr sz="1400" b="0" i="0">
                          <a:solidFill>
                            <a:srgbClr val="000000"/>
                          </a:solidFill>
                          <a:latin typeface="Times New Roman"/>
                        </a:rPr>
                        <a:t>all of the above</a:t>
                      </a:r>
                    </a:p>
                  </a:txBody>
                  <a:tcPr marL="0" marR="146304" marT="36576" marB="36576" anchor="ctr">
                    <a:noFill/>
                  </a:tcPr>
                </a:tc>
                <a:tc>
                  <a:txBody>
                    <a:bodyPr wrap="square"/>
                    <a:lstStyle/>
                    <a:p>
                      <a:r>
                        <a:rPr sz="1400" b="0" i="0">
                          <a:solidFill>
                            <a:srgbClr val="000000"/>
                          </a:solidFill>
                          <a:latin typeface="Times New Roman"/>
                        </a:rPr>
                        <a:t>separate session</a:t>
                      </a:r>
                    </a:p>
                  </a:txBody>
                  <a:tcPr marL="0" marR="146304" marT="36576" marB="36576" anchor="ctr">
                    <a:noFill/>
                  </a:tcPr>
                </a:tc>
              </a:tr>
            </a:tbl>
          </a:graphicData>
        </a:graphic>
      </p:graphicFrame>
      <p:sp>
        <p:nvSpPr>
          <p:cNvPr id="5" name="TextBox 4"/>
          <p:cNvSpPr txBox="1"/>
          <p:nvPr/>
        </p:nvSpPr>
        <p:spPr>
          <a:xfrm>
            <a:off x="914400" y="4041648"/>
            <a:ext cx="10058400" cy="495299"/>
          </a:xfrm>
          <a:prstGeom prst="rect">
            <a:avLst/>
          </a:prstGeom>
          <a:noFill/>
        </p:spPr>
        <p:txBody>
          <a:bodyPr wrap="square" anchor="t" lIns="0" rIns="0" tIns="0" bIns="0">
            <a:spAutoFit/>
          </a:bodyPr>
          <a:lstStyle/>
          <a:p>
            <a:pPr>
              <a:lnSpc>
                <a:spcPct val="130000"/>
              </a:lnSpc>
              <a:spcAft>
                <a:spcPts val="0"/>
              </a:spcAft>
            </a:pPr>
            <a:r>
              <a:rPr sz="1250" b="0" i="1">
                <a:solidFill>
                  <a:srgbClr val="000000"/>
                </a:solidFill>
                <a:latin typeface="Times New Roman"/>
              </a:rPr>
              <a:t>Steps 1 to 4 make sure the final answer can be trusted, and step 5 gives it. Either outcome, attack confirmed or not, is worth publishing. Step 5 will be read against the 15% false-alarm rate found earlier.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566928"/>
            <a:ext cx="10362895" cy="822960"/>
          </a:xfrm>
          <a:prstGeom prst="rect">
            <a:avLst/>
          </a:prstGeom>
          <a:noFill/>
        </p:spPr>
        <p:txBody>
          <a:bodyPr wrap="square" anchor="t" lIns="0" rIns="0" tIns="0" bIns="0">
            <a:spAutoFit/>
          </a:bodyPr>
          <a:lstStyle/>
          <a:p>
            <a:pPr>
              <a:lnSpc>
                <a:spcPct val="104000"/>
              </a:lnSpc>
              <a:spcAft>
                <a:spcPts val="0"/>
              </a:spcAft>
            </a:pPr>
            <a:r>
              <a:rPr sz="2800" b="1" i="0">
                <a:solidFill>
                  <a:srgbClr val="000000"/>
                </a:solidFill>
                <a:latin typeface="Times New Roman"/>
              </a:rPr>
              <a:t>Glossary</a:t>
            </a:r>
          </a:p>
        </p:txBody>
      </p:sp>
      <p:cxnSp>
        <p:nvCxnSpPr>
          <p:cNvPr id="3" name="Connector 2"/>
          <p:cNvCxnSpPr/>
          <p:nvPr/>
        </p:nvCxnSpPr>
        <p:spPr>
          <a:xfrm>
            <a:off x="914400" y="1389888"/>
            <a:ext cx="10362895"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nvGraphicFramePr>
        <p:xfrm>
          <a:off x="914400" y="1627632"/>
          <a:ext cx="10058400" cy="3657600"/>
        </p:xfrm>
        <a:graphic>
          <a:graphicData uri="http://schemas.openxmlformats.org/drawingml/2006/table">
            <a:tbl>
              <a:tblPr>
                <a:tableStyleId>{5C22544A-7EE6-4342-B048-85BDC9FD1C3A}</a:tableStyleId>
              </a:tblPr>
              <a:tblGrid>
                <a:gridCol w="2011680"/>
                <a:gridCol w="8046720"/>
              </a:tblGrid>
              <a:tr h="365760">
                <a:tc>
                  <a:txBody>
                    <a:bodyPr wrap="square"/>
                    <a:lstStyle/>
                    <a:p>
                      <a:r>
                        <a:rPr sz="1300" b="1" i="1">
                          <a:solidFill>
                            <a:srgbClr val="000000"/>
                          </a:solidFill>
                          <a:latin typeface="Times New Roman"/>
                        </a:rPr>
                        <a:t>Term</a:t>
                      </a:r>
                    </a:p>
                  </a:txBody>
                  <a:tcPr marL="0" marR="146304" marT="36576" marB="36576" anchor="ctr">
                    <a:noFill/>
                  </a:tcPr>
                </a:tc>
                <a:tc>
                  <a:txBody>
                    <a:bodyPr wrap="square"/>
                    <a:lstStyle/>
                    <a:p>
                      <a:r>
                        <a:rPr sz="1300" b="1" i="1">
                          <a:solidFill>
                            <a:srgbClr val="000000"/>
                          </a:solidFill>
                          <a:latin typeface="Times New Roman"/>
                        </a:rPr>
                        <a:t>Meaning</a:t>
                      </a:r>
                    </a:p>
                  </a:txBody>
                  <a:tcPr marL="0" marR="146304" marT="36576" marB="36576" anchor="ctr">
                    <a:noFill/>
                  </a:tcPr>
                </a:tc>
              </a:tr>
              <a:tr h="365760">
                <a:tc>
                  <a:txBody>
                    <a:bodyPr wrap="square"/>
                    <a:lstStyle/>
                    <a:p>
                      <a:r>
                        <a:rPr sz="1300" b="0" i="0">
                          <a:solidFill>
                            <a:srgbClr val="000000"/>
                          </a:solidFill>
                          <a:latin typeface="Times New Roman"/>
                        </a:rPr>
                        <a:t>TTT-E2E</a:t>
                      </a:r>
                    </a:p>
                  </a:txBody>
                  <a:tcPr marL="0" marR="146304" marT="36576" marB="36576" anchor="ctr">
                    <a:noFill/>
                  </a:tcPr>
                </a:tc>
                <a:tc>
                  <a:txBody>
                    <a:bodyPr wrap="square"/>
                    <a:lstStyle/>
                    <a:p>
                      <a:r>
                        <a:rPr sz="1300" b="0" i="0">
                          <a:solidFill>
                            <a:srgbClr val="000000"/>
                          </a:solidFill>
                          <a:latin typeface="Times New Roman"/>
                        </a:rPr>
                        <a:t>A recent language model design that keeps learning from its input while running, to handle very long texts.</a:t>
                      </a:r>
                    </a:p>
                  </a:txBody>
                  <a:tcPr marL="0" marR="146304" marT="36576" marB="36576" anchor="ctr">
                    <a:noFill/>
                  </a:tcPr>
                </a:tc>
              </a:tr>
              <a:tr h="365760">
                <a:tc>
                  <a:txBody>
                    <a:bodyPr wrap="square"/>
                    <a:lstStyle/>
                    <a:p>
                      <a:r>
                        <a:rPr sz="1300" b="0" i="0">
                          <a:solidFill>
                            <a:srgbClr val="000000"/>
                          </a:solidFill>
                          <a:latin typeface="Times New Roman"/>
                        </a:rPr>
                        <a:t>Fast weights</a:t>
                      </a:r>
                    </a:p>
                  </a:txBody>
                  <a:tcPr marL="0" marR="146304" marT="36576" marB="36576" anchor="ctr">
                    <a:noFill/>
                  </a:tcPr>
                </a:tc>
                <a:tc>
                  <a:txBody>
                    <a:bodyPr wrap="square"/>
                    <a:lstStyle/>
                    <a:p>
                      <a:r>
                        <a:rPr sz="1300" b="0" i="0">
                          <a:solidFill>
                            <a:srgbClr val="000000"/>
                          </a:solidFill>
                          <a:latin typeface="Times New Roman"/>
                        </a:rPr>
                        <a:t>The part of such a model that changes while it reads. The target of the attack.</a:t>
                      </a:r>
                    </a:p>
                  </a:txBody>
                  <a:tcPr marL="0" marR="146304" marT="36576" marB="36576" anchor="ctr">
                    <a:noFill/>
                  </a:tcPr>
                </a:tc>
              </a:tr>
              <a:tr h="365760">
                <a:tc>
                  <a:txBody>
                    <a:bodyPr wrap="square"/>
                    <a:lstStyle/>
                    <a:p>
                      <a:r>
                        <a:rPr sz="1300" b="0" i="0">
                          <a:solidFill>
                            <a:srgbClr val="000000"/>
                          </a:solidFill>
                          <a:latin typeface="Times New Roman"/>
                        </a:rPr>
                        <a:t>Trust gate</a:t>
                      </a:r>
                    </a:p>
                  </a:txBody>
                  <a:tcPr marL="0" marR="146304" marT="36576" marB="36576" anchor="ctr">
                    <a:noFill/>
                  </a:tcPr>
                </a:tc>
                <a:tc>
                  <a:txBody>
                    <a:bodyPr wrap="square"/>
                    <a:lstStyle/>
                    <a:p>
                      <a:r>
                        <a:rPr sz="1300" b="0" i="0">
                          <a:solidFill>
                            <a:srgbClr val="000000"/>
                          </a:solidFill>
                          <a:latin typeface="Times New Roman"/>
                        </a:rPr>
                        <a:t>The proposed defence: a check on every change to the fast weights, with a cap on total change.</a:t>
                      </a:r>
                    </a:p>
                  </a:txBody>
                  <a:tcPr marL="0" marR="146304" marT="36576" marB="36576" anchor="ctr">
                    <a:noFill/>
                  </a:tcPr>
                </a:tc>
              </a:tr>
              <a:tr h="365760">
                <a:tc>
                  <a:txBody>
                    <a:bodyPr wrap="square"/>
                    <a:lstStyle/>
                    <a:p>
                      <a:r>
                        <a:rPr sz="1300" b="0" i="0">
                          <a:solidFill>
                            <a:srgbClr val="000000"/>
                          </a:solidFill>
                          <a:latin typeface="Times New Roman"/>
                        </a:rPr>
                        <a:t>Kill gate</a:t>
                      </a:r>
                    </a:p>
                  </a:txBody>
                  <a:tcPr marL="0" marR="146304" marT="36576" marB="36576" anchor="ctr">
                    <a:noFill/>
                  </a:tcPr>
                </a:tc>
                <a:tc>
                  <a:txBody>
                    <a:bodyPr wrap="square"/>
                    <a:lstStyle/>
                    <a:p>
                      <a:r>
                        <a:rPr sz="1300" b="0" i="0">
                          <a:solidFill>
                            <a:srgbClr val="000000"/>
                          </a:solidFill>
                          <a:latin typeface="Times New Roman"/>
                        </a:rPr>
                        <a:t>The one-time decision on whether the attack is real enough to justify building the defence.</a:t>
                      </a:r>
                    </a:p>
                  </a:txBody>
                  <a:tcPr marL="0" marR="146304" marT="36576" marB="36576" anchor="ctr">
                    <a:noFill/>
                  </a:tcPr>
                </a:tc>
              </a:tr>
              <a:tr h="365760">
                <a:tc>
                  <a:txBody>
                    <a:bodyPr wrap="square"/>
                    <a:lstStyle/>
                    <a:p>
                      <a:r>
                        <a:rPr sz="1300" b="0" i="0">
                          <a:solidFill>
                            <a:srgbClr val="000000"/>
                          </a:solidFill>
                          <a:latin typeface="Times New Roman"/>
                        </a:rPr>
                        <a:t>Pre-registration</a:t>
                      </a:r>
                    </a:p>
                  </a:txBody>
                  <a:tcPr marL="0" marR="146304" marT="36576" marB="36576" anchor="ctr">
                    <a:noFill/>
                  </a:tcPr>
                </a:tc>
                <a:tc>
                  <a:txBody>
                    <a:bodyPr wrap="square"/>
                    <a:lstStyle/>
                    <a:p>
                      <a:r>
                        <a:rPr sz="1300" b="0" i="0">
                          <a:solidFill>
                            <a:srgbClr val="000000"/>
                          </a:solidFill>
                          <a:latin typeface="Times New Roman"/>
                        </a:rPr>
                        <a:t>Writing down the success criteria before an experiment, so they cannot be bent to fit the results.</a:t>
                      </a:r>
                    </a:p>
                  </a:txBody>
                  <a:tcPr marL="0" marR="146304" marT="36576" marB="36576" anchor="ctr">
                    <a:noFill/>
                  </a:tcPr>
                </a:tc>
              </a:tr>
              <a:tr h="365760">
                <a:tc>
                  <a:txBody>
                    <a:bodyPr wrap="square"/>
                    <a:lstStyle/>
                    <a:p>
                      <a:r>
                        <a:rPr sz="1300" b="0" i="0">
                          <a:solidFill>
                            <a:srgbClr val="000000"/>
                          </a:solidFill>
                          <a:latin typeface="Times New Roman"/>
                        </a:rPr>
                        <a:t>Cohen's d</a:t>
                      </a:r>
                    </a:p>
                  </a:txBody>
                  <a:tcPr marL="0" marR="146304" marT="36576" marB="36576" anchor="ctr">
                    <a:noFill/>
                  </a:tcPr>
                </a:tc>
                <a:tc>
                  <a:txBody>
                    <a:bodyPr wrap="square"/>
                    <a:lstStyle/>
                    <a:p>
                      <a:r>
                        <a:rPr sz="1300" b="0" i="0">
                          <a:solidFill>
                            <a:srgbClr val="000000"/>
                          </a:solidFill>
                          <a:latin typeface="Times New Roman"/>
                        </a:rPr>
                        <a:t>A standard measure of how far apart two sets of results are, relative to their natural spread. 0.8 counts as large.</a:t>
                      </a:r>
                    </a:p>
                  </a:txBody>
                  <a:tcPr marL="0" marR="146304" marT="36576" marB="36576" anchor="ctr">
                    <a:noFill/>
                  </a:tcPr>
                </a:tc>
              </a:tr>
              <a:tr h="365760">
                <a:tc>
                  <a:txBody>
                    <a:bodyPr wrap="square"/>
                    <a:lstStyle/>
                    <a:p>
                      <a:r>
                        <a:rPr sz="1300" b="0" i="0">
                          <a:solidFill>
                            <a:srgbClr val="000000"/>
                          </a:solidFill>
                          <a:latin typeface="Times New Roman"/>
                        </a:rPr>
                        <a:t>Null test</a:t>
                      </a:r>
                    </a:p>
                  </a:txBody>
                  <a:tcPr marL="0" marR="146304" marT="36576" marB="36576" anchor="ctr">
                    <a:noFill/>
                  </a:tcPr>
                </a:tc>
                <a:tc>
                  <a:txBody>
                    <a:bodyPr wrap="square"/>
                    <a:lstStyle/>
                    <a:p>
                      <a:r>
                        <a:rPr sz="1300" b="0" i="0">
                          <a:solidFill>
                            <a:srgbClr val="000000"/>
                          </a:solidFill>
                          <a:latin typeface="Times New Roman"/>
                        </a:rPr>
                        <a:t>Running a measurement with nothing to find, to learn how often it raises a false alarm.</a:t>
                      </a:r>
                    </a:p>
                  </a:txBody>
                  <a:tcPr marL="0" marR="146304" marT="36576" marB="36576" anchor="ctr">
                    <a:noFill/>
                  </a:tcPr>
                </a:tc>
              </a:tr>
              <a:tr h="365760">
                <a:tc>
                  <a:txBody>
                    <a:bodyPr wrap="square"/>
                    <a:lstStyle/>
                    <a:p>
                      <a:r>
                        <a:rPr sz="1300" b="0" i="0">
                          <a:solidFill>
                            <a:srgbClr val="000000"/>
                          </a:solidFill>
                          <a:latin typeface="Times New Roman"/>
                        </a:rPr>
                        <a:t>Token</a:t>
                      </a:r>
                    </a:p>
                  </a:txBody>
                  <a:tcPr marL="0" marR="146304" marT="36576" marB="36576" anchor="ctr">
                    <a:noFill/>
                  </a:tcPr>
                </a:tc>
                <a:tc>
                  <a:txBody>
                    <a:bodyPr wrap="square"/>
                    <a:lstStyle/>
                    <a:p>
                      <a:r>
                        <a:rPr sz="1300" b="0" i="0">
                          <a:solidFill>
                            <a:srgbClr val="000000"/>
                          </a:solidFill>
                          <a:latin typeface="Times New Roman"/>
                        </a:rPr>
                        <a:t>A word or part of a word, the unit a language model reads.</a:t>
                      </a:r>
                    </a:p>
                  </a:txBody>
                  <a:tcPr marL="0" marR="146304" marT="36576" marB="36576" anchor="ctr">
                    <a:noFill/>
                  </a:tcPr>
                </a:tc>
              </a:tr>
              <a:tr h="365760">
                <a:tc>
                  <a:txBody>
                    <a:bodyPr wrap="square"/>
                    <a:lstStyle/>
                    <a:p>
                      <a:r>
                        <a:rPr sz="1300" b="0" i="0">
                          <a:solidFill>
                            <a:srgbClr val="000000"/>
                          </a:solidFill>
                          <a:latin typeface="Times New Roman"/>
                        </a:rPr>
                        <a:t>Nats</a:t>
                      </a:r>
                    </a:p>
                  </a:txBody>
                  <a:tcPr marL="0" marR="146304" marT="36576" marB="36576" anchor="ctr">
                    <a:noFill/>
                  </a:tcPr>
                </a:tc>
                <a:tc>
                  <a:txBody>
                    <a:bodyPr wrap="square"/>
                    <a:lstStyle/>
                    <a:p>
                      <a:r>
                        <a:rPr sz="1300" b="0" i="0">
                          <a:solidFill>
                            <a:srgbClr val="000000"/>
                          </a:solidFill>
                          <a:latin typeface="Times New Roman"/>
                        </a:rPr>
                        <a:t>A unit of prediction error. Lower means the model is better at guessing the next token.</a:t>
                      </a:r>
                    </a:p>
                  </a:txBody>
                  <a:tcPr marL="0" marR="146304" marT="36576" marB="36576" anchor="ctr">
                    <a:noFill/>
                  </a:tcPr>
                </a:tc>
              </a:tr>
            </a:tbl>
          </a:graphicData>
        </a:graphic>
      </p:graphicFrame>
      <p:sp>
        <p:nvSpPr>
          <p:cNvPr id="5" name="TextBox 4"/>
          <p:cNvSpPr txBox="1"/>
          <p:nvPr/>
        </p:nvSpPr>
        <p:spPr>
          <a:xfrm>
            <a:off x="914400" y="5504688"/>
            <a:ext cx="10058400" cy="247649"/>
          </a:xfrm>
          <a:prstGeom prst="rect">
            <a:avLst/>
          </a:prstGeom>
          <a:noFill/>
        </p:spPr>
        <p:txBody>
          <a:bodyPr wrap="square" anchor="t" lIns="0" rIns="0" tIns="0" bIns="0">
            <a:spAutoFit/>
          </a:bodyPr>
          <a:lstStyle/>
          <a:p>
            <a:pPr>
              <a:lnSpc>
                <a:spcPct val="130000"/>
              </a:lnSpc>
              <a:spcAft>
                <a:spcPts val="0"/>
              </a:spcAft>
            </a:pPr>
            <a:r>
              <a:rPr sz="1250" b="0" i="1">
                <a:solidFill>
                  <a:srgbClr val="000000"/>
                </a:solidFill>
                <a:latin typeface="Times New Roman"/>
              </a:rPr>
              <a:t>Deck prepared 2026-09-16. Total spend to date: $0.13.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