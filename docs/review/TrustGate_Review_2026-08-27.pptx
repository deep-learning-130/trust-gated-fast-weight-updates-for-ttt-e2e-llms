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94560"/>
            <a:ext cx="108200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A1D23"/>
                </a:solidFill>
                <a:latin typeface="Segoe UI"/>
              </a:rPr>
              <a:t>Trust-Gated Fast-Weight Updates for TTT-E2E LLMs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3520440"/>
            <a:ext cx="10820095" cy="38100"/>
          </a:xfrm>
          <a:prstGeom prst="rect">
            <a:avLst/>
          </a:prstGeom>
          <a:solidFill>
            <a:srgbClr val="1B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703320"/>
            <a:ext cx="10820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5B6370"/>
                </a:solidFill>
                <a:latin typeface="Segoe UI"/>
              </a:rPr>
              <a:t>Project review  ·  motivation, work completed, and 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52160"/>
            <a:ext cx="10820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370"/>
                </a:solidFill>
                <a:latin typeface="Segoe UI"/>
              </a:rPr>
              <a:t>2026-08-27  ·  no measurement taken yet  ·  total spend $0 of a $325 cap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D23"/>
                </a:solidFill>
                <a:latin typeface="Segoe UI"/>
              </a:rPr>
              <a:t>What this review covers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78992"/>
            <a:ext cx="10820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0"/>
                </a:solidFill>
                <a:latin typeface="Segoe UI"/>
              </a:rPr>
              <a:t>Three questions, in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0820095" cy="19050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1.  Why the work exists — what TTT-E2E changes about the threat model</a:t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2.  What we built, and what we found while building it</a:t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3.  What is blocked, and on what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5B6370"/>
                </a:solidFill>
                <a:latin typeface="Segoe UI"/>
              </a:rPr>
              <a:t>The honest headline: the experiment is now runnable and its instrument is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5B6370"/>
                </a:solidFill>
                <a:latin typeface="Segoe UI"/>
              </a:rPr>
              <a:t>validated, but no number has been produced and no verdict has been reached.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263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37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468880"/>
            <a:ext cx="10820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E8C"/>
                </a:solidFill>
                <a:latin typeface="Segoe UI"/>
              </a:rPr>
              <a:t>SECTION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92608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D23"/>
                </a:solidFill>
                <a:latin typeface="Segoe UI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977639"/>
            <a:ext cx="10820095" cy="38100"/>
          </a:xfrm>
          <a:prstGeom prst="rect">
            <a:avLst/>
          </a:prstGeom>
          <a:solidFill>
            <a:srgbClr val="1B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2062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B6370"/>
                </a:solidFill>
                <a:latin typeface="Segoe UI"/>
              </a:rPr>
              <a:t>A model that learns while it serves can be poisoned while it serves.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D23"/>
                </a:solidFill>
                <a:latin typeface="Segoe UI"/>
              </a:rPr>
              <a:t>The architecture we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78992"/>
            <a:ext cx="10820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0"/>
                </a:solidFill>
                <a:latin typeface="Segoe UI"/>
              </a:rPr>
              <a:t>TTT-E2E — End-to-End Test-Time Training for Long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0820095" cy="19050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TTT-E2E compresses long context by updating 'fast weights' at inference time.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An inner SGD loop runs inside the forward pass, once per mini-batch chunk.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The adapted weights are a function of whatever text the model just read.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That is the whole benefit — and the whole exposure.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Conventional LLM inference is stateless: a bad prompt harms one response.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Here, the context stream mutates model weights. Harm can persist.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263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37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D23"/>
                </a:solidFill>
                <a:latin typeface="Segoe UI"/>
              </a:rPr>
              <a:t>The attack surface this creates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78992"/>
            <a:ext cx="10820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0"/>
                </a:solidFill>
                <a:latin typeface="Segoe UI"/>
              </a:rPr>
              <a:t>Dossier §1 — the threat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0820095" cy="19050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The adversary never touches the base weights, the training set, or the host.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They only supply context — the thing the system is designed to accept.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Two distinct harms, kept separately switchable: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1A1D23"/>
                </a:solidFill>
                <a:latin typeface="Segoe UI"/>
              </a:rPr>
              <a:t>— DEGRADE — steer fast weights so later benign inputs are handled worse.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1A1D23"/>
                </a:solidFill>
                <a:latin typeface="Segoe UI"/>
              </a:rPr>
              <a:t>— TRIGGER — implant a latent association while benign quality stays flat.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A63D1F"/>
                </a:solidFill>
                <a:latin typeface="Segoe UI"/>
              </a:rPr>
              <a:t>TRIGGER is the more alarming: it is silent under any monitor that watches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A63D1F"/>
                </a:solidFill>
                <a:latin typeface="Segoe UI"/>
              </a:rPr>
              <a:t>only aggregate quality.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263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37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D23"/>
                </a:solidFill>
                <a:latin typeface="Segoe UI"/>
              </a:rPr>
              <a:t>Why this problem, and not another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78992"/>
            <a:ext cx="10820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0"/>
                </a:solidFill>
                <a:latin typeface="Segoe UI"/>
              </a:rPr>
              <a:t>What the literature survey actually 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0820095" cy="19050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Test-time adaptation defenses exist — but they are vision and BatchNorm methods.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MedBN and its relatives defend batch-norm statistics, not fast-weight updates.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They cannot be run as-is; the principle has to be ported, not reused.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Nothing in the surveyed work gates fast-weight updates in an LLM under a</a:t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stated, testable bound.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5B6370"/>
                </a:solidFill>
                <a:latin typeface="Segoe UI"/>
              </a:rPr>
              <a:t>15 verified journal papers with resolved DOIs — docs/literature-survey.md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263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37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D23"/>
                </a:solidFill>
                <a:latin typeface="Segoe UI"/>
              </a:rPr>
              <a:t>Our proposal — the trust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78992"/>
            <a:ext cx="10820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0"/>
                </a:solidFill>
                <a:latin typeface="Segoe UI"/>
              </a:rPr>
              <a:t>Intercept every proposed update; admit it only if it survives a 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0820095" cy="19050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Interceptor — no fast-weight update commits without passing through it.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Frozen-anchor consistency check as the primary gate signal (ADR-F1).</a:t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Bounded cumulative-drift budget — the headline claimable property.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Over any window, committed weights cannot travel more than ε from the anchor.</a:t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Checkpoint and rollback — O(1) revert via a versioned ring buffer.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A63D1F"/>
                </a:solidFill>
                <a:latin typeface="Segoe UI"/>
              </a:rPr>
              <a:t>Stated honestly: the accumulator and store are built and unit-tested but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A63D1F"/>
                </a:solidFill>
                <a:latin typeface="Segoe UI"/>
              </a:rPr>
              <a:t>NOT yet wired into the interceptor. The bound is designed, not enforced (ADR-003).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263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37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468880"/>
            <a:ext cx="10820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E8C"/>
                </a:solidFill>
                <a:latin typeface="Segoe UI"/>
              </a:rPr>
              <a:t>SECTION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92608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D23"/>
                </a:solidFill>
                <a:latin typeface="Segoe UI"/>
              </a:rPr>
              <a:t>What we did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977639"/>
            <a:ext cx="10820095" cy="38100"/>
          </a:xfrm>
          <a:prstGeom prst="rect">
            <a:avLst/>
          </a:prstGeom>
          <a:solidFill>
            <a:srgbClr val="1B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2062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B6370"/>
                </a:solidFill>
                <a:latin typeface="Segoe UI"/>
              </a:rPr>
              <a:t>Build the experiment that can answer the question — and find the ways it could lie.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D23"/>
                </a:solidFill>
                <a:latin typeface="Segoe UI"/>
              </a:rPr>
              <a:t>The discipline first: a pre-registered kill-gate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78992"/>
            <a:ext cx="10820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0"/>
                </a:solidFill>
                <a:latin typeface="Segoe UI"/>
              </a:rPr>
              <a:t>Because the answer might be 'stop', and that has to be allowed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0820095" cy="19050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Before any attack code ran, we froze the go/no-go criterion in writing.</a:t>
            </a:r>
          </a:p>
          <a:p>
            <a:pPr lvl="1">
              <a:spcAft>
                <a:spcPts val="500"/>
              </a:spcAft>
            </a:pPr>
            <a:r>
              <a:rPr sz="1400" b="1" i="0">
                <a:solidFill>
                  <a:srgbClr val="1A1D23"/>
                </a:solidFill>
                <a:latin typeface="Segoe UI"/>
              </a:rPr>
              <a:t>— Effect size (Cohen's d) ≥ 0.8   ·   relative degradation ≥ 10%   ·   fluency ratio ≤ 1.5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All three required, not any. Missing one means STOP or a dated, reasoned revision.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Dossier §7: no demonstrated benign-looking attack means no defense worth building.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STOP is a complete outcome, not a failure. The paper reports it either way.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E6B4A"/>
                </a:solidFill>
                <a:latin typeface="Segoe UI"/>
              </a:rPr>
              <a:t>The thresholds now live in code with a CI test that parses the frozen document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E6B4A"/>
                </a:solidFill>
                <a:latin typeface="Segoe UI"/>
              </a:rPr>
              <a:t>and asserts equality — a bar cannot move without CI going 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263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37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D23"/>
                </a:solidFill>
                <a:latin typeface="Segoe UI"/>
              </a:rPr>
              <a:t>Phase 0.4 — de-risking the first GPU booking for $0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78992"/>
            <a:ext cx="10820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0"/>
                </a:solidFill>
                <a:latin typeface="Segoe UI"/>
              </a:rPr>
              <a:t>Seven desk deliverables, completed before any hardware existed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0820095" cy="19050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Exact eval command, pre-registered tolerance, cost model with a $325 cap,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idempotent cold-start bootstrap, GPU queue and booking ledger, review protocol.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Three findings that changed what someone would otherwise have done: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The paper reports NO number for our checkpoint — the bar became a two-sided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bracket plus structural checks, not 'match the published number' (ADR-005).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A /val-only dataset copy CRASHES the job after billing starts — it needed one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extra metadata file, found for free.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The 3B/128K run is ~10× the 1B, not ~2× — it forces a multi-GPU node.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263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37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D23"/>
                </a:solidFill>
                <a:latin typeface="Segoe UI"/>
              </a:rPr>
              <a:t>Phase 1 — the experiment, built and tested on CPU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78992"/>
            <a:ext cx="10820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0"/>
                </a:solidFill>
                <a:latin typeface="Segoe UI"/>
              </a:rPr>
              <a:t>197 tests passing · 3,909 lines of source · 2,255 lines of tests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0820095" cy="19050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Attack objectives optimise the victim's own reported metric, transcribed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from the vendor's cross-entropy so the attacker and the bar measure one thing.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Corpus and stream builders work in token-ID space — spans of real text, so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fluency is exact by construction and length matching is exact in model units.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Matching discipline: 13 fields that must agree between poison and control,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validated at construction rather than at comparison time.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Harness CLI, verdict report, and CI — none of which existed before.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5B6370"/>
                </a:solidFill>
                <a:latin typeface="Segoe UI"/>
              </a:rPr>
              <a:t>NotImplementedError sites: 15 → 10. Five of the ten are Phase 2 gate code,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5B6370"/>
                </a:solidFill>
                <a:latin typeface="Segoe UI"/>
              </a:rPr>
              <a:t>deliberately forbidden until the verdict lands.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263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37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D23"/>
                </a:solidFill>
                <a:latin typeface="Segoe UI"/>
              </a:rPr>
              <a:t>The findings that mattered most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78992"/>
            <a:ext cx="10820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0"/>
                </a:solidFill>
                <a:latin typeface="Segoe UI"/>
              </a:rPr>
              <a:t>Five ways the experiment could have produced a scientifically worthless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0820095" cy="19050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The vendor DISCARDS the adapted fast weights.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transformer.py:712 binds the scan carry and never reads it. A two-call harness —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adapt, then measure — resets the weights and measures noise. A guaranteed null,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indistinguishable from a real STOP. Since STOP ends the project, this would have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converted a paid GPU run into a project-ending artefact. Silently.</a:t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A second, independent route to the same false STOP: the inner-LR ramp.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Left unsaturated, the inner loop is near-frozen and nothing moves.</a:t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Two live defects in shipped code: per-seed values were never printed (a seed where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poison HELPED was invisible), and degenerate input rendered PROCEED on an infinite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effect size.</a:t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The vendor has no tokenizer at all — the task that depended on it had no referent.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263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37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D23"/>
                </a:solidFill>
                <a:latin typeface="Segoe UI"/>
              </a:rPr>
              <a:t>The fluency bar — and an honest negative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78992"/>
            <a:ext cx="10820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0"/>
                </a:solidFill>
                <a:latin typeface="Segoe UI"/>
              </a:rPr>
              <a:t>T3.2: the third gating criterion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0820095" cy="19050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An independent reference model scores whether a poison stream still looks benign.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Scoring with the victim would be circular: the attacker optimises against it.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The acceptance check the plan specified DOES NOT WORK.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The published perplexity is per word, and the denominator is unspecified: our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measurement gives 62.29 on one convention and 31.18 on another — and the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published 37.50 falls between them. The check cannot separate a bug from a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counting convention, so it is recorded as evidence and NOT used as a gate.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E6B4A"/>
                </a:solidFill>
                <a:latin typeface="Segoe UI"/>
              </a:rPr>
              <a:t>Replaced with a decisive check: logit-level equivalence against a reference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E6B4A"/>
                </a:solidFill>
                <a:latin typeface="Segoe UI"/>
              </a:rPr>
              <a:t>implementation — worst difference 5.8e-04, 100% argmax agreement.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263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37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D23"/>
                </a:solidFill>
                <a:latin typeface="Segoe UI"/>
              </a:rPr>
              <a:t>A limitation of one of our own bars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78992"/>
            <a:ext cx="10820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0"/>
                </a:solidFill>
                <a:latin typeface="Segoe UI"/>
              </a:rPr>
              <a:t>Measured, and recorded before any result exists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0820095" cy="19050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Perplexity punishes scrambling but REWARDS repetition.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1A1D23"/>
                </a:solidFill>
                <a:latin typeface="Segoe UI"/>
              </a:rPr>
              <a:t>— Fluent English scores 19.98.   A repeated pattern scores 1.90.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A63D1F"/>
                </a:solidFill>
                <a:latin typeface="Segoe UI"/>
              </a:rPr>
              <a:t>So the pre-registered fluency bar cannot catch a poison stream that reuses one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A63D1F"/>
                </a:solidFill>
                <a:latin typeface="Segoe UI"/>
              </a:rPr>
              <a:t>passage many times — something no human would call benign-looking.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E6B4A"/>
                </a:solidFill>
                <a:latin typeface="Segoe UI"/>
              </a:rPr>
              <a:t>Mitigations already in place, and now known to be load-bearing rather than tidy: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1E6B4A"/>
                </a:solidFill>
                <a:latin typeface="Segoe UI"/>
              </a:rPr>
              <a:t>— spans are drawn without replacement, and span multiplicity is reported per arm.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5B6370"/>
                </a:solidFill>
                <a:latin typeface="Segoe UI"/>
              </a:rPr>
              <a:t>Written down before results exist. Afterwards it would read as an excuse.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263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37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D23"/>
                </a:solidFill>
                <a:latin typeface="Segoe UI"/>
              </a:rPr>
              <a:t>Process and repository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78992"/>
            <a:ext cx="10820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0"/>
                </a:solidFill>
                <a:latin typeface="Segoe UI"/>
              </a:rPr>
              <a:t>The commit timeline is conception evidence, so it is never rewritten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0820095" cy="19050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Feature branches only; the author never presses merge on their own work.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1E6B4A"/>
                </a:solidFill>
                <a:latin typeface="Segoe UI"/>
              </a:rPr>
              <a:t>— Nine branches reviewed and merged to the org repo via two pull requests.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CI runs the CPU suite on every push and mechanises three review checks that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were previously enforced only by a human remembering to look.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Seven ADRs record every decision expensive to reverse.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Zero spend. No GPU provisioned, no checkpoint fetched, no dataset egressed.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263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37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468880"/>
            <a:ext cx="10820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E8C"/>
                </a:solidFill>
                <a:latin typeface="Segoe UI"/>
              </a:rPr>
              <a:t>SECTION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92608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D23"/>
                </a:solidFill>
                <a:latin typeface="Segoe UI"/>
              </a:rPr>
              <a:t>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977639"/>
            <a:ext cx="10820095" cy="38100"/>
          </a:xfrm>
          <a:prstGeom prst="rect">
            <a:avLst/>
          </a:prstGeom>
          <a:solidFill>
            <a:srgbClr val="1B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2062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B6370"/>
                </a:solidFill>
                <a:latin typeface="Segoe UI"/>
              </a:rPr>
              <a:t>One purchase blocks the critical path. One decision needs the team.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D23"/>
                </a:solidFill>
                <a:latin typeface="Segoe UI"/>
              </a:rPr>
              <a:t>The one hard blocker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78992"/>
            <a:ext cx="10820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0"/>
                </a:solidFill>
                <a:latin typeface="Segoe UI"/>
              </a:rPr>
              <a:t>It is a purchase, not a document — which is why it is still open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0820095" cy="19050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A Weights &amp; Biases entity, project and API key (T1.2).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Every GPU task waits on it. The vendor's login and an authenticated query run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before the eval branch, so log_wandb=false does not avoid it, and working around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A63D1F"/>
                </a:solidFill>
                <a:latin typeface="Segoe UI"/>
              </a:rPr>
              <a:t>— it means editing vendor code — which ADR-002 forbids (the tree has no licence).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Then, in this order, all of it already written down: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1A1D23"/>
                </a:solidFill>
                <a:latin typeface="Segoe UI"/>
              </a:rPr>
              <a:t>— Probe the dataset size for free  →  claim a booking row BEFORE billing starts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1A1D23"/>
                </a:solidFill>
                <a:latin typeface="Segoe UI"/>
              </a:rPr>
              <a:t>— →  bootstrap  →  rehearse on the 125M model  →  run 1B  →  read the bar 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263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37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D23"/>
                </a:solidFill>
                <a:latin typeface="Segoe UI"/>
              </a:rPr>
              <a:t>A decision the team has to make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78992"/>
            <a:ext cx="10820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0"/>
                </a:solidFill>
                <a:latin typeface="Segoe UI"/>
              </a:rPr>
              <a:t>Two independent implementations of the fluency reference model now exist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0820095" cy="19050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Both were built in parallel, both are pushed, and they conflict.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GPT-2 small — different corpus, different tokenizer, different architecture era.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Maximum independence; needs a decode/re-encode step between tokenizers.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Llama-3.2-1B — shares the victim's tokenizer, so token IDs feed in directly.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No tokenization seam; a stronger language model, but far closer to the victim.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A63D1F"/>
                </a:solidFill>
                <a:latin typeface="Segoe UI"/>
              </a:rPr>
              <a:t>The trade is real: seam-free scoring versus distance from the model under attack.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A63D1F"/>
                </a:solidFill>
                <a:latin typeface="Segoe UI"/>
              </a:rPr>
              <a:t>Whichever is chosen should be recorded as an ADR before any fluency number is used.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263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370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D23"/>
                </a:solidFill>
                <a:latin typeface="Segoe UI"/>
              </a:rPr>
              <a:t>Remaining work, in value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78992"/>
            <a:ext cx="10820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0"/>
                </a:solidFill>
                <a:latin typeface="Segoe UI"/>
              </a:rPr>
              <a:t>Everything below is desk work until the key exists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0820095" cy="19050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1.  Bind the carry overlay to the real vendor model, plus benign evaluation.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The design is settled and tested; this is the adapter. It is the last real unknown.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2.  The adversarial search that crafts a poison stream (currently a proposal generator).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3.  PARAPHRASE and SOFT stream strategies — reported separately from SELECT.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4.  Administrative: inventorship, the signed acknowledgement table, the paper tree.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Then the verdict — and Phase 2 only if it says PROCEED.</a:t>
            </a:r>
          </a:p>
          <a:p>
            <a:pPr lvl="1">
              <a:spcAft>
                <a:spcPts val="500"/>
              </a:spcAft>
            </a:pPr>
            <a:r>
              <a:rPr sz="1400" b="0" i="0">
                <a:solidFill>
                  <a:srgbClr val="5B6370"/>
                </a:solidFill>
                <a:latin typeface="Segoe UI"/>
              </a:rPr>
              <a:t>— Gate code stays unwritten until then; building it early is sunk cost against STOP.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263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37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D23"/>
                </a:solidFill>
                <a:latin typeface="Segoe UI"/>
              </a:rPr>
              <a:t>Where we 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78992"/>
            <a:ext cx="10820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0"/>
                </a:solidFill>
                <a:latin typeface="Segoe UI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0820095" cy="19050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The question is not yet answered — and could not honestly have been by now.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What exists: a runnable experiment, a validated instrument, a frozen bar, and a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>written record of every decision that could later look convenient.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E6B4A"/>
                </a:solidFill>
                <a:latin typeface="Segoe UI"/>
              </a:rPr>
              <a:t>What was avoided: five distinct routes to a scientifically worthless answer,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E6B4A"/>
                </a:solidFill>
                <a:latin typeface="Segoe UI"/>
              </a:rPr>
              <a:t>three of them false-STOP paths the numbers alone could never have revealed.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A1D23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Cost so far: $0 of a $325 cap.</a:t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A1D23"/>
                </a:solidFill>
                <a:latin typeface="Segoe UI"/>
              </a:rPr>
              <a:t>Next step: one purchase.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263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370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