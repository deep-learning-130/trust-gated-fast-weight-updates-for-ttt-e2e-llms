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11135" y="-1097280"/>
            <a:ext cx="5120640" cy="5120640"/>
          </a:xfrm>
          <a:prstGeom prst="rect">
            <a:avLst/>
          </a:prstGeom>
          <a:solidFill>
            <a:srgbClr val="11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265615" y="3108960"/>
            <a:ext cx="4023360" cy="4023360"/>
          </a:xfrm>
          <a:prstGeom prst="rect">
            <a:avLst/>
          </a:prstGeom>
          <a:solidFill>
            <a:srgbClr val="102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46304"/>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932688"/>
            <a:ext cx="8412480" cy="365760"/>
          </a:xfrm>
          <a:prstGeom prst="rect">
            <a:avLst/>
          </a:prstGeom>
          <a:noFill/>
        </p:spPr>
        <p:txBody>
          <a:bodyPr wrap="square" anchor="t" lIns="0" rIns="0" tIns="0" bIns="0">
            <a:spAutoFit/>
          </a:bodyPr>
          <a:lstStyle/>
          <a:p>
            <a:pPr>
              <a:spcAft>
                <a:spcPts val="0"/>
              </a:spcAft>
            </a:pPr>
            <a:r>
              <a:rPr sz="1100" b="1">
                <a:solidFill>
                  <a:srgbClr val="0E9F94"/>
                </a:solidFill>
                <a:latin typeface="Segoe UI"/>
              </a:rPr>
              <a:t>SCHOOL OF COMPUTER SCIENCE AND ENGINEERING  ·  VELLORE INSTITUTE OF TECHNOLOGY</a:t>
            </a:r>
          </a:p>
        </p:txBody>
      </p:sp>
      <p:sp>
        <p:nvSpPr>
          <p:cNvPr id="7" name="TextBox 6"/>
          <p:cNvSpPr txBox="1"/>
          <p:nvPr/>
        </p:nvSpPr>
        <p:spPr>
          <a:xfrm>
            <a:off x="795528" y="1481328"/>
            <a:ext cx="9509760" cy="2011680"/>
          </a:xfrm>
          <a:prstGeom prst="rect">
            <a:avLst/>
          </a:prstGeom>
          <a:noFill/>
        </p:spPr>
        <p:txBody>
          <a:bodyPr wrap="square" anchor="t" lIns="0" rIns="0" tIns="0" bIns="0">
            <a:spAutoFit/>
          </a:bodyPr>
          <a:lstStyle/>
          <a:p>
            <a:pPr>
              <a:spcAft>
                <a:spcPts val="400"/>
              </a:spcAft>
            </a:pPr>
            <a:r>
              <a:rPr sz="4200" b="1">
                <a:solidFill>
                  <a:srgbClr val="FFFFFF"/>
                </a:solidFill>
                <a:latin typeface="Segoe UI"/>
              </a:rPr>
              <a:t>Trust-Gated Fast-Weight Updates</a:t>
            </a:r>
          </a:p>
          <a:p>
            <a:pPr>
              <a:spcAft>
                <a:spcPts val="0"/>
              </a:spcAft>
            </a:pPr>
            <a:r>
              <a:rPr sz="4200" b="1">
                <a:solidFill>
                  <a:srgbClr val="FFFFFF"/>
                </a:solidFill>
                <a:latin typeface="Segoe UI"/>
              </a:rPr>
              <a:t>for TTT-E2E Large Language Models</a:t>
            </a:r>
          </a:p>
        </p:txBody>
      </p:sp>
      <p:sp>
        <p:nvSpPr>
          <p:cNvPr id="8" name="Rectangle 7"/>
          <p:cNvSpPr/>
          <p:nvPr/>
        </p:nvSpPr>
        <p:spPr>
          <a:xfrm>
            <a:off x="795528" y="3218688"/>
            <a:ext cx="1371600" cy="32004"/>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3474720"/>
            <a:ext cx="8778240" cy="822960"/>
          </a:xfrm>
          <a:prstGeom prst="rect">
            <a:avLst/>
          </a:prstGeom>
          <a:noFill/>
        </p:spPr>
        <p:txBody>
          <a:bodyPr wrap="square" anchor="t" lIns="0" rIns="0" tIns="0" bIns="0">
            <a:spAutoFit/>
          </a:bodyPr>
          <a:lstStyle/>
          <a:p>
            <a:pPr>
              <a:spcAft>
                <a:spcPts val="0"/>
              </a:spcAft>
            </a:pPr>
            <a:r>
              <a:rPr sz="1700" b="0">
                <a:solidFill>
                  <a:srgbClr val="B6C6D1"/>
                </a:solidFill>
                <a:latin typeface="Segoe UI"/>
              </a:rPr>
              <a:t>A runtime defense for language models that learn while they serve</a:t>
            </a:r>
          </a:p>
        </p:txBody>
      </p:sp>
      <p:sp>
        <p:nvSpPr>
          <p:cNvPr id="10" name="TextBox 9"/>
          <p:cNvSpPr txBox="1"/>
          <p:nvPr/>
        </p:nvSpPr>
        <p:spPr>
          <a:xfrm>
            <a:off x="795528" y="4370832"/>
            <a:ext cx="2743200" cy="274320"/>
          </a:xfrm>
          <a:prstGeom prst="rect">
            <a:avLst/>
          </a:prstGeom>
          <a:noFill/>
        </p:spPr>
        <p:txBody>
          <a:bodyPr wrap="square" anchor="t" lIns="0" rIns="0" tIns="0" bIns="0">
            <a:spAutoFit/>
          </a:bodyPr>
          <a:lstStyle/>
          <a:p>
            <a:pPr>
              <a:spcAft>
                <a:spcPts val="0"/>
              </a:spcAft>
            </a:pPr>
            <a:r>
              <a:rPr sz="1050" b="1">
                <a:solidFill>
                  <a:srgbClr val="0E9F94"/>
                </a:solidFill>
                <a:latin typeface="Segoe UI"/>
              </a:rPr>
              <a:t>TEAM</a:t>
            </a:r>
          </a:p>
        </p:txBody>
      </p:sp>
      <p:sp>
        <p:nvSpPr>
          <p:cNvPr id="11" name="Rectangle 10"/>
          <p:cNvSpPr/>
          <p:nvPr/>
        </p:nvSpPr>
        <p:spPr>
          <a:xfrm>
            <a:off x="795528" y="4700016"/>
            <a:ext cx="3035808" cy="786384"/>
          </a:xfrm>
          <a:prstGeom prst="rect">
            <a:avLst/>
          </a:prstGeom>
          <a:solidFill>
            <a:srgbClr val="16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4846320"/>
            <a:ext cx="2651760" cy="548640"/>
          </a:xfrm>
          <a:prstGeom prst="rect">
            <a:avLst/>
          </a:prstGeom>
          <a:noFill/>
        </p:spPr>
        <p:txBody>
          <a:bodyPr wrap="square" anchor="t" lIns="0" rIns="0" tIns="0" bIns="0">
            <a:spAutoFit/>
          </a:bodyPr>
          <a:lstStyle/>
          <a:p>
            <a:pPr>
              <a:spcAft>
                <a:spcPts val="100"/>
              </a:spcAft>
            </a:pPr>
            <a:r>
              <a:rPr sz="1450" b="1">
                <a:solidFill>
                  <a:srgbClr val="FFFFFF"/>
                </a:solidFill>
                <a:latin typeface="Segoe UI"/>
              </a:rPr>
              <a:t>Manas Maahir</a:t>
            </a:r>
          </a:p>
          <a:p>
            <a:pPr>
              <a:spcAft>
                <a:spcPts val="0"/>
              </a:spcAft>
            </a:pPr>
            <a:r>
              <a:rPr sz="1200" b="0">
                <a:solidFill>
                  <a:srgbClr val="0E9F94"/>
                </a:solidFill>
                <a:latin typeface="Segoe UI"/>
              </a:rPr>
              <a:t>23BAI0051</a:t>
            </a:r>
          </a:p>
        </p:txBody>
      </p:sp>
      <p:sp>
        <p:nvSpPr>
          <p:cNvPr id="13" name="Rectangle 12"/>
          <p:cNvSpPr/>
          <p:nvPr/>
        </p:nvSpPr>
        <p:spPr>
          <a:xfrm>
            <a:off x="4105656" y="4700016"/>
            <a:ext cx="3035808" cy="786384"/>
          </a:xfrm>
          <a:prstGeom prst="rect">
            <a:avLst/>
          </a:prstGeom>
          <a:solidFill>
            <a:srgbClr val="16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4846320"/>
            <a:ext cx="2651760" cy="548640"/>
          </a:xfrm>
          <a:prstGeom prst="rect">
            <a:avLst/>
          </a:prstGeom>
          <a:noFill/>
        </p:spPr>
        <p:txBody>
          <a:bodyPr wrap="square" anchor="t" lIns="0" rIns="0" tIns="0" bIns="0">
            <a:spAutoFit/>
          </a:bodyPr>
          <a:lstStyle/>
          <a:p>
            <a:pPr>
              <a:spcAft>
                <a:spcPts val="100"/>
              </a:spcAft>
            </a:pPr>
            <a:r>
              <a:rPr sz="1450" b="1">
                <a:solidFill>
                  <a:srgbClr val="FFFFFF"/>
                </a:solidFill>
                <a:latin typeface="Segoe UI"/>
              </a:rPr>
              <a:t>Jay Krishna Kamlekar</a:t>
            </a:r>
          </a:p>
          <a:p>
            <a:pPr>
              <a:spcAft>
                <a:spcPts val="0"/>
              </a:spcAft>
            </a:pPr>
            <a:r>
              <a:rPr sz="1200" b="0">
                <a:solidFill>
                  <a:srgbClr val="0E9F94"/>
                </a:solidFill>
                <a:latin typeface="Segoe UI"/>
              </a:rPr>
              <a:t>23BAI0053</a:t>
            </a:r>
          </a:p>
        </p:txBody>
      </p:sp>
      <p:sp>
        <p:nvSpPr>
          <p:cNvPr id="15" name="Rectangle 14"/>
          <p:cNvSpPr/>
          <p:nvPr/>
        </p:nvSpPr>
        <p:spPr>
          <a:xfrm>
            <a:off x="7415783" y="4700016"/>
            <a:ext cx="3035808" cy="786384"/>
          </a:xfrm>
          <a:prstGeom prst="rect">
            <a:avLst/>
          </a:prstGeom>
          <a:solidFill>
            <a:srgbClr val="163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53527" y="4846320"/>
            <a:ext cx="2651760" cy="548640"/>
          </a:xfrm>
          <a:prstGeom prst="rect">
            <a:avLst/>
          </a:prstGeom>
          <a:noFill/>
        </p:spPr>
        <p:txBody>
          <a:bodyPr wrap="square" anchor="t" lIns="0" rIns="0" tIns="0" bIns="0">
            <a:spAutoFit/>
          </a:bodyPr>
          <a:lstStyle/>
          <a:p>
            <a:pPr>
              <a:spcAft>
                <a:spcPts val="100"/>
              </a:spcAft>
            </a:pPr>
            <a:r>
              <a:rPr sz="1450" b="1">
                <a:solidFill>
                  <a:srgbClr val="FFFFFF"/>
                </a:solidFill>
                <a:latin typeface="Segoe UI"/>
              </a:rPr>
              <a:t>Kartheek Yadav</a:t>
            </a:r>
          </a:p>
          <a:p>
            <a:pPr>
              <a:spcAft>
                <a:spcPts val="0"/>
              </a:spcAft>
            </a:pPr>
            <a:r>
              <a:rPr sz="1200" b="0">
                <a:solidFill>
                  <a:srgbClr val="0E9F94"/>
                </a:solidFill>
                <a:latin typeface="Segoe UI"/>
              </a:rPr>
              <a:t>23BAI0056</a:t>
            </a:r>
          </a:p>
        </p:txBody>
      </p:sp>
      <p:sp>
        <p:nvSpPr>
          <p:cNvPr id="17" name="TextBox 16"/>
          <p:cNvSpPr txBox="1"/>
          <p:nvPr/>
        </p:nvSpPr>
        <p:spPr>
          <a:xfrm>
            <a:off x="795528" y="5870448"/>
            <a:ext cx="10058400" cy="320040"/>
          </a:xfrm>
          <a:prstGeom prst="rect">
            <a:avLst/>
          </a:prstGeom>
          <a:noFill/>
        </p:spPr>
        <p:txBody>
          <a:bodyPr wrap="square" anchor="t" lIns="0" rIns="0" tIns="0" bIns="0">
            <a:spAutoFit/>
          </a:bodyPr>
          <a:lstStyle/>
          <a:p>
            <a:pPr>
              <a:spcAft>
                <a:spcPts val="0"/>
              </a:spcAft>
            </a:pPr>
            <a:r>
              <a:rPr sz="1150" b="0">
                <a:solidFill>
                  <a:srgbClr val="8A97A2"/>
                </a:solidFill>
                <a:latin typeface="Segoe UI"/>
              </a:rPr>
              <a:t>Project Review  ·  August 2026  ·  Phase 1 implementation complete  ·  no measurement yet  ·  spend $0 of $325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What this review covers</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Three questions, in order</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2</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00784"/>
            <a:ext cx="45720" cy="193852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83664"/>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1.  Motivation</a:t>
            </a:r>
          </a:p>
          <a:p>
            <a:pPr>
              <a:spcAft>
                <a:spcPts val="0"/>
              </a:spcAft>
            </a:pPr>
            <a:r>
              <a:rPr sz="1200" b="0">
                <a:solidFill>
                  <a:srgbClr val="5C6B78"/>
                </a:solidFill>
                <a:latin typeface="Segoe UI"/>
              </a:rPr>
              <a:t>What TTT-E2E changes about the threat model, and why existing defenses do not reach it.</a:t>
            </a:r>
          </a:p>
        </p:txBody>
      </p:sp>
      <p:sp>
        <p:nvSpPr>
          <p:cNvPr id="12" name="Rectangle 11"/>
          <p:cNvSpPr/>
          <p:nvPr/>
        </p:nvSpPr>
        <p:spPr>
          <a:xfrm>
            <a:off x="4369003" y="1700784"/>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9003" y="1700784"/>
            <a:ext cx="45720" cy="19385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5035" y="1883664"/>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2.  What we did</a:t>
            </a:r>
          </a:p>
          <a:p>
            <a:pPr>
              <a:spcAft>
                <a:spcPts val="0"/>
              </a:spcAft>
            </a:pPr>
            <a:r>
              <a:rPr sz="1200" b="0">
                <a:solidFill>
                  <a:srgbClr val="5C6B78"/>
                </a:solidFill>
                <a:latin typeface="Segoe UI"/>
              </a:rPr>
              <a:t>The experiment that can answer the question — and the ways we found it could have lied to us.</a:t>
            </a:r>
          </a:p>
        </p:txBody>
      </p:sp>
      <p:sp>
        <p:nvSpPr>
          <p:cNvPr id="15" name="Rectangle 14"/>
          <p:cNvSpPr/>
          <p:nvPr/>
        </p:nvSpPr>
        <p:spPr>
          <a:xfrm>
            <a:off x="8079638" y="1700784"/>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9638" y="1700784"/>
            <a:ext cx="45720" cy="1938528"/>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5670" y="1883664"/>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3.  What comes next</a:t>
            </a:r>
          </a:p>
          <a:p>
            <a:pPr>
              <a:spcAft>
                <a:spcPts val="0"/>
              </a:spcAft>
            </a:pPr>
            <a:r>
              <a:rPr sz="1200" b="0">
                <a:solidFill>
                  <a:srgbClr val="5C6B78"/>
                </a:solidFill>
                <a:latin typeface="Segoe UI"/>
              </a:rPr>
              <a:t>One purchase blocks the critical path. One technical decision needs the whole team.</a:t>
            </a:r>
          </a:p>
        </p:txBody>
      </p:sp>
      <p:sp>
        <p:nvSpPr>
          <p:cNvPr id="18" name="TextBox 17"/>
          <p:cNvSpPr txBox="1"/>
          <p:nvPr/>
        </p:nvSpPr>
        <p:spPr>
          <a:xfrm>
            <a:off x="658368" y="4023360"/>
            <a:ext cx="10874959" cy="822960"/>
          </a:xfrm>
          <a:prstGeom prst="rect">
            <a:avLst/>
          </a:prstGeom>
          <a:noFill/>
        </p:spPr>
        <p:txBody>
          <a:bodyPr wrap="square" anchor="t" lIns="0" rIns="0" tIns="0" bIns="0">
            <a:spAutoFit/>
          </a:bodyPr>
          <a:lstStyle/>
          <a:p>
            <a:r>
              <a:rPr sz="1500" b="1">
                <a:solidFill>
                  <a:srgbClr val="123045"/>
                </a:solidFill>
                <a:latin typeface="Segoe UI"/>
              </a:rPr>
              <a:t>The honest headline.  </a:t>
            </a:r>
            <a:r>
              <a:rPr sz="1500" b="0">
                <a:solidFill>
                  <a:srgbClr val="0D1F2D"/>
                </a:solidFill>
                <a:latin typeface="Segoe UI"/>
              </a:rPr>
              <a:t>The experiment is now runnable and its instrument is validated — but no number has been produced and no verdict has been reached.</a:t>
            </a:r>
          </a:p>
        </p:txBody>
      </p:sp>
      <p:sp>
        <p:nvSpPr>
          <p:cNvPr id="19" name="Rectangle 18"/>
          <p:cNvSpPr/>
          <p:nvPr/>
        </p:nvSpPr>
        <p:spPr>
          <a:xfrm>
            <a:off x="658368" y="4846320"/>
            <a:ext cx="10874959" cy="1005840"/>
          </a:xfrm>
          <a:prstGeom prst="rect">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846320"/>
            <a:ext cx="45720" cy="10058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974336"/>
            <a:ext cx="10372039" cy="768096"/>
          </a:xfrm>
          <a:prstGeom prst="rect">
            <a:avLst/>
          </a:prstGeom>
          <a:noFill/>
        </p:spPr>
        <p:txBody>
          <a:bodyPr wrap="square" anchor="t" lIns="0" rIns="0" tIns="0" bIns="0">
            <a:spAutoFit/>
          </a:bodyPr>
          <a:lstStyle/>
          <a:p>
            <a:pPr>
              <a:spcAft>
                <a:spcPts val="400"/>
              </a:spcAft>
            </a:pPr>
            <a:r>
              <a:rPr sz="1150" b="1">
                <a:solidFill>
                  <a:srgbClr val="B45309"/>
                </a:solidFill>
                <a:latin typeface="Segoe UI"/>
              </a:rPr>
              <a:t>Why that is the right state to be in</a:t>
            </a:r>
          </a:p>
          <a:p>
            <a:pPr>
              <a:spcAft>
                <a:spcPts val="0"/>
              </a:spcAft>
            </a:pPr>
            <a:r>
              <a:rPr sz="1150" b="0">
                <a:solidFill>
                  <a:srgbClr val="0D1F2D"/>
                </a:solidFill>
                <a:latin typeface="Segoe UI"/>
              </a:rPr>
              <a:t>The go/no-go criterion was frozen in writing before any attack code ran. Producing a number before the machinery was trustworthy would have bought a verdict we could not defend — and STOP ends the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Motivation — the attack surface this creates</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Section 1 of 3  ·  Why the work exists</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3</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10874959" cy="896112"/>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1883664"/>
            <a:ext cx="10106863" cy="621792"/>
          </a:xfrm>
          <a:prstGeom prst="rect">
            <a:avLst/>
          </a:prstGeom>
          <a:noFill/>
        </p:spPr>
        <p:txBody>
          <a:bodyPr wrap="square" anchor="t" lIns="0" rIns="0" tIns="0" bIns="0">
            <a:spAutoFit/>
          </a:bodyPr>
          <a:lstStyle/>
          <a:p>
            <a:pPr>
              <a:spcAft>
                <a:spcPts val="0"/>
              </a:spcAft>
            </a:pPr>
            <a:r>
              <a:rPr sz="2100" b="1">
                <a:solidFill>
                  <a:srgbClr val="FFFFFF"/>
                </a:solidFill>
                <a:latin typeface="Segoe UI"/>
              </a:rPr>
              <a:t>“A model that learns while it serves can be poisoned while it serves.”</a:t>
            </a:r>
          </a:p>
        </p:txBody>
      </p:sp>
      <p:sp>
        <p:nvSpPr>
          <p:cNvPr id="11" name="Rectangle 10"/>
          <p:cNvSpPr/>
          <p:nvPr/>
        </p:nvSpPr>
        <p:spPr>
          <a:xfrm>
            <a:off x="658368"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79776"/>
            <a:ext cx="45720" cy="193852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The vector is a stream, not a token</a:t>
            </a:r>
          </a:p>
          <a:p>
            <a:pPr>
              <a:spcAft>
                <a:spcPts val="0"/>
              </a:spcAft>
            </a:pPr>
            <a:r>
              <a:rPr sz="1200" b="0">
                <a:solidFill>
                  <a:srgbClr val="5C6B78"/>
                </a:solidFill>
                <a:latin typeface="Segoe UI"/>
              </a:rPr>
              <a:t>A slow, benign-looking sequence of ordinary inputs — no malformed request, nothing a filter would flag.</a:t>
            </a:r>
          </a:p>
        </p:txBody>
      </p:sp>
      <p:sp>
        <p:nvSpPr>
          <p:cNvPr id="14" name="Rectangle 13"/>
          <p:cNvSpPr/>
          <p:nvPr/>
        </p:nvSpPr>
        <p:spPr>
          <a:xfrm>
            <a:off x="4369003"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9003" y="2779776"/>
            <a:ext cx="45720" cy="19385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5035"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The damage lands somewhere else</a:t>
            </a:r>
          </a:p>
          <a:p>
            <a:pPr>
              <a:spcAft>
                <a:spcPts val="0"/>
              </a:spcAft>
            </a:pPr>
            <a:r>
              <a:rPr sz="1200" b="0">
                <a:solidFill>
                  <a:srgbClr val="5C6B78"/>
                </a:solidFill>
                <a:latin typeface="Segoe UI"/>
              </a:rPr>
              <a:t>Later, unrelated benign inputs get handled worse, or a latent trigger fires while aggregate quality stays flat.</a:t>
            </a:r>
          </a:p>
        </p:txBody>
      </p:sp>
      <p:sp>
        <p:nvSpPr>
          <p:cNvPr id="17" name="Rectangle 16"/>
          <p:cNvSpPr/>
          <p:nvPr/>
        </p:nvSpPr>
        <p:spPr>
          <a:xfrm>
            <a:off x="8079638"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9638" y="2779776"/>
            <a:ext cx="45720" cy="1938528"/>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5670"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It is invisible to existing defenses</a:t>
            </a:r>
          </a:p>
          <a:p>
            <a:pPr>
              <a:spcAft>
                <a:spcPts val="0"/>
              </a:spcAft>
            </a:pPr>
            <a:r>
              <a:rPr sz="1200" b="0">
                <a:solidFill>
                  <a:srgbClr val="5C6B78"/>
                </a:solidFill>
                <a:latin typeface="Segoe UI"/>
              </a:rPr>
              <a:t>Base weights are never touched, so checkpoint scanning and training-time provenance see nothing at all.</a:t>
            </a:r>
          </a:p>
        </p:txBody>
      </p:sp>
      <p:sp>
        <p:nvSpPr>
          <p:cNvPr id="20" name="TextBox 19"/>
          <p:cNvSpPr txBox="1"/>
          <p:nvPr/>
        </p:nvSpPr>
        <p:spPr>
          <a:xfrm>
            <a:off x="658368" y="5010912"/>
            <a:ext cx="10874959" cy="822960"/>
          </a:xfrm>
          <a:prstGeom prst="rect">
            <a:avLst/>
          </a:prstGeom>
          <a:noFill/>
        </p:spPr>
        <p:txBody>
          <a:bodyPr wrap="square" anchor="t" lIns="0" rIns="0" tIns="0" bIns="0">
            <a:spAutoFit/>
          </a:bodyPr>
          <a:lstStyle/>
          <a:p>
            <a:r>
              <a:rPr sz="1500" b="1">
                <a:solidFill>
                  <a:srgbClr val="123045"/>
                </a:solidFill>
                <a:latin typeface="Segoe UI"/>
              </a:rPr>
              <a:t>Consequence.  </a:t>
            </a:r>
            <a:r>
              <a:rPr sz="1500" b="0">
                <a:solidFill>
                  <a:srgbClr val="0D1F2D"/>
                </a:solidFill>
                <a:latin typeface="Segoe UI"/>
              </a:rPr>
              <a:t>If the harmful thing happens at update time, the check has to happen at update time. Nothing upstream or downstream can substitute.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The architecture we target</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TTT-E2E — End-to-End Test-Time Training for Long Context</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4</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TextBox 8"/>
          <p:cNvSpPr txBox="1"/>
          <p:nvPr/>
        </p:nvSpPr>
        <p:spPr>
          <a:xfrm>
            <a:off x="658368" y="1700784"/>
            <a:ext cx="10874959" cy="1828800"/>
          </a:xfrm>
          <a:prstGeom prst="rect">
            <a:avLst/>
          </a:prstGeom>
          <a:noFill/>
        </p:spPr>
        <p:txBody>
          <a:bodyPr wrap="square" anchor="t" lIns="0" rIns="0" tIns="0" bIns="0">
            <a:spAutoFit/>
          </a:bodyPr>
          <a:lstStyle/>
          <a:p>
            <a:pPr>
              <a:spcAft>
                <a:spcPts val="800"/>
              </a:spcAft>
            </a:pPr>
            <a:r>
              <a:rPr sz="1700" b="0">
                <a:solidFill>
                  <a:srgbClr val="0D1F2D"/>
                </a:solidFill>
                <a:latin typeface="Segoe UI"/>
              </a:rPr>
              <a:t>TTT-E2E compresses long context by updating “fast weights” during inference.</a:t>
            </a:r>
          </a:p>
          <a:p>
            <a:pPr>
              <a:spcAft>
                <a:spcPts val="1400"/>
              </a:spcAft>
            </a:pPr>
            <a:r>
              <a:rPr sz="1350" b="0">
                <a:solidFill>
                  <a:srgbClr val="5C6B78"/>
                </a:solidFill>
                <a:latin typeface="Segoe UI"/>
              </a:rPr>
              <a:t>An inner SGD loop runs inside the forward pass — one step per mini-batch chunk of the context.</a:t>
            </a:r>
          </a:p>
          <a:p>
            <a:pPr>
              <a:spcAft>
                <a:spcPts val="800"/>
              </a:spcAft>
            </a:pPr>
            <a:r>
              <a:rPr sz="1700" b="1">
                <a:solidFill>
                  <a:srgbClr val="123045"/>
                </a:solidFill>
                <a:latin typeface="Segoe UI"/>
              </a:rPr>
              <a:t>That is the whole benefit, and the whole exposure.</a:t>
            </a:r>
          </a:p>
          <a:p>
            <a:pPr>
              <a:spcAft>
                <a:spcPts val="400"/>
              </a:spcAft>
            </a:pPr>
            <a:r>
              <a:rPr sz="1350" b="0">
                <a:solidFill>
                  <a:srgbClr val="5C6B78"/>
                </a:solidFill>
                <a:latin typeface="Segoe UI"/>
              </a:rPr>
              <a:t>Conventional inference is stateless: a bad prompt harms one response and is gone.</a:t>
            </a:r>
          </a:p>
          <a:p>
            <a:pPr>
              <a:spcAft>
                <a:spcPts val="0"/>
              </a:spcAft>
            </a:pPr>
            <a:r>
              <a:rPr sz="1350" b="0">
                <a:solidFill>
                  <a:srgbClr val="B45309"/>
                </a:solidFill>
                <a:latin typeface="Segoe UI"/>
              </a:rPr>
              <a:t>Here the context stream mutates model weights, so harm can persist past the request that caused it.</a:t>
            </a:r>
          </a:p>
        </p:txBody>
      </p:sp>
      <p:graphicFrame>
        <p:nvGraphicFramePr>
          <p:cNvPr id="10" name="Table 9"/>
          <p:cNvGraphicFramePr>
            <a:graphicFrameLocks noGrp="1"/>
          </p:cNvGraphicFramePr>
          <p:nvPr/>
        </p:nvGraphicFramePr>
        <p:xfrm>
          <a:off x="658368" y="3657600"/>
          <a:ext cx="10874959" cy="1956816"/>
        </p:xfrm>
        <a:graphic>
          <a:graphicData uri="http://schemas.openxmlformats.org/drawingml/2006/table">
            <a:tbl>
              <a:tblPr>
                <a:tableStyleId>{5C22544A-7EE6-4342-B048-85BDC9FD1C3A}</a:tableStyleId>
              </a:tblPr>
              <a:tblGrid>
                <a:gridCol w="3108960"/>
                <a:gridCol w="1828800"/>
                <a:gridCol w="5937199"/>
              </a:tblGrid>
              <a:tr h="365760">
                <a:tc>
                  <a:txBody>
                    <a:bodyPr wrap="square"/>
                    <a:lstStyle/>
                    <a:p>
                      <a:r>
                        <a:rPr sz="1150" b="1">
                          <a:solidFill>
                            <a:srgbClr val="FFFFFF"/>
                          </a:solidFill>
                          <a:latin typeface="Segoe UI"/>
                        </a:rPr>
                        <a:t>Quantity</a:t>
                      </a:r>
                    </a:p>
                  </a:txBody>
                  <a:tcPr anchor="ctr" marL="91440" marR="91440">
                    <a:solidFill>
                      <a:srgbClr val="123045"/>
                    </a:solidFill>
                  </a:tcPr>
                </a:tc>
                <a:tc>
                  <a:txBody>
                    <a:bodyPr wrap="square"/>
                    <a:lstStyle/>
                    <a:p>
                      <a:r>
                        <a:rPr sz="1150" b="1">
                          <a:solidFill>
                            <a:srgbClr val="FFFFFF"/>
                          </a:solidFill>
                          <a:latin typeface="Segoe UI"/>
                        </a:rPr>
                        <a:t>Value</a:t>
                      </a:r>
                    </a:p>
                  </a:txBody>
                  <a:tcPr anchor="ctr" marL="91440" marR="91440">
                    <a:solidFill>
                      <a:srgbClr val="123045"/>
                    </a:solidFill>
                  </a:tcPr>
                </a:tc>
                <a:tc>
                  <a:txBody>
                    <a:bodyPr wrap="square"/>
                    <a:lstStyle/>
                    <a:p>
                      <a:r>
                        <a:rPr sz="1150" b="1">
                          <a:solidFill>
                            <a:srgbClr val="FFFFFF"/>
                          </a:solidFill>
                          <a:latin typeface="Segoe UI"/>
                        </a:rPr>
                        <a:t>Why it matters for the attack</a:t>
                      </a:r>
                    </a:p>
                  </a:txBody>
                  <a:tcPr anchor="ctr" marL="91440" marR="91440">
                    <a:solidFill>
                      <a:srgbClr val="123045"/>
                    </a:solidFill>
                  </a:tcPr>
                </a:tc>
              </a:tr>
              <a:tr h="397764">
                <a:tc>
                  <a:txBody>
                    <a:bodyPr wrap="square"/>
                    <a:lstStyle/>
                    <a:p>
                      <a:r>
                        <a:rPr sz="1150" b="0">
                          <a:solidFill>
                            <a:srgbClr val="0D1F2D"/>
                          </a:solidFill>
                          <a:latin typeface="Segoe UI"/>
                        </a:rPr>
                        <a:t>Context length evaluated</a:t>
                      </a:r>
                    </a:p>
                  </a:txBody>
                  <a:tcPr anchor="ctr" marL="91440" marR="91440">
                    <a:solidFill>
                      <a:srgbClr val="E7F4EC"/>
                    </a:solidFill>
                  </a:tcPr>
                </a:tc>
                <a:tc>
                  <a:txBody>
                    <a:bodyPr wrap="square"/>
                    <a:lstStyle/>
                    <a:p>
                      <a:r>
                        <a:rPr sz="1150" b="1">
                          <a:solidFill>
                            <a:srgbClr val="0D1F2D"/>
                          </a:solidFill>
                          <a:latin typeface="Segoe UI"/>
                        </a:rPr>
                        <a:t>8,192 tokens</a:t>
                      </a:r>
                    </a:p>
                  </a:txBody>
                  <a:tcPr anchor="ctr" marL="91440" marR="91440">
                    <a:solidFill>
                      <a:srgbClr val="E7F4EC"/>
                    </a:solidFill>
                  </a:tcPr>
                </a:tc>
                <a:tc>
                  <a:txBody>
                    <a:bodyPr wrap="square"/>
                    <a:lstStyle/>
                    <a:p>
                      <a:r>
                        <a:rPr sz="1100" b="0">
                          <a:solidFill>
                            <a:srgbClr val="5C6B78"/>
                          </a:solidFill>
                          <a:latin typeface="Segoe UI"/>
                        </a:rPr>
                        <a:t>The cheapest configuration that is still a released checkpoint</a:t>
                      </a:r>
                    </a:p>
                  </a:txBody>
                  <a:tcPr anchor="ctr" marL="91440" marR="91440">
                    <a:solidFill>
                      <a:srgbClr val="E7F4EC"/>
                    </a:solidFill>
                  </a:tcPr>
                </a:tc>
              </a:tr>
              <a:tr h="397764">
                <a:tc>
                  <a:txBody>
                    <a:bodyPr wrap="square"/>
                    <a:lstStyle/>
                    <a:p>
                      <a:r>
                        <a:rPr sz="1150" b="0">
                          <a:solidFill>
                            <a:srgbClr val="0D1F2D"/>
                          </a:solidFill>
                          <a:latin typeface="Segoe UI"/>
                        </a:rPr>
                        <a:t>Inner-loop chunk size</a:t>
                      </a:r>
                    </a:p>
                  </a:txBody>
                  <a:tcPr anchor="ctr" marL="91440" marR="91440">
                    <a:solidFill>
                      <a:srgbClr val="E7F4EC"/>
                    </a:solidFill>
                  </a:tcPr>
                </a:tc>
                <a:tc>
                  <a:txBody>
                    <a:bodyPr wrap="square"/>
                    <a:lstStyle/>
                    <a:p>
                      <a:r>
                        <a:rPr sz="1150" b="1">
                          <a:solidFill>
                            <a:srgbClr val="0D1F2D"/>
                          </a:solidFill>
                          <a:latin typeface="Segoe UI"/>
                        </a:rPr>
                        <a:t>1,024 tokens</a:t>
                      </a:r>
                    </a:p>
                  </a:txBody>
                  <a:tcPr anchor="ctr" marL="91440" marR="91440">
                    <a:solidFill>
                      <a:srgbClr val="E7F4EC"/>
                    </a:solidFill>
                  </a:tcPr>
                </a:tc>
                <a:tc>
                  <a:txBody>
                    <a:bodyPr wrap="square"/>
                    <a:lstStyle/>
                    <a:p>
                      <a:r>
                        <a:rPr sz="1100" b="0">
                          <a:solidFill>
                            <a:srgbClr val="5C6B78"/>
                          </a:solidFill>
                          <a:latin typeface="Segoe UI"/>
                        </a:rPr>
                        <a:t>Sets the granularity at which fast weights actually move</a:t>
                      </a:r>
                    </a:p>
                  </a:txBody>
                  <a:tcPr anchor="ctr" marL="91440" marR="91440">
                    <a:solidFill>
                      <a:srgbClr val="E7F4EC"/>
                    </a:solidFill>
                  </a:tcPr>
                </a:tc>
              </a:tr>
              <a:tr h="397764">
                <a:tc>
                  <a:txBody>
                    <a:bodyPr wrap="square"/>
                    <a:lstStyle/>
                    <a:p>
                      <a:r>
                        <a:rPr sz="1150" b="0">
                          <a:solidFill>
                            <a:srgbClr val="0D1F2D"/>
                          </a:solidFill>
                          <a:latin typeface="Segoe UI"/>
                        </a:rPr>
                        <a:t>Inner SGD steps per sequence</a:t>
                      </a:r>
                    </a:p>
                  </a:txBody>
                  <a:tcPr anchor="ctr" marL="91440" marR="91440">
                    <a:solidFill>
                      <a:srgbClr val="FDF1DF"/>
                    </a:solidFill>
                  </a:tcPr>
                </a:tc>
                <a:tc>
                  <a:txBody>
                    <a:bodyPr wrap="square"/>
                    <a:lstStyle/>
                    <a:p>
                      <a:r>
                        <a:rPr sz="1150" b="1">
                          <a:solidFill>
                            <a:srgbClr val="B45309"/>
                          </a:solidFill>
                          <a:latin typeface="Segoe UI"/>
                        </a:rPr>
                        <a:t>8</a:t>
                      </a:r>
                    </a:p>
                  </a:txBody>
                  <a:tcPr anchor="ctr" marL="91440" marR="91440">
                    <a:solidFill>
                      <a:srgbClr val="FDF1DF"/>
                    </a:solidFill>
                  </a:tcPr>
                </a:tc>
                <a:tc>
                  <a:txBody>
                    <a:bodyPr wrap="square"/>
                    <a:lstStyle/>
                    <a:p>
                      <a:r>
                        <a:rPr sz="1100" b="0">
                          <a:solidFill>
                            <a:srgbClr val="5C6B78"/>
                          </a:solidFill>
                          <a:latin typeface="Segoe UI"/>
                        </a:rPr>
                        <a:t>A small budget — the attack must accumulate across sequences</a:t>
                      </a:r>
                    </a:p>
                  </a:txBody>
                  <a:tcPr anchor="ctr" marL="91440" marR="91440">
                    <a:solidFill>
                      <a:srgbClr val="FDF1DF"/>
                    </a:solidFill>
                  </a:tcPr>
                </a:tc>
              </a:tr>
              <a:tr h="397764">
                <a:tc>
                  <a:txBody>
                    <a:bodyPr wrap="square"/>
                    <a:lstStyle/>
                    <a:p>
                      <a:r>
                        <a:rPr sz="1150" b="0">
                          <a:solidFill>
                            <a:srgbClr val="0D1F2D"/>
                          </a:solidFill>
                          <a:latin typeface="Segoe UI"/>
                        </a:rPr>
                        <a:t>Weights the attacker may touch</a:t>
                      </a:r>
                    </a:p>
                  </a:txBody>
                  <a:tcPr anchor="ctr" marL="91440" marR="91440">
                    <a:solidFill>
                      <a:srgbClr val="E7F4EC"/>
                    </a:solidFill>
                  </a:tcPr>
                </a:tc>
                <a:tc>
                  <a:txBody>
                    <a:bodyPr wrap="square"/>
                    <a:lstStyle/>
                    <a:p>
                      <a:r>
                        <a:rPr sz="1150" b="1">
                          <a:solidFill>
                            <a:srgbClr val="157A4A"/>
                          </a:solidFill>
                          <a:latin typeface="Segoe UI"/>
                        </a:rPr>
                        <a:t>none</a:t>
                      </a:r>
                    </a:p>
                  </a:txBody>
                  <a:tcPr anchor="ctr" marL="91440" marR="91440">
                    <a:solidFill>
                      <a:srgbClr val="E7F4EC"/>
                    </a:solidFill>
                  </a:tcPr>
                </a:tc>
                <a:tc>
                  <a:txBody>
                    <a:bodyPr wrap="square"/>
                    <a:lstStyle/>
                    <a:p>
                      <a:r>
                        <a:rPr sz="1100" b="0">
                          <a:solidFill>
                            <a:srgbClr val="5C6B78"/>
                          </a:solidFill>
                          <a:latin typeface="Segoe UI"/>
                        </a:rPr>
                        <a:t>Context only. The claim rests on this being the sole channel</a:t>
                      </a:r>
                    </a:p>
                  </a:txBody>
                  <a:tcPr anchor="ctr" marL="91440" marR="91440">
                    <a:solidFill>
                      <a:srgbClr val="E7F4E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Why this problem, and not another</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The gap our literature survey actually found</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5</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graphicFrame>
        <p:nvGraphicFramePr>
          <p:cNvPr id="9" name="Table 8"/>
          <p:cNvGraphicFramePr>
            <a:graphicFrameLocks noGrp="1"/>
          </p:cNvGraphicFramePr>
          <p:nvPr/>
        </p:nvGraphicFramePr>
        <p:xfrm>
          <a:off x="658368" y="1700784"/>
          <a:ext cx="10874959" cy="1956816"/>
        </p:xfrm>
        <a:graphic>
          <a:graphicData uri="http://schemas.openxmlformats.org/drawingml/2006/table">
            <a:tbl>
              <a:tblPr>
                <a:tableStyleId>{5C22544A-7EE6-4342-B048-85BDC9FD1C3A}</a:tableStyleId>
              </a:tblPr>
              <a:tblGrid>
                <a:gridCol w="3657600"/>
                <a:gridCol w="2834640"/>
                <a:gridCol w="4382719"/>
              </a:tblGrid>
              <a:tr h="365760">
                <a:tc>
                  <a:txBody>
                    <a:bodyPr wrap="square"/>
                    <a:lstStyle/>
                    <a:p>
                      <a:r>
                        <a:rPr sz="1150" b="1">
                          <a:solidFill>
                            <a:srgbClr val="FFFFFF"/>
                          </a:solidFill>
                          <a:latin typeface="Segoe UI"/>
                        </a:rPr>
                        <a:t>Existing line of work</a:t>
                      </a:r>
                    </a:p>
                  </a:txBody>
                  <a:tcPr anchor="ctr" marL="91440" marR="91440">
                    <a:solidFill>
                      <a:srgbClr val="123045"/>
                    </a:solidFill>
                  </a:tcPr>
                </a:tc>
                <a:tc>
                  <a:txBody>
                    <a:bodyPr wrap="square"/>
                    <a:lstStyle/>
                    <a:p>
                      <a:r>
                        <a:rPr sz="1150" b="1">
                          <a:solidFill>
                            <a:srgbClr val="FFFFFF"/>
                          </a:solidFill>
                          <a:latin typeface="Segoe UI"/>
                        </a:rPr>
                        <a:t>What it defends</a:t>
                      </a:r>
                    </a:p>
                  </a:txBody>
                  <a:tcPr anchor="ctr" marL="91440" marR="91440">
                    <a:solidFill>
                      <a:srgbClr val="123045"/>
                    </a:solidFill>
                  </a:tcPr>
                </a:tc>
                <a:tc>
                  <a:txBody>
                    <a:bodyPr wrap="square"/>
                    <a:lstStyle/>
                    <a:p>
                      <a:r>
                        <a:rPr sz="1150" b="1">
                          <a:solidFill>
                            <a:srgbClr val="FFFFFF"/>
                          </a:solidFill>
                          <a:latin typeface="Segoe UI"/>
                        </a:rPr>
                        <a:t>Why it does not reach this threat</a:t>
                      </a:r>
                    </a:p>
                  </a:txBody>
                  <a:tcPr anchor="ctr" marL="91440" marR="91440">
                    <a:solidFill>
                      <a:srgbClr val="123045"/>
                    </a:solidFill>
                  </a:tcPr>
                </a:tc>
              </a:tr>
              <a:tr h="397764">
                <a:tc>
                  <a:txBody>
                    <a:bodyPr wrap="square"/>
                    <a:lstStyle/>
                    <a:p>
                      <a:r>
                        <a:rPr sz="1150" b="0">
                          <a:solidFill>
                            <a:srgbClr val="0D1F2D"/>
                          </a:solidFill>
                          <a:latin typeface="Segoe UI"/>
                        </a:rPr>
                        <a:t>Robust test-time adaptation (MedBN and relatives)</a:t>
                      </a:r>
                    </a:p>
                  </a:txBody>
                  <a:tcPr anchor="ctr" marL="91440" marR="91440">
                    <a:solidFill>
                      <a:srgbClr val="FDF1DF"/>
                    </a:solidFill>
                  </a:tcPr>
                </a:tc>
                <a:tc>
                  <a:txBody>
                    <a:bodyPr wrap="square"/>
                    <a:lstStyle/>
                    <a:p>
                      <a:r>
                        <a:rPr sz="1100" b="0">
                          <a:solidFill>
                            <a:srgbClr val="5C6B78"/>
                          </a:solidFill>
                          <a:latin typeface="Segoe UI"/>
                        </a:rPr>
                        <a:t>BatchNorm statistics, vision models</a:t>
                      </a:r>
                    </a:p>
                  </a:txBody>
                  <a:tcPr anchor="ctr" marL="91440" marR="91440">
                    <a:solidFill>
                      <a:srgbClr val="FDF1DF"/>
                    </a:solidFill>
                  </a:tcPr>
                </a:tc>
                <a:tc>
                  <a:txBody>
                    <a:bodyPr wrap="square"/>
                    <a:lstStyle/>
                    <a:p>
                      <a:r>
                        <a:rPr sz="1100" b="0">
                          <a:solidFill>
                            <a:srgbClr val="5C6B78"/>
                          </a:solidFill>
                          <a:latin typeface="Segoe UI"/>
                        </a:rPr>
                        <a:t>Not a fast-weight method; the principle must be ported, not reused</a:t>
                      </a:r>
                    </a:p>
                  </a:txBody>
                  <a:tcPr anchor="ctr" marL="91440" marR="91440">
                    <a:solidFill>
                      <a:srgbClr val="FDF1DF"/>
                    </a:solidFill>
                  </a:tcPr>
                </a:tc>
              </a:tr>
              <a:tr h="397764">
                <a:tc>
                  <a:txBody>
                    <a:bodyPr wrap="square"/>
                    <a:lstStyle/>
                    <a:p>
                      <a:r>
                        <a:rPr sz="1150" b="0">
                          <a:solidFill>
                            <a:srgbClr val="0D1F2D"/>
                          </a:solidFill>
                          <a:latin typeface="Segoe UI"/>
                        </a:rPr>
                        <a:t>Training-data poisoning defenses</a:t>
                      </a:r>
                    </a:p>
                  </a:txBody>
                  <a:tcPr anchor="ctr" marL="91440" marR="91440">
                    <a:solidFill>
                      <a:srgbClr val="FDF1DF"/>
                    </a:solidFill>
                  </a:tcPr>
                </a:tc>
                <a:tc>
                  <a:txBody>
                    <a:bodyPr wrap="square"/>
                    <a:lstStyle/>
                    <a:p>
                      <a:r>
                        <a:rPr sz="1100" b="0">
                          <a:solidFill>
                            <a:srgbClr val="5C6B78"/>
                          </a:solidFill>
                          <a:latin typeface="Segoe UI"/>
                        </a:rPr>
                        <a:t>The training set and its provenance</a:t>
                      </a:r>
                    </a:p>
                  </a:txBody>
                  <a:tcPr anchor="ctr" marL="91440" marR="91440">
                    <a:solidFill>
                      <a:srgbClr val="FDF1DF"/>
                    </a:solidFill>
                  </a:tcPr>
                </a:tc>
                <a:tc>
                  <a:txBody>
                    <a:bodyPr wrap="square"/>
                    <a:lstStyle/>
                    <a:p>
                      <a:r>
                        <a:rPr sz="1100" b="0">
                          <a:solidFill>
                            <a:srgbClr val="5C6B78"/>
                          </a:solidFill>
                          <a:latin typeface="Segoe UI"/>
                        </a:rPr>
                        <a:t>The attack never touches training data</a:t>
                      </a:r>
                    </a:p>
                  </a:txBody>
                  <a:tcPr anchor="ctr" marL="91440" marR="91440">
                    <a:solidFill>
                      <a:srgbClr val="FDF1DF"/>
                    </a:solidFill>
                  </a:tcPr>
                </a:tc>
              </a:tr>
              <a:tr h="397764">
                <a:tc>
                  <a:txBody>
                    <a:bodyPr wrap="square"/>
                    <a:lstStyle/>
                    <a:p>
                      <a:r>
                        <a:rPr sz="1150" b="0">
                          <a:solidFill>
                            <a:srgbClr val="0D1F2D"/>
                          </a:solidFill>
                          <a:latin typeface="Segoe UI"/>
                        </a:rPr>
                        <a:t>Prompt-injection filtering</a:t>
                      </a:r>
                    </a:p>
                  </a:txBody>
                  <a:tcPr anchor="ctr" marL="91440" marR="91440">
                    <a:solidFill>
                      <a:srgbClr val="FDF1DF"/>
                    </a:solidFill>
                  </a:tcPr>
                </a:tc>
                <a:tc>
                  <a:txBody>
                    <a:bodyPr wrap="square"/>
                    <a:lstStyle/>
                    <a:p>
                      <a:r>
                        <a:rPr sz="1100" b="0">
                          <a:solidFill>
                            <a:srgbClr val="5C6B78"/>
                          </a:solidFill>
                          <a:latin typeface="Segoe UI"/>
                        </a:rPr>
                        <a:t>A single malicious request</a:t>
                      </a:r>
                    </a:p>
                  </a:txBody>
                  <a:tcPr anchor="ctr" marL="91440" marR="91440">
                    <a:solidFill>
                      <a:srgbClr val="FDF1DF"/>
                    </a:solidFill>
                  </a:tcPr>
                </a:tc>
                <a:tc>
                  <a:txBody>
                    <a:bodyPr wrap="square"/>
                    <a:lstStyle/>
                    <a:p>
                      <a:r>
                        <a:rPr sz="1100" b="0">
                          <a:solidFill>
                            <a:srgbClr val="5C6B78"/>
                          </a:solidFill>
                          <a:latin typeface="Segoe UI"/>
                        </a:rPr>
                        <a:t>The stream is benign-looking by construction; no request is malformed</a:t>
                      </a:r>
                    </a:p>
                  </a:txBody>
                  <a:tcPr anchor="ctr" marL="91440" marR="91440">
                    <a:solidFill>
                      <a:srgbClr val="FDF1DF"/>
                    </a:solidFill>
                  </a:tcPr>
                </a:tc>
              </a:tr>
              <a:tr h="397764">
                <a:tc>
                  <a:txBody>
                    <a:bodyPr wrap="square"/>
                    <a:lstStyle/>
                    <a:p>
                      <a:r>
                        <a:rPr sz="1150" b="0">
                          <a:solidFill>
                            <a:srgbClr val="0D1F2D"/>
                          </a:solidFill>
                          <a:latin typeface="Segoe UI"/>
                        </a:rPr>
                        <a:t>Checkpoint / weight scanning</a:t>
                      </a:r>
                    </a:p>
                  </a:txBody>
                  <a:tcPr anchor="ctr" marL="91440" marR="91440">
                    <a:solidFill>
                      <a:srgbClr val="FDF1DF"/>
                    </a:solidFill>
                  </a:tcPr>
                </a:tc>
                <a:tc>
                  <a:txBody>
                    <a:bodyPr wrap="square"/>
                    <a:lstStyle/>
                    <a:p>
                      <a:r>
                        <a:rPr sz="1100" b="0">
                          <a:solidFill>
                            <a:srgbClr val="5C6B78"/>
                          </a:solidFill>
                          <a:latin typeface="Segoe UI"/>
                        </a:rPr>
                        <a:t>Weights at rest</a:t>
                      </a:r>
                    </a:p>
                  </a:txBody>
                  <a:tcPr anchor="ctr" marL="91440" marR="91440">
                    <a:solidFill>
                      <a:srgbClr val="FDF1DF"/>
                    </a:solidFill>
                  </a:tcPr>
                </a:tc>
                <a:tc>
                  <a:txBody>
                    <a:bodyPr wrap="square"/>
                    <a:lstStyle/>
                    <a:p>
                      <a:r>
                        <a:rPr sz="1100" b="0">
                          <a:solidFill>
                            <a:srgbClr val="5C6B78"/>
                          </a:solidFill>
                          <a:latin typeface="Segoe UI"/>
                        </a:rPr>
                        <a:t>Base weights are never modified</a:t>
                      </a:r>
                    </a:p>
                  </a:txBody>
                  <a:tcPr anchor="ctr" marL="91440" marR="91440">
                    <a:solidFill>
                      <a:srgbClr val="FDF1DF"/>
                    </a:solidFill>
                  </a:tcPr>
                </a:tc>
              </a:tr>
            </a:tbl>
          </a:graphicData>
        </a:graphic>
      </p:graphicFrame>
      <p:sp>
        <p:nvSpPr>
          <p:cNvPr id="10" name="Rectangle 9"/>
          <p:cNvSpPr/>
          <p:nvPr/>
        </p:nvSpPr>
        <p:spPr>
          <a:xfrm>
            <a:off x="658368" y="4114800"/>
            <a:ext cx="10874959" cy="914400"/>
          </a:xfrm>
          <a:prstGeom prst="rect">
            <a:avLst/>
          </a:prstGeom>
          <a:solidFill>
            <a:srgbClr val="E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114800"/>
            <a:ext cx="45720" cy="91440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242816"/>
            <a:ext cx="10372039" cy="676656"/>
          </a:xfrm>
          <a:prstGeom prst="rect">
            <a:avLst/>
          </a:prstGeom>
          <a:noFill/>
        </p:spPr>
        <p:txBody>
          <a:bodyPr wrap="square" anchor="t" lIns="0" rIns="0" tIns="0" bIns="0">
            <a:spAutoFit/>
          </a:bodyPr>
          <a:lstStyle/>
          <a:p>
            <a:pPr>
              <a:spcAft>
                <a:spcPts val="400"/>
              </a:spcAft>
            </a:pPr>
            <a:r>
              <a:rPr sz="1150" b="1">
                <a:solidFill>
                  <a:srgbClr val="0E9F94"/>
                </a:solidFill>
                <a:latin typeface="Segoe UI"/>
              </a:rPr>
              <a:t>The gap, stated plainly</a:t>
            </a:r>
          </a:p>
          <a:p>
            <a:pPr>
              <a:spcAft>
                <a:spcPts val="0"/>
              </a:spcAft>
            </a:pPr>
            <a:r>
              <a:rPr sz="1150" b="0">
                <a:solidFill>
                  <a:srgbClr val="0D1F2D"/>
                </a:solidFill>
                <a:latin typeface="Segoe UI"/>
              </a:rPr>
              <a:t>Nothing in the surveyed work gates fast-weight updates in a language model under a stated, testable bound. 15 verified journal papers with resolved DOIs — docs/literature-survey.md.</a:t>
            </a:r>
          </a:p>
        </p:txBody>
      </p:sp>
      <p:sp>
        <p:nvSpPr>
          <p:cNvPr id="13" name="TextBox 12"/>
          <p:cNvSpPr txBox="1"/>
          <p:nvPr/>
        </p:nvSpPr>
        <p:spPr>
          <a:xfrm>
            <a:off x="658368" y="5257800"/>
            <a:ext cx="10874959" cy="822960"/>
          </a:xfrm>
          <a:prstGeom prst="rect">
            <a:avLst/>
          </a:prstGeom>
          <a:noFill/>
        </p:spPr>
        <p:txBody>
          <a:bodyPr wrap="square" anchor="t" lIns="0" rIns="0" tIns="0" bIns="0">
            <a:spAutoFit/>
          </a:bodyPr>
          <a:lstStyle/>
          <a:p>
            <a:r>
              <a:rPr sz="1500" b="1">
                <a:solidFill>
                  <a:srgbClr val="123045"/>
                </a:solidFill>
                <a:latin typeface="Segoe UI"/>
              </a:rPr>
              <a:t>Our position.  </a:t>
            </a:r>
            <a:r>
              <a:rPr sz="1500" b="0">
                <a:solidFill>
                  <a:srgbClr val="0D1F2D"/>
                </a:solidFill>
                <a:latin typeface="Segoe UI"/>
              </a:rPr>
              <a:t>The novelty we can defend is the system — interceptor, drift budget, rollback — not a detector.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Our proposal — the trust gate</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Intercept every proposed update; admit it only if it survives a check</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6</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454603"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00784"/>
            <a:ext cx="45720" cy="178308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83664"/>
            <a:ext cx="2997403" cy="145389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Interceptor</a:t>
            </a:r>
          </a:p>
          <a:p>
            <a:pPr>
              <a:spcAft>
                <a:spcPts val="0"/>
              </a:spcAft>
            </a:pPr>
            <a:r>
              <a:rPr sz="1200" b="0">
                <a:solidFill>
                  <a:srgbClr val="5C6B78"/>
                </a:solidFill>
                <a:latin typeface="Segoe UI"/>
              </a:rPr>
              <a:t>No fast-weight update commits without passing through it. Frozen-anchor consistency is the primary gate signal (ADR-F1).</a:t>
            </a:r>
          </a:p>
        </p:txBody>
      </p:sp>
      <p:sp>
        <p:nvSpPr>
          <p:cNvPr id="12" name="Rectangle 11"/>
          <p:cNvSpPr/>
          <p:nvPr/>
        </p:nvSpPr>
        <p:spPr>
          <a:xfrm>
            <a:off x="4369003" y="1700784"/>
            <a:ext cx="3454603"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9003" y="1700784"/>
            <a:ext cx="45720" cy="178308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5035" y="1883664"/>
            <a:ext cx="2997403" cy="145389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Bounded drift budget</a:t>
            </a:r>
          </a:p>
          <a:p>
            <a:pPr>
              <a:spcAft>
                <a:spcPts val="0"/>
              </a:spcAft>
            </a:pPr>
            <a:r>
              <a:rPr sz="1200" b="0">
                <a:solidFill>
                  <a:srgbClr val="5C6B78"/>
                </a:solidFill>
                <a:latin typeface="Segoe UI"/>
              </a:rPr>
              <a:t>Over any window, committed weights cannot travel more than ε from the anchor. This is the headline claimable property.</a:t>
            </a:r>
          </a:p>
        </p:txBody>
      </p:sp>
      <p:sp>
        <p:nvSpPr>
          <p:cNvPr id="15" name="Rectangle 14"/>
          <p:cNvSpPr/>
          <p:nvPr/>
        </p:nvSpPr>
        <p:spPr>
          <a:xfrm>
            <a:off x="8079638" y="1700784"/>
            <a:ext cx="3454603"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9638" y="1700784"/>
            <a:ext cx="45720" cy="178308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5670" y="1883664"/>
            <a:ext cx="2997403" cy="145389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Checkpoint and rollback</a:t>
            </a:r>
          </a:p>
          <a:p>
            <a:pPr>
              <a:spcAft>
                <a:spcPts val="0"/>
              </a:spcAft>
            </a:pPr>
            <a:r>
              <a:rPr sz="1200" b="0">
                <a:solidFill>
                  <a:srgbClr val="5C6B78"/>
                </a:solidFill>
                <a:latin typeface="Segoe UI"/>
              </a:rPr>
              <a:t>O(1) revert through a versioned ring buffer, sized to detection latency.</a:t>
            </a:r>
          </a:p>
        </p:txBody>
      </p:sp>
      <p:sp>
        <p:nvSpPr>
          <p:cNvPr id="18" name="Rectangle 17"/>
          <p:cNvSpPr/>
          <p:nvPr/>
        </p:nvSpPr>
        <p:spPr>
          <a:xfrm>
            <a:off x="658368" y="3703320"/>
            <a:ext cx="10874959" cy="1143000"/>
          </a:xfrm>
          <a:prstGeom prst="rect">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703320"/>
            <a:ext cx="45720" cy="11430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831336"/>
            <a:ext cx="10372039" cy="905256"/>
          </a:xfrm>
          <a:prstGeom prst="rect">
            <a:avLst/>
          </a:prstGeom>
          <a:noFill/>
        </p:spPr>
        <p:txBody>
          <a:bodyPr wrap="square" anchor="t" lIns="0" rIns="0" tIns="0" bIns="0">
            <a:spAutoFit/>
          </a:bodyPr>
          <a:lstStyle/>
          <a:p>
            <a:pPr>
              <a:spcAft>
                <a:spcPts val="400"/>
              </a:spcAft>
            </a:pPr>
            <a:r>
              <a:rPr sz="1150" b="1">
                <a:solidFill>
                  <a:srgbClr val="B45309"/>
                </a:solidFill>
                <a:latin typeface="Segoe UI"/>
              </a:rPr>
              <a:t>What we record rather than hide</a:t>
            </a:r>
          </a:p>
          <a:p>
            <a:pPr>
              <a:spcAft>
                <a:spcPts val="0"/>
              </a:spcAft>
            </a:pPr>
            <a:r>
              <a:rPr sz="1150" b="0">
                <a:solidFill>
                  <a:srgbClr val="0D1F2D"/>
                </a:solidFill>
                <a:latin typeface="Segoe UI"/>
              </a:rPr>
              <a:t>The drift accumulator and the versioned store are implemented and unit-tested, but the interceptor does not yet call either. The per-window bound is therefore designed, not enforced. It is blocked structurally — the vendor's scan carry is fixed and ADR-002 forbids editing their tree — and is recorded as a dated correction on ADR-003.</a:t>
            </a:r>
          </a:p>
        </p:txBody>
      </p:sp>
      <p:sp>
        <p:nvSpPr>
          <p:cNvPr id="21" name="TextBox 20"/>
          <p:cNvSpPr txBox="1"/>
          <p:nvPr/>
        </p:nvSpPr>
        <p:spPr>
          <a:xfrm>
            <a:off x="658368" y="5120640"/>
            <a:ext cx="10874959" cy="822960"/>
          </a:xfrm>
          <a:prstGeom prst="rect">
            <a:avLst/>
          </a:prstGeom>
          <a:noFill/>
        </p:spPr>
        <p:txBody>
          <a:bodyPr wrap="square" anchor="t" lIns="0" rIns="0" tIns="0" bIns="0">
            <a:spAutoFit/>
          </a:bodyPr>
          <a:lstStyle/>
          <a:p>
            <a:r>
              <a:rPr sz="1500" b="1">
                <a:solidFill>
                  <a:srgbClr val="123045"/>
                </a:solidFill>
                <a:latin typeface="Segoe UI"/>
              </a:rPr>
              <a:t>Why say so.  </a:t>
            </a:r>
            <a:r>
              <a:rPr sz="1500" b="0">
                <a:solidFill>
                  <a:srgbClr val="0D1F2D"/>
                </a:solidFill>
                <a:latin typeface="Segoe UI"/>
              </a:rPr>
              <a:t>A guarantee we describe as live but have not wired is the single easiest thing to be caught overstating.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What we did</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Section 2 of 3  ·  Building the experiment</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7</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10874959" cy="896112"/>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1883664"/>
            <a:ext cx="10106863" cy="621792"/>
          </a:xfrm>
          <a:prstGeom prst="rect">
            <a:avLst/>
          </a:prstGeom>
          <a:noFill/>
        </p:spPr>
        <p:txBody>
          <a:bodyPr wrap="square" anchor="t" lIns="0" rIns="0" tIns="0" bIns="0">
            <a:spAutoFit/>
          </a:bodyPr>
          <a:lstStyle/>
          <a:p>
            <a:pPr>
              <a:spcAft>
                <a:spcPts val="0"/>
              </a:spcAft>
            </a:pPr>
            <a:r>
              <a:rPr sz="2100" b="1">
                <a:solidFill>
                  <a:srgbClr val="FFFFFF"/>
                </a:solidFill>
                <a:latin typeface="Segoe UI"/>
              </a:rPr>
              <a:t>Build the thing that can answer the question — then find every way it could lie.</a:t>
            </a:r>
          </a:p>
        </p:txBody>
      </p:sp>
      <p:sp>
        <p:nvSpPr>
          <p:cNvPr id="11" name="Rectangle 10"/>
          <p:cNvSpPr/>
          <p:nvPr/>
        </p:nvSpPr>
        <p:spPr>
          <a:xfrm>
            <a:off x="658368"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79776"/>
            <a:ext cx="45720" cy="193852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Fix the bar first</a:t>
            </a:r>
          </a:p>
          <a:p>
            <a:pPr>
              <a:spcAft>
                <a:spcPts val="0"/>
              </a:spcAft>
            </a:pPr>
            <a:r>
              <a:rPr sz="1200" b="0">
                <a:solidFill>
                  <a:srgbClr val="5C6B78"/>
                </a:solidFill>
                <a:latin typeface="Segoe UI"/>
              </a:rPr>
              <a:t>Thresholds frozen in writing before any attack code ran, and now pinned by a CI test that reads the frozen document.</a:t>
            </a:r>
          </a:p>
        </p:txBody>
      </p:sp>
      <p:sp>
        <p:nvSpPr>
          <p:cNvPr id="14" name="Rectangle 13"/>
          <p:cNvSpPr/>
          <p:nvPr/>
        </p:nvSpPr>
        <p:spPr>
          <a:xfrm>
            <a:off x="4369003"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9003" y="2779776"/>
            <a:ext cx="45720" cy="19385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5035"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Build on CPU, spend nothing</a:t>
            </a:r>
          </a:p>
          <a:p>
            <a:pPr>
              <a:spcAft>
                <a:spcPts val="0"/>
              </a:spcAft>
            </a:pPr>
            <a:r>
              <a:rPr sz="1200" b="0">
                <a:solidFill>
                  <a:srgbClr val="5C6B78"/>
                </a:solidFill>
                <a:latin typeface="Segoe UI"/>
              </a:rPr>
              <a:t>197 tests, 3,909 lines of source, zero GPU hours, zero dataset egress, $0 of a $325 cap.</a:t>
            </a:r>
          </a:p>
        </p:txBody>
      </p:sp>
      <p:sp>
        <p:nvSpPr>
          <p:cNvPr id="17" name="Rectangle 16"/>
          <p:cNvSpPr/>
          <p:nvPr/>
        </p:nvSpPr>
        <p:spPr>
          <a:xfrm>
            <a:off x="8079638"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9638" y="2779776"/>
            <a:ext cx="45720" cy="1938528"/>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5670"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Hunt for false answers</a:t>
            </a:r>
          </a:p>
          <a:p>
            <a:pPr>
              <a:spcAft>
                <a:spcPts val="0"/>
              </a:spcAft>
            </a:pPr>
            <a:r>
              <a:rPr sz="1200" b="0">
                <a:solidFill>
                  <a:srgbClr val="5C6B78"/>
                </a:solidFill>
                <a:latin typeface="Segoe UI"/>
              </a:rPr>
              <a:t>Five distinct routes to a scientifically worthless verdict, found and closed at the desk.</a:t>
            </a:r>
          </a:p>
        </p:txBody>
      </p:sp>
      <p:sp>
        <p:nvSpPr>
          <p:cNvPr id="20" name="TextBox 19"/>
          <p:cNvSpPr txBox="1"/>
          <p:nvPr/>
        </p:nvSpPr>
        <p:spPr>
          <a:xfrm>
            <a:off x="658368" y="5010912"/>
            <a:ext cx="10874959" cy="822960"/>
          </a:xfrm>
          <a:prstGeom prst="rect">
            <a:avLst/>
          </a:prstGeom>
          <a:noFill/>
        </p:spPr>
        <p:txBody>
          <a:bodyPr wrap="square" anchor="t" lIns="0" rIns="0" tIns="0" bIns="0">
            <a:spAutoFit/>
          </a:bodyPr>
          <a:lstStyle/>
          <a:p>
            <a:r>
              <a:rPr sz="1500" b="1">
                <a:solidFill>
                  <a:srgbClr val="123045"/>
                </a:solidFill>
                <a:latin typeface="Segoe UI"/>
              </a:rPr>
              <a:t>Ordering is the point.  </a:t>
            </a:r>
            <a:r>
              <a:rPr sz="1500" b="0">
                <a:solidFill>
                  <a:srgbClr val="0D1F2D"/>
                </a:solidFill>
                <a:latin typeface="Segoe UI"/>
              </a:rPr>
              <a:t>Every decision that could later look convenient was written down before there was a result to make it convenient for.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The discipline: a pre-registered kill-gate</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Because the answer might be “stop”, and that has to stay allowed</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8</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graphicFrame>
        <p:nvGraphicFramePr>
          <p:cNvPr id="9" name="Table 8"/>
          <p:cNvGraphicFramePr>
            <a:graphicFrameLocks noGrp="1"/>
          </p:cNvGraphicFramePr>
          <p:nvPr/>
        </p:nvGraphicFramePr>
        <p:xfrm>
          <a:off x="658368" y="1700784"/>
          <a:ext cx="10874959" cy="1559052"/>
        </p:xfrm>
        <a:graphic>
          <a:graphicData uri="http://schemas.openxmlformats.org/drawingml/2006/table">
            <a:tbl>
              <a:tblPr>
                <a:tableStyleId>{5C22544A-7EE6-4342-B048-85BDC9FD1C3A}</a:tableStyleId>
              </a:tblPr>
              <a:tblGrid>
                <a:gridCol w="4572000"/>
                <a:gridCol w="1554480"/>
                <a:gridCol w="4748479"/>
              </a:tblGrid>
              <a:tr h="365760">
                <a:tc>
                  <a:txBody>
                    <a:bodyPr wrap="square"/>
                    <a:lstStyle/>
                    <a:p>
                      <a:r>
                        <a:rPr sz="1150" b="1">
                          <a:solidFill>
                            <a:srgbClr val="FFFFFF"/>
                          </a:solidFill>
                          <a:latin typeface="Segoe UI"/>
                        </a:rPr>
                        <a:t>Pre-registered criterion</a:t>
                      </a:r>
                    </a:p>
                  </a:txBody>
                  <a:tcPr anchor="ctr" marL="91440" marR="91440">
                    <a:solidFill>
                      <a:srgbClr val="123045"/>
                    </a:solidFill>
                  </a:tcPr>
                </a:tc>
                <a:tc>
                  <a:txBody>
                    <a:bodyPr wrap="square"/>
                    <a:lstStyle/>
                    <a:p>
                      <a:r>
                        <a:rPr sz="1150" b="1">
                          <a:solidFill>
                            <a:srgbClr val="FFFFFF"/>
                          </a:solidFill>
                          <a:latin typeface="Segoe UI"/>
                        </a:rPr>
                        <a:t>Threshold</a:t>
                      </a:r>
                    </a:p>
                  </a:txBody>
                  <a:tcPr anchor="ctr" marL="91440" marR="91440">
                    <a:solidFill>
                      <a:srgbClr val="123045"/>
                    </a:solidFill>
                  </a:tcPr>
                </a:tc>
                <a:tc>
                  <a:txBody>
                    <a:bodyPr wrap="square"/>
                    <a:lstStyle/>
                    <a:p>
                      <a:r>
                        <a:rPr sz="1150" b="1">
                          <a:solidFill>
                            <a:srgbClr val="FFFFFF"/>
                          </a:solidFill>
                          <a:latin typeface="Segoe UI"/>
                        </a:rPr>
                        <a:t>Why this bar</a:t>
                      </a:r>
                    </a:p>
                  </a:txBody>
                  <a:tcPr anchor="ctr" marL="91440" marR="91440">
                    <a:solidFill>
                      <a:srgbClr val="123045"/>
                    </a:solidFill>
                  </a:tcPr>
                </a:tc>
              </a:tr>
              <a:tr h="397764">
                <a:tc>
                  <a:txBody>
                    <a:bodyPr wrap="square"/>
                    <a:lstStyle/>
                    <a:p>
                      <a:r>
                        <a:rPr sz="1150" b="0">
                          <a:solidFill>
                            <a:srgbClr val="0D1F2D"/>
                          </a:solidFill>
                          <a:latin typeface="Segoe UI"/>
                        </a:rPr>
                        <a:t>Effect size, Cohen's d (poison vs control)</a:t>
                      </a:r>
                    </a:p>
                  </a:txBody>
                  <a:tcPr anchor="ctr" marL="91440" marR="91440">
                    <a:solidFill>
                      <a:srgbClr val="E7F4EC"/>
                    </a:solidFill>
                  </a:tcPr>
                </a:tc>
                <a:tc>
                  <a:txBody>
                    <a:bodyPr wrap="square"/>
                    <a:lstStyle/>
                    <a:p>
                      <a:r>
                        <a:rPr sz="1150" b="1">
                          <a:solidFill>
                            <a:srgbClr val="0D1F2D"/>
                          </a:solidFill>
                          <a:latin typeface="Segoe UI"/>
                        </a:rPr>
                        <a:t>≥ 0.80</a:t>
                      </a:r>
                    </a:p>
                  </a:txBody>
                  <a:tcPr anchor="ctr" marL="91440" marR="91440">
                    <a:solidFill>
                      <a:srgbClr val="E7F4EC"/>
                    </a:solidFill>
                  </a:tcPr>
                </a:tc>
                <a:tc>
                  <a:txBody>
                    <a:bodyPr wrap="square"/>
                    <a:lstStyle/>
                    <a:p>
                      <a:r>
                        <a:rPr sz="1100" b="0">
                          <a:solidFill>
                            <a:srgbClr val="5C6B78"/>
                          </a:solidFill>
                          <a:latin typeface="Segoe UI"/>
                        </a:rPr>
                        <a:t>Conventional “large”; must separate clearly from seed noise</a:t>
                      </a:r>
                    </a:p>
                  </a:txBody>
                  <a:tcPr anchor="ctr" marL="91440" marR="91440">
                    <a:solidFill>
                      <a:srgbClr val="E7F4EC"/>
                    </a:solidFill>
                  </a:tcPr>
                </a:tc>
              </a:tr>
              <a:tr h="397764">
                <a:tc>
                  <a:txBody>
                    <a:bodyPr wrap="square"/>
                    <a:lstStyle/>
                    <a:p>
                      <a:r>
                        <a:rPr sz="1150" b="0">
                          <a:solidFill>
                            <a:srgbClr val="0D1F2D"/>
                          </a:solidFill>
                          <a:latin typeface="Segoe UI"/>
                        </a:rPr>
                        <a:t>Relative benign degradation</a:t>
                      </a:r>
                    </a:p>
                  </a:txBody>
                  <a:tcPr anchor="ctr" marL="91440" marR="91440">
                    <a:solidFill>
                      <a:srgbClr val="E7F4EC"/>
                    </a:solidFill>
                  </a:tcPr>
                </a:tc>
                <a:tc>
                  <a:txBody>
                    <a:bodyPr wrap="square"/>
                    <a:lstStyle/>
                    <a:p>
                      <a:r>
                        <a:rPr sz="1150" b="1">
                          <a:solidFill>
                            <a:srgbClr val="0D1F2D"/>
                          </a:solidFill>
                          <a:latin typeface="Segoe UI"/>
                        </a:rPr>
                        <a:t>≥ 10%</a:t>
                      </a:r>
                    </a:p>
                  </a:txBody>
                  <a:tcPr anchor="ctr" marL="91440" marR="91440">
                    <a:solidFill>
                      <a:srgbClr val="E7F4EC"/>
                    </a:solidFill>
                  </a:tcPr>
                </a:tc>
                <a:tc>
                  <a:txBody>
                    <a:bodyPr wrap="square"/>
                    <a:lstStyle/>
                    <a:p>
                      <a:r>
                        <a:rPr sz="1100" b="0">
                          <a:solidFill>
                            <a:srgbClr val="5C6B78"/>
                          </a:solidFill>
                          <a:latin typeface="Segoe UI"/>
                        </a:rPr>
                        <a:t>Below this the harm is real but trivial, and motivates no defense</a:t>
                      </a:r>
                    </a:p>
                  </a:txBody>
                  <a:tcPr anchor="ctr" marL="91440" marR="91440">
                    <a:solidFill>
                      <a:srgbClr val="E7F4EC"/>
                    </a:solidFill>
                  </a:tcPr>
                </a:tc>
              </a:tr>
              <a:tr h="397764">
                <a:tc>
                  <a:txBody>
                    <a:bodyPr wrap="square"/>
                    <a:lstStyle/>
                    <a:p>
                      <a:r>
                        <a:rPr sz="1150" b="0">
                          <a:solidFill>
                            <a:srgbClr val="0D1F2D"/>
                          </a:solidFill>
                          <a:latin typeface="Segoe UI"/>
                        </a:rPr>
                        <a:t>Fluency ratio under an independent model</a:t>
                      </a:r>
                    </a:p>
                  </a:txBody>
                  <a:tcPr anchor="ctr" marL="91440" marR="91440">
                    <a:solidFill>
                      <a:srgbClr val="E7F4EC"/>
                    </a:solidFill>
                  </a:tcPr>
                </a:tc>
                <a:tc>
                  <a:txBody>
                    <a:bodyPr wrap="square"/>
                    <a:lstStyle/>
                    <a:p>
                      <a:r>
                        <a:rPr sz="1150" b="1">
                          <a:solidFill>
                            <a:srgbClr val="0D1F2D"/>
                          </a:solidFill>
                          <a:latin typeface="Segoe UI"/>
                        </a:rPr>
                        <a:t>≤ 1.50</a:t>
                      </a:r>
                    </a:p>
                  </a:txBody>
                  <a:tcPr anchor="ctr" marL="91440" marR="91440">
                    <a:solidFill>
                      <a:srgbClr val="E7F4EC"/>
                    </a:solidFill>
                  </a:tcPr>
                </a:tc>
                <a:tc>
                  <a:txBody>
                    <a:bodyPr wrap="square"/>
                    <a:lstStyle/>
                    <a:p>
                      <a:r>
                        <a:rPr sz="1100" b="0">
                          <a:solidFill>
                            <a:srgbClr val="5C6B78"/>
                          </a:solidFill>
                          <a:latin typeface="Segoe UI"/>
                        </a:rPr>
                        <a:t>Above this the stream is not benign-looking and fails the threat model</a:t>
                      </a:r>
                    </a:p>
                  </a:txBody>
                  <a:tcPr anchor="ctr" marL="91440" marR="91440">
                    <a:solidFill>
                      <a:srgbClr val="E7F4EC"/>
                    </a:solidFill>
                  </a:tcPr>
                </a:tc>
              </a:tr>
            </a:tbl>
          </a:graphicData>
        </a:graphic>
      </p:graphicFrame>
      <p:sp>
        <p:nvSpPr>
          <p:cNvPr id="10" name="Rectangle 9"/>
          <p:cNvSpPr/>
          <p:nvPr/>
        </p:nvSpPr>
        <p:spPr>
          <a:xfrm>
            <a:off x="658368" y="3429000"/>
            <a:ext cx="10874959" cy="1005840"/>
          </a:xfrm>
          <a:prstGeom prst="rect">
            <a:avLst/>
          </a:prstGeom>
          <a:solidFill>
            <a:srgbClr val="E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429000"/>
            <a:ext cx="45720" cy="100584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557016"/>
            <a:ext cx="10372039" cy="768096"/>
          </a:xfrm>
          <a:prstGeom prst="rect">
            <a:avLst/>
          </a:prstGeom>
          <a:noFill/>
        </p:spPr>
        <p:txBody>
          <a:bodyPr wrap="square" anchor="t" lIns="0" rIns="0" tIns="0" bIns="0">
            <a:spAutoFit/>
          </a:bodyPr>
          <a:lstStyle/>
          <a:p>
            <a:pPr>
              <a:spcAft>
                <a:spcPts val="400"/>
              </a:spcAft>
            </a:pPr>
            <a:r>
              <a:rPr sz="1150" b="1">
                <a:solidFill>
                  <a:srgbClr val="0E9F94"/>
                </a:solidFill>
                <a:latin typeface="Segoe UI"/>
              </a:rPr>
              <a:t>All three are required — not any of them</a:t>
            </a:r>
          </a:p>
          <a:p>
            <a:pPr>
              <a:spcAft>
                <a:spcPts val="0"/>
              </a:spcAft>
            </a:pPr>
            <a:r>
              <a:rPr sz="1150" b="0">
                <a:solidFill>
                  <a:srgbClr val="0D1F2D"/>
                </a:solidFill>
                <a:latin typeface="Segoe UI"/>
              </a:rPr>
              <a:t>Missing one means STOP, or a dated and reasoned revision of the frozen document. Dossier §7: no demonstrated benign-looking attack means there is no defense worth building, and the paper reports that outcome either way.</a:t>
            </a:r>
          </a:p>
        </p:txBody>
      </p:sp>
      <p:sp>
        <p:nvSpPr>
          <p:cNvPr id="13" name="TextBox 12"/>
          <p:cNvSpPr txBox="1"/>
          <p:nvPr/>
        </p:nvSpPr>
        <p:spPr>
          <a:xfrm>
            <a:off x="658368" y="4663440"/>
            <a:ext cx="10874959" cy="822960"/>
          </a:xfrm>
          <a:prstGeom prst="rect">
            <a:avLst/>
          </a:prstGeom>
          <a:noFill/>
        </p:spPr>
        <p:txBody>
          <a:bodyPr wrap="square" anchor="t" lIns="0" rIns="0" tIns="0" bIns="0">
            <a:spAutoFit/>
          </a:bodyPr>
          <a:lstStyle/>
          <a:p>
            <a:r>
              <a:rPr sz="1500" b="1">
                <a:solidFill>
                  <a:srgbClr val="123045"/>
                </a:solidFill>
                <a:latin typeface="Segoe UI"/>
              </a:rPr>
              <a:t>Newly mechanised.  </a:t>
            </a:r>
            <a:r>
              <a:rPr sz="1500" b="0">
                <a:solidFill>
                  <a:srgbClr val="0D1F2D"/>
                </a:solidFill>
                <a:latin typeface="Segoe UI"/>
              </a:rPr>
              <a:t>The thresholds now live in code with a test that parses the frozen document and asserts equality — a bar cannot move without CI going red, and the review protocol gained a rule making the parser itself reviewable as a bar.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Phase 0.4 — de-risking the first booking for $0</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Seven desk deliverables, all completed before any hardware existed</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9</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$0</a:t>
            </a:r>
          </a:p>
        </p:txBody>
      </p:sp>
      <p:sp>
        <p:nvSpPr>
          <p:cNvPr id="11" name="TextBox 10"/>
          <p:cNvSpPr txBox="1"/>
          <p:nvPr/>
        </p:nvSpPr>
        <p:spPr>
          <a:xfrm>
            <a:off x="2231136"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spent to date</a:t>
            </a:r>
          </a:p>
          <a:p>
            <a:pPr>
              <a:spcAft>
                <a:spcPts val="0"/>
              </a:spcAft>
            </a:pPr>
            <a:r>
              <a:rPr sz="1050" b="0">
                <a:solidFill>
                  <a:srgbClr val="8A97A2"/>
                </a:solidFill>
                <a:latin typeface="Segoe UI"/>
              </a:rPr>
              <a:t>against a written $325 cap</a:t>
            </a:r>
          </a:p>
        </p:txBody>
      </p:sp>
      <p:sp>
        <p:nvSpPr>
          <p:cNvPr id="12" name="Rectangle 11"/>
          <p:cNvSpPr/>
          <p:nvPr/>
        </p:nvSpPr>
        <p:spPr>
          <a:xfrm>
            <a:off x="4187952"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7</a:t>
            </a:r>
          </a:p>
        </p:txBody>
      </p:sp>
      <p:sp>
        <p:nvSpPr>
          <p:cNvPr id="14" name="TextBox 13"/>
          <p:cNvSpPr txBox="1"/>
          <p:nvPr/>
        </p:nvSpPr>
        <p:spPr>
          <a:xfrm>
            <a:off x="5760720"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deliverables complete</a:t>
            </a:r>
          </a:p>
          <a:p>
            <a:pPr>
              <a:spcAft>
                <a:spcPts val="0"/>
              </a:spcAft>
            </a:pPr>
            <a:r>
              <a:rPr sz="1050" b="0">
                <a:solidFill>
                  <a:srgbClr val="8A97A2"/>
                </a:solidFill>
                <a:latin typeface="Segoe UI"/>
              </a:rPr>
              <a:t>exact command to cost model</a:t>
            </a:r>
          </a:p>
        </p:txBody>
      </p:sp>
      <p:sp>
        <p:nvSpPr>
          <p:cNvPr id="15" name="Rectangle 14"/>
          <p:cNvSpPr/>
          <p:nvPr/>
        </p:nvSpPr>
        <p:spPr>
          <a:xfrm>
            <a:off x="7717536"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91856"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3</a:t>
            </a:r>
          </a:p>
        </p:txBody>
      </p:sp>
      <p:sp>
        <p:nvSpPr>
          <p:cNvPr id="17" name="TextBox 16"/>
          <p:cNvSpPr txBox="1"/>
          <p:nvPr/>
        </p:nvSpPr>
        <p:spPr>
          <a:xfrm>
            <a:off x="9290304"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findings that changed the plan</a:t>
            </a:r>
          </a:p>
          <a:p>
            <a:pPr>
              <a:spcAft>
                <a:spcPts val="0"/>
              </a:spcAft>
            </a:pPr>
            <a:r>
              <a:rPr sz="1050" b="0">
                <a:solidFill>
                  <a:srgbClr val="8A97A2"/>
                </a:solidFill>
                <a:latin typeface="Segoe UI"/>
              </a:rPr>
              <a:t>each one free to discover</a:t>
            </a:r>
          </a:p>
        </p:txBody>
      </p:sp>
      <p:graphicFrame>
        <p:nvGraphicFramePr>
          <p:cNvPr id="18" name="Table 17"/>
          <p:cNvGraphicFramePr>
            <a:graphicFrameLocks noGrp="1"/>
          </p:cNvGraphicFramePr>
          <p:nvPr/>
        </p:nvGraphicFramePr>
        <p:xfrm>
          <a:off x="658368" y="3017520"/>
          <a:ext cx="10874959" cy="1559052"/>
        </p:xfrm>
        <a:graphic>
          <a:graphicData uri="http://schemas.openxmlformats.org/drawingml/2006/table">
            <a:tbl>
              <a:tblPr>
                <a:tableStyleId>{5C22544A-7EE6-4342-B048-85BDC9FD1C3A}</a:tableStyleId>
              </a:tblPr>
              <a:tblGrid>
                <a:gridCol w="3566160"/>
                <a:gridCol w="3931920"/>
                <a:gridCol w="3376879"/>
              </a:tblGrid>
              <a:tr h="365760">
                <a:tc>
                  <a:txBody>
                    <a:bodyPr wrap="square"/>
                    <a:lstStyle/>
                    <a:p>
                      <a:r>
                        <a:rPr sz="1150" b="1">
                          <a:solidFill>
                            <a:srgbClr val="FFFFFF"/>
                          </a:solidFill>
                          <a:latin typeface="Segoe UI"/>
                        </a:rPr>
                        <a:t>What we expected</a:t>
                      </a:r>
                    </a:p>
                  </a:txBody>
                  <a:tcPr anchor="ctr" marL="91440" marR="91440">
                    <a:solidFill>
                      <a:srgbClr val="123045"/>
                    </a:solidFill>
                  </a:tcPr>
                </a:tc>
                <a:tc>
                  <a:txBody>
                    <a:bodyPr wrap="square"/>
                    <a:lstStyle/>
                    <a:p>
                      <a:r>
                        <a:rPr sz="1150" b="1">
                          <a:solidFill>
                            <a:srgbClr val="FFFFFF"/>
                          </a:solidFill>
                          <a:latin typeface="Segoe UI"/>
                        </a:rPr>
                        <a:t>What we found</a:t>
                      </a:r>
                    </a:p>
                  </a:txBody>
                  <a:tcPr anchor="ctr" marL="91440" marR="91440">
                    <a:solidFill>
                      <a:srgbClr val="123045"/>
                    </a:solidFill>
                  </a:tcPr>
                </a:tc>
                <a:tc>
                  <a:txBody>
                    <a:bodyPr wrap="square"/>
                    <a:lstStyle/>
                    <a:p>
                      <a:r>
                        <a:rPr sz="1150" b="1">
                          <a:solidFill>
                            <a:srgbClr val="FFFFFF"/>
                          </a:solidFill>
                          <a:latin typeface="Segoe UI"/>
                        </a:rPr>
                        <a:t>What it would have cost</a:t>
                      </a:r>
                    </a:p>
                  </a:txBody>
                  <a:tcPr anchor="ctr" marL="91440" marR="91440">
                    <a:solidFill>
                      <a:srgbClr val="123045"/>
                    </a:solidFill>
                  </a:tcPr>
                </a:tc>
              </a:tr>
              <a:tr h="397764">
                <a:tc>
                  <a:txBody>
                    <a:bodyPr wrap="square"/>
                    <a:lstStyle/>
                    <a:p>
                      <a:r>
                        <a:rPr sz="1150" b="0">
                          <a:solidFill>
                            <a:srgbClr val="0D1F2D"/>
                          </a:solidFill>
                          <a:latin typeface="Segoe UI"/>
                        </a:rPr>
                        <a:t>“Match the paper's published number”</a:t>
                      </a:r>
                    </a:p>
                  </a:txBody>
                  <a:tcPr anchor="ctr" marL="91440" marR="91440">
                    <a:solidFill>
                      <a:srgbClr val="FDF1DF"/>
                    </a:solidFill>
                  </a:tcPr>
                </a:tc>
                <a:tc>
                  <a:txBody>
                    <a:bodyPr wrap="square"/>
                    <a:lstStyle/>
                    <a:p>
                      <a:r>
                        <a:rPr sz="1100" b="1">
                          <a:solidFill>
                            <a:srgbClr val="B45309"/>
                          </a:solidFill>
                          <a:latin typeface="Segoe UI"/>
                        </a:rPr>
                        <a:t>The paper reports NO number for our checkpoint</a:t>
                      </a:r>
                    </a:p>
                  </a:txBody>
                  <a:tcPr anchor="ctr" marL="91440" marR="91440">
                    <a:solidFill>
                      <a:srgbClr val="FDF1DF"/>
                    </a:solidFill>
                  </a:tcPr>
                </a:tc>
                <a:tc>
                  <a:txBody>
                    <a:bodyPr wrap="square"/>
                    <a:lstStyle/>
                    <a:p>
                      <a:r>
                        <a:rPr sz="1100" b="0">
                          <a:solidFill>
                            <a:srgbClr val="5C6B78"/>
                          </a:solidFill>
                          <a:latin typeface="Segoe UI"/>
                        </a:rPr>
                        <a:t>A meaningless PASS, or a manufactured FAIL</a:t>
                      </a:r>
                    </a:p>
                  </a:txBody>
                  <a:tcPr anchor="ctr" marL="91440" marR="91440">
                    <a:solidFill>
                      <a:srgbClr val="FDF1DF"/>
                    </a:solidFill>
                  </a:tcPr>
                </a:tc>
              </a:tr>
              <a:tr h="397764">
                <a:tc>
                  <a:txBody>
                    <a:bodyPr wrap="square"/>
                    <a:lstStyle/>
                    <a:p>
                      <a:r>
                        <a:rPr sz="1150" b="0">
                          <a:solidFill>
                            <a:srgbClr val="0D1F2D"/>
                          </a:solidFill>
                          <a:latin typeface="Segoe UI"/>
                        </a:rPr>
                        <a:t>Copying only /val is enough</a:t>
                      </a:r>
                    </a:p>
                  </a:txBody>
                  <a:tcPr anchor="ctr" marL="91440" marR="91440">
                    <a:solidFill>
                      <a:srgbClr val="FBECEC"/>
                    </a:solidFill>
                  </a:tcPr>
                </a:tc>
                <a:tc>
                  <a:txBody>
                    <a:bodyPr wrap="square"/>
                    <a:lstStyle/>
                    <a:p>
                      <a:r>
                        <a:rPr sz="1100" b="1">
                          <a:solidFill>
                            <a:srgbClr val="A82C2C"/>
                          </a:solidFill>
                          <a:latin typeface="Segoe UI"/>
                        </a:rPr>
                        <a:t>The job CRASHES after billing starts without one more file</a:t>
                      </a:r>
                    </a:p>
                  </a:txBody>
                  <a:tcPr anchor="ctr" marL="91440" marR="91440">
                    <a:solidFill>
                      <a:srgbClr val="FBECEC"/>
                    </a:solidFill>
                  </a:tcPr>
                </a:tc>
                <a:tc>
                  <a:txBody>
                    <a:bodyPr wrap="square"/>
                    <a:lstStyle/>
                    <a:p>
                      <a:r>
                        <a:rPr sz="1100" b="0">
                          <a:solidFill>
                            <a:srgbClr val="5C6B78"/>
                          </a:solidFill>
                          <a:latin typeface="Segoe UI"/>
                        </a:rPr>
                        <a:t>A dead run, paid for, diagnosed on the clock</a:t>
                      </a:r>
                    </a:p>
                  </a:txBody>
                  <a:tcPr anchor="ctr" marL="91440" marR="91440">
                    <a:solidFill>
                      <a:srgbClr val="FBECEC"/>
                    </a:solidFill>
                  </a:tcPr>
                </a:tc>
              </a:tr>
              <a:tr h="397764">
                <a:tc>
                  <a:txBody>
                    <a:bodyPr wrap="square"/>
                    <a:lstStyle/>
                    <a:p>
                      <a:r>
                        <a:rPr sz="1150" b="0">
                          <a:solidFill>
                            <a:srgbClr val="0D1F2D"/>
                          </a:solidFill>
                          <a:latin typeface="Segoe UI"/>
                        </a:rPr>
                        <a:t>The 3B/128K run is roughly 2× the 1B</a:t>
                      </a:r>
                    </a:p>
                  </a:txBody>
                  <a:tcPr anchor="ctr" marL="91440" marR="91440">
                    <a:solidFill>
                      <a:srgbClr val="FDF1DF"/>
                    </a:solidFill>
                  </a:tcPr>
                </a:tc>
                <a:tc>
                  <a:txBody>
                    <a:bodyPr wrap="square"/>
                    <a:lstStyle/>
                    <a:p>
                      <a:r>
                        <a:rPr sz="1100" b="1">
                          <a:solidFill>
                            <a:srgbClr val="B45309"/>
                          </a:solidFill>
                          <a:latin typeface="Segoe UI"/>
                        </a:rPr>
                        <a:t>It is ~10× — activations force a multi-GPU node</a:t>
                      </a:r>
                    </a:p>
                  </a:txBody>
                  <a:tcPr anchor="ctr" marL="91440" marR="91440">
                    <a:solidFill>
                      <a:srgbClr val="FDF1DF"/>
                    </a:solidFill>
                  </a:tcPr>
                </a:tc>
                <a:tc>
                  <a:txBody>
                    <a:bodyPr wrap="square"/>
                    <a:lstStyle/>
                    <a:p>
                      <a:r>
                        <a:rPr sz="1100" b="0">
                          <a:solidFill>
                            <a:srgbClr val="5C6B78"/>
                          </a:solidFill>
                          <a:latin typeface="Segoe UI"/>
                        </a:rPr>
                        <a:t>A budget overrun on the first booking</a:t>
                      </a:r>
                    </a:p>
                  </a:txBody>
                  <a:tcPr anchor="ctr" marL="91440" marR="91440">
                    <a:solidFill>
                      <a:srgbClr val="FDF1DF"/>
                    </a:solidFill>
                  </a:tcPr>
                </a:tc>
              </a:tr>
            </a:tbl>
          </a:graphicData>
        </a:graphic>
      </p:graphicFrame>
      <p:sp>
        <p:nvSpPr>
          <p:cNvPr id="19" name="TextBox 18"/>
          <p:cNvSpPr txBox="1"/>
          <p:nvPr/>
        </p:nvSpPr>
        <p:spPr>
          <a:xfrm>
            <a:off x="658368" y="4892040"/>
            <a:ext cx="10874959" cy="822960"/>
          </a:xfrm>
          <a:prstGeom prst="rect">
            <a:avLst/>
          </a:prstGeom>
          <a:noFill/>
        </p:spPr>
        <p:txBody>
          <a:bodyPr wrap="square" anchor="t" lIns="0" rIns="0" tIns="0" bIns="0">
            <a:spAutoFit/>
          </a:bodyPr>
          <a:lstStyle/>
          <a:p>
            <a:r>
              <a:rPr sz="1500" b="1">
                <a:solidFill>
                  <a:srgbClr val="123045"/>
                </a:solidFill>
                <a:latin typeface="Segoe UI"/>
              </a:rPr>
              <a:t>The bar became a bracket.  </a:t>
            </a:r>
            <a:r>
              <a:rPr sz="1500" b="0">
                <a:solidFill>
                  <a:srgbClr val="0D1F2D"/>
                </a:solidFill>
                <a:latin typeface="Segoe UI"/>
              </a:rPr>
              <a:t>Since no published number exists for this checkpoint, the baseline is a two-sided band plus four structural checks — recorded as ADR-005, before any run.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Phase 1 — the experiment, built and tested on CPU</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Everything below runs with no GPU, no checkpoint and no network</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10</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197</a:t>
            </a:r>
          </a:p>
        </p:txBody>
      </p:sp>
      <p:sp>
        <p:nvSpPr>
          <p:cNvPr id="11" name="TextBox 10"/>
          <p:cNvSpPr txBox="1"/>
          <p:nvPr/>
        </p:nvSpPr>
        <p:spPr>
          <a:xfrm>
            <a:off x="2231136"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tests passing</a:t>
            </a:r>
          </a:p>
          <a:p>
            <a:pPr>
              <a:spcAft>
                <a:spcPts val="0"/>
              </a:spcAft>
            </a:pPr>
            <a:r>
              <a:rPr sz="1050" b="0">
                <a:solidFill>
                  <a:srgbClr val="8A97A2"/>
                </a:solidFill>
                <a:latin typeface="Segoe UI"/>
              </a:rPr>
              <a:t>31 before this period</a:t>
            </a:r>
          </a:p>
        </p:txBody>
      </p:sp>
      <p:sp>
        <p:nvSpPr>
          <p:cNvPr id="12" name="Rectangle 11"/>
          <p:cNvSpPr/>
          <p:nvPr/>
        </p:nvSpPr>
        <p:spPr>
          <a:xfrm>
            <a:off x="4187952"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10</a:t>
            </a:r>
          </a:p>
        </p:txBody>
      </p:sp>
      <p:sp>
        <p:nvSpPr>
          <p:cNvPr id="14" name="TextBox 13"/>
          <p:cNvSpPr txBox="1"/>
          <p:nvPr/>
        </p:nvSpPr>
        <p:spPr>
          <a:xfrm>
            <a:off x="5760720"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stubs remaining</a:t>
            </a:r>
          </a:p>
          <a:p>
            <a:pPr>
              <a:spcAft>
                <a:spcPts val="0"/>
              </a:spcAft>
            </a:pPr>
            <a:r>
              <a:rPr sz="1050" b="0">
                <a:solidFill>
                  <a:srgbClr val="8A97A2"/>
                </a:solidFill>
                <a:latin typeface="Segoe UI"/>
              </a:rPr>
              <a:t>from 15; five are Phase 2 gate code</a:t>
            </a:r>
          </a:p>
        </p:txBody>
      </p:sp>
      <p:sp>
        <p:nvSpPr>
          <p:cNvPr id="15" name="Rectangle 14"/>
          <p:cNvSpPr/>
          <p:nvPr/>
        </p:nvSpPr>
        <p:spPr>
          <a:xfrm>
            <a:off x="7717536"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91856"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9</a:t>
            </a:r>
          </a:p>
        </p:txBody>
      </p:sp>
      <p:sp>
        <p:nvSpPr>
          <p:cNvPr id="17" name="TextBox 16"/>
          <p:cNvSpPr txBox="1"/>
          <p:nvPr/>
        </p:nvSpPr>
        <p:spPr>
          <a:xfrm>
            <a:off x="9290304"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branches merged</a:t>
            </a:r>
          </a:p>
          <a:p>
            <a:pPr>
              <a:spcAft>
                <a:spcPts val="0"/>
              </a:spcAft>
            </a:pPr>
            <a:r>
              <a:rPr sz="1050" b="0">
                <a:solidFill>
                  <a:srgbClr val="8A97A2"/>
                </a:solidFill>
                <a:latin typeface="Segoe UI"/>
              </a:rPr>
              <a:t>two reviewed pull requests</a:t>
            </a:r>
          </a:p>
        </p:txBody>
      </p:sp>
      <p:graphicFrame>
        <p:nvGraphicFramePr>
          <p:cNvPr id="18" name="Table 17"/>
          <p:cNvGraphicFramePr>
            <a:graphicFrameLocks noGrp="1"/>
          </p:cNvGraphicFramePr>
          <p:nvPr/>
        </p:nvGraphicFramePr>
        <p:xfrm>
          <a:off x="658368" y="3017520"/>
          <a:ext cx="10874959" cy="2752344"/>
        </p:xfrm>
        <a:graphic>
          <a:graphicData uri="http://schemas.openxmlformats.org/drawingml/2006/table">
            <a:tbl>
              <a:tblPr>
                <a:tableStyleId>{5C22544A-7EE6-4342-B048-85BDC9FD1C3A}</a:tableStyleId>
              </a:tblPr>
              <a:tblGrid>
                <a:gridCol w="4206240"/>
                <a:gridCol w="1280160"/>
                <a:gridCol w="5388559"/>
              </a:tblGrid>
              <a:tr h="365760">
                <a:tc>
                  <a:txBody>
                    <a:bodyPr wrap="square"/>
                    <a:lstStyle/>
                    <a:p>
                      <a:r>
                        <a:rPr sz="1150" b="1">
                          <a:solidFill>
                            <a:srgbClr val="FFFFFF"/>
                          </a:solidFill>
                          <a:latin typeface="Segoe UI"/>
                        </a:rPr>
                        <a:t>Component</a:t>
                      </a:r>
                    </a:p>
                  </a:txBody>
                  <a:tcPr anchor="ctr" marL="91440" marR="91440">
                    <a:solidFill>
                      <a:srgbClr val="123045"/>
                    </a:solidFill>
                  </a:tcPr>
                </a:tc>
                <a:tc>
                  <a:txBody>
                    <a:bodyPr wrap="square"/>
                    <a:lstStyle/>
                    <a:p>
                      <a:r>
                        <a:rPr sz="1150" b="1">
                          <a:solidFill>
                            <a:srgbClr val="FFFFFF"/>
                          </a:solidFill>
                          <a:latin typeface="Segoe UI"/>
                        </a:rPr>
                        <a:t>State</a:t>
                      </a:r>
                    </a:p>
                  </a:txBody>
                  <a:tcPr anchor="ctr" marL="91440" marR="91440">
                    <a:solidFill>
                      <a:srgbClr val="123045"/>
                    </a:solidFill>
                  </a:tcPr>
                </a:tc>
                <a:tc>
                  <a:txBody>
                    <a:bodyPr wrap="square"/>
                    <a:lstStyle/>
                    <a:p>
                      <a:r>
                        <a:rPr sz="1150" b="1">
                          <a:solidFill>
                            <a:srgbClr val="FFFFFF"/>
                          </a:solidFill>
                          <a:latin typeface="Segoe UI"/>
                        </a:rPr>
                        <a:t>What its tests actually pin</a:t>
                      </a:r>
                    </a:p>
                  </a:txBody>
                  <a:tcPr anchor="ctr" marL="91440" marR="91440">
                    <a:solidFill>
                      <a:srgbClr val="123045"/>
                    </a:solidFill>
                  </a:tcPr>
                </a:tc>
              </a:tr>
              <a:tr h="397764">
                <a:tc>
                  <a:txBody>
                    <a:bodyPr wrap="square"/>
                    <a:lstStyle/>
                    <a:p>
                      <a:r>
                        <a:rPr sz="1150" b="0">
                          <a:solidFill>
                            <a:srgbClr val="0D1F2D"/>
                          </a:solidFill>
                          <a:latin typeface="Segoe UI"/>
                        </a:rPr>
                        <a:t>Fast-weight carry across chunks and sequences</a:t>
                      </a:r>
                    </a:p>
                  </a:txBody>
                  <a:tcPr anchor="ctr" marL="91440" marR="91440">
                    <a:solidFill>
                      <a:srgbClr val="E7F4EC"/>
                    </a:solidFill>
                  </a:tcPr>
                </a:tc>
                <a:tc>
                  <a:txBody>
                    <a:bodyPr wrap="square"/>
                    <a:lstStyle/>
                    <a:p>
                      <a:r>
                        <a:rPr sz="1050" b="1">
                          <a:solidFill>
                            <a:srgbClr val="157A4A"/>
                          </a:solidFill>
                          <a:latin typeface="Segoe UI"/>
                        </a:rPr>
                        <a:t>BUILT</a:t>
                      </a:r>
                    </a:p>
                  </a:txBody>
                  <a:tcPr anchor="ctr" marL="91440" marR="91440">
                    <a:solidFill>
                      <a:srgbClr val="E7F4EC"/>
                    </a:solidFill>
                  </a:tcPr>
                </a:tc>
                <a:tc>
                  <a:txBody>
                    <a:bodyPr wrap="square"/>
                    <a:lstStyle/>
                    <a:p>
                      <a:r>
                        <a:rPr sz="1100" b="0">
                          <a:solidFill>
                            <a:srgbClr val="5C6B78"/>
                          </a:solidFill>
                          <a:latin typeface="Segoe UI"/>
                        </a:rPr>
                        <a:t>Step k receives step k-1's output, not the initial weights</a:t>
                      </a:r>
                    </a:p>
                  </a:txBody>
                  <a:tcPr anchor="ctr" marL="91440" marR="91440">
                    <a:solidFill>
                      <a:srgbClr val="E7F4EC"/>
                    </a:solidFill>
                  </a:tcPr>
                </a:tc>
              </a:tr>
              <a:tr h="397764">
                <a:tc>
                  <a:txBody>
                    <a:bodyPr wrap="square"/>
                    <a:lstStyle/>
                    <a:p>
                      <a:r>
                        <a:rPr sz="1150" b="0">
                          <a:solidFill>
                            <a:srgbClr val="0D1F2D"/>
                          </a:solidFill>
                          <a:latin typeface="Segoe UI"/>
                        </a:rPr>
                        <a:t>Attack objectives (DEGRADE, TRIGGER)</a:t>
                      </a:r>
                    </a:p>
                  </a:txBody>
                  <a:tcPr anchor="ctr" marL="91440" marR="91440">
                    <a:solidFill>
                      <a:srgbClr val="E7F4EC"/>
                    </a:solidFill>
                  </a:tcPr>
                </a:tc>
                <a:tc>
                  <a:txBody>
                    <a:bodyPr wrap="square"/>
                    <a:lstStyle/>
                    <a:p>
                      <a:r>
                        <a:rPr sz="1050" b="1">
                          <a:solidFill>
                            <a:srgbClr val="157A4A"/>
                          </a:solidFill>
                          <a:latin typeface="Segoe UI"/>
                        </a:rPr>
                        <a:t>BUILT</a:t>
                      </a:r>
                    </a:p>
                  </a:txBody>
                  <a:tcPr anchor="ctr" marL="91440" marR="91440">
                    <a:solidFill>
                      <a:srgbClr val="E7F4EC"/>
                    </a:solidFill>
                  </a:tcPr>
                </a:tc>
                <a:tc>
                  <a:txBody>
                    <a:bodyPr wrap="square"/>
                    <a:lstStyle/>
                    <a:p>
                      <a:r>
                        <a:rPr sz="1100" b="0">
                          <a:solidFill>
                            <a:srgbClr val="5C6B78"/>
                          </a:solidFill>
                          <a:latin typeface="Segoe UI"/>
                        </a:rPr>
                        <a:t>Equivalence to the victim's own reported cross-entropy</a:t>
                      </a:r>
                    </a:p>
                  </a:txBody>
                  <a:tcPr anchor="ctr" marL="91440" marR="91440">
                    <a:solidFill>
                      <a:srgbClr val="E7F4EC"/>
                    </a:solidFill>
                  </a:tcPr>
                </a:tc>
              </a:tr>
              <a:tr h="397764">
                <a:tc>
                  <a:txBody>
                    <a:bodyPr wrap="square"/>
                    <a:lstStyle/>
                    <a:p>
                      <a:r>
                        <a:rPr sz="1150" b="0">
                          <a:solidFill>
                            <a:srgbClr val="0D1F2D"/>
                          </a:solidFill>
                          <a:latin typeface="Segoe UI"/>
                        </a:rPr>
                        <a:t>Corpus and crafted-stream builders</a:t>
                      </a:r>
                    </a:p>
                  </a:txBody>
                  <a:tcPr anchor="ctr" marL="91440" marR="91440">
                    <a:solidFill>
                      <a:srgbClr val="E7F4EC"/>
                    </a:solidFill>
                  </a:tcPr>
                </a:tc>
                <a:tc>
                  <a:txBody>
                    <a:bodyPr wrap="square"/>
                    <a:lstStyle/>
                    <a:p>
                      <a:r>
                        <a:rPr sz="1050" b="1">
                          <a:solidFill>
                            <a:srgbClr val="157A4A"/>
                          </a:solidFill>
                          <a:latin typeface="Segoe UI"/>
                        </a:rPr>
                        <a:t>BUILT</a:t>
                      </a:r>
                    </a:p>
                  </a:txBody>
                  <a:tcPr anchor="ctr" marL="91440" marR="91440">
                    <a:solidFill>
                      <a:srgbClr val="E7F4EC"/>
                    </a:solidFill>
                  </a:tcPr>
                </a:tc>
                <a:tc>
                  <a:txBody>
                    <a:bodyPr wrap="square"/>
                    <a:lstStyle/>
                    <a:p>
                      <a:r>
                        <a:rPr sz="1100" b="0">
                          <a:solidFill>
                            <a:srgbClr val="5C6B78"/>
                          </a:solidFill>
                          <a:latin typeface="Segoe UI"/>
                        </a:rPr>
                        <a:t>Seed reproducibility; BOS-free spans; exact length match</a:t>
                      </a:r>
                    </a:p>
                  </a:txBody>
                  <a:tcPr anchor="ctr" marL="91440" marR="91440">
                    <a:solidFill>
                      <a:srgbClr val="E7F4EC"/>
                    </a:solidFill>
                  </a:tcPr>
                </a:tc>
              </a:tr>
              <a:tr h="397764">
                <a:tc>
                  <a:txBody>
                    <a:bodyPr wrap="square"/>
                    <a:lstStyle/>
                    <a:p>
                      <a:r>
                        <a:rPr sz="1150" b="0">
                          <a:solidFill>
                            <a:srgbClr val="0D1F2D"/>
                          </a:solidFill>
                          <a:latin typeface="Segoe UI"/>
                        </a:rPr>
                        <a:t>Matching discipline (13 fields)</a:t>
                      </a:r>
                    </a:p>
                  </a:txBody>
                  <a:tcPr anchor="ctr" marL="91440" marR="91440">
                    <a:solidFill>
                      <a:srgbClr val="E7F4EC"/>
                    </a:solidFill>
                  </a:tcPr>
                </a:tc>
                <a:tc>
                  <a:txBody>
                    <a:bodyPr wrap="square"/>
                    <a:lstStyle/>
                    <a:p>
                      <a:r>
                        <a:rPr sz="1050" b="1">
                          <a:solidFill>
                            <a:srgbClr val="157A4A"/>
                          </a:solidFill>
                          <a:latin typeface="Segoe UI"/>
                        </a:rPr>
                        <a:t>BUILT</a:t>
                      </a:r>
                    </a:p>
                  </a:txBody>
                  <a:tcPr anchor="ctr" marL="91440" marR="91440">
                    <a:solidFill>
                      <a:srgbClr val="E7F4EC"/>
                    </a:solidFill>
                  </a:tcPr>
                </a:tc>
                <a:tc>
                  <a:txBody>
                    <a:bodyPr wrap="square"/>
                    <a:lstStyle/>
                    <a:p>
                      <a:r>
                        <a:rPr sz="1100" b="0">
                          <a:solidFill>
                            <a:srgbClr val="5C6B78"/>
                          </a:solidFill>
                          <a:latin typeface="Segoe UI"/>
                        </a:rPr>
                        <a:t>Any single-field mismatch raises and names the field</a:t>
                      </a:r>
                    </a:p>
                  </a:txBody>
                  <a:tcPr anchor="ctr" marL="91440" marR="91440">
                    <a:solidFill>
                      <a:srgbClr val="E7F4EC"/>
                    </a:solidFill>
                  </a:tcPr>
                </a:tc>
              </a:tr>
              <a:tr h="397764">
                <a:tc>
                  <a:txBody>
                    <a:bodyPr wrap="square"/>
                    <a:lstStyle/>
                    <a:p>
                      <a:r>
                        <a:rPr sz="1150" b="0">
                          <a:solidFill>
                            <a:srgbClr val="0D1F2D"/>
                          </a:solidFill>
                          <a:latin typeface="Segoe UI"/>
                        </a:rPr>
                        <a:t>Harness CLI, verdict report, CI</a:t>
                      </a:r>
                    </a:p>
                  </a:txBody>
                  <a:tcPr anchor="ctr" marL="91440" marR="91440">
                    <a:solidFill>
                      <a:srgbClr val="E7F4EC"/>
                    </a:solidFill>
                  </a:tcPr>
                </a:tc>
                <a:tc>
                  <a:txBody>
                    <a:bodyPr wrap="square"/>
                    <a:lstStyle/>
                    <a:p>
                      <a:r>
                        <a:rPr sz="1050" b="1">
                          <a:solidFill>
                            <a:srgbClr val="157A4A"/>
                          </a:solidFill>
                          <a:latin typeface="Segoe UI"/>
                        </a:rPr>
                        <a:t>BUILT</a:t>
                      </a:r>
                    </a:p>
                  </a:txBody>
                  <a:tcPr anchor="ctr" marL="91440" marR="91440">
                    <a:solidFill>
                      <a:srgbClr val="E7F4EC"/>
                    </a:solidFill>
                  </a:tcPr>
                </a:tc>
                <a:tc>
                  <a:txBody>
                    <a:bodyPr wrap="square"/>
                    <a:lstStyle/>
                    <a:p>
                      <a:r>
                        <a:rPr sz="1100" b="0">
                          <a:solidFill>
                            <a:srgbClr val="5C6B78"/>
                          </a:solidFill>
                          <a:latin typeface="Segoe UI"/>
                        </a:rPr>
                        <a:t>End-to-end on a synthetic result; three review checks mechanised</a:t>
                      </a:r>
                    </a:p>
                  </a:txBody>
                  <a:tcPr anchor="ctr" marL="91440" marR="91440">
                    <a:solidFill>
                      <a:srgbClr val="E7F4EC"/>
                    </a:solidFill>
                  </a:tcPr>
                </a:tc>
              </a:tr>
              <a:tr h="397764">
                <a:tc>
                  <a:txBody>
                    <a:bodyPr wrap="square"/>
                    <a:lstStyle/>
                    <a:p>
                      <a:r>
                        <a:rPr sz="1150" b="0">
                          <a:solidFill>
                            <a:srgbClr val="0D1F2D"/>
                          </a:solidFill>
                          <a:latin typeface="Segoe UI"/>
                        </a:rPr>
                        <a:t>Victim model binding, adversarial search</a:t>
                      </a:r>
                    </a:p>
                  </a:txBody>
                  <a:tcPr anchor="ctr" marL="91440" marR="91440">
                    <a:solidFill>
                      <a:srgbClr val="FDF1DF"/>
                    </a:solidFill>
                  </a:tcPr>
                </a:tc>
                <a:tc>
                  <a:txBody>
                    <a:bodyPr wrap="square"/>
                    <a:lstStyle/>
                    <a:p>
                      <a:r>
                        <a:rPr sz="1050" b="1">
                          <a:solidFill>
                            <a:srgbClr val="B45309"/>
                          </a:solidFill>
                          <a:latin typeface="Segoe UI"/>
                        </a:rPr>
                        <a:t>OPEN</a:t>
                      </a:r>
                    </a:p>
                  </a:txBody>
                  <a:tcPr anchor="ctr" marL="91440" marR="91440">
                    <a:solidFill>
                      <a:srgbClr val="FDF1DF"/>
                    </a:solidFill>
                  </a:tcPr>
                </a:tc>
                <a:tc>
                  <a:txBody>
                    <a:bodyPr wrap="square"/>
                    <a:lstStyle/>
                    <a:p>
                      <a:r>
                        <a:rPr sz="1100" b="0">
                          <a:solidFill>
                            <a:srgbClr val="5C6B78"/>
                          </a:solidFill>
                          <a:latin typeface="Segoe UI"/>
                        </a:rPr>
                        <a:t>The last real unknown; design settled in ADR-006</a:t>
                      </a:r>
                    </a:p>
                  </a:txBody>
                  <a:tcPr anchor="ctr" marL="91440" marR="91440">
                    <a:solidFill>
                      <a:srgbClr val="FDF1D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The findings that mattered most</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Five ways this experiment could have produced a worthless answer</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11</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graphicFrame>
        <p:nvGraphicFramePr>
          <p:cNvPr id="9" name="Table 8"/>
          <p:cNvGraphicFramePr>
            <a:graphicFrameLocks noGrp="1"/>
          </p:cNvGraphicFramePr>
          <p:nvPr/>
        </p:nvGraphicFramePr>
        <p:xfrm>
          <a:off x="658368" y="1700784"/>
          <a:ext cx="10874959" cy="2354580"/>
        </p:xfrm>
        <a:graphic>
          <a:graphicData uri="http://schemas.openxmlformats.org/drawingml/2006/table">
            <a:tbl>
              <a:tblPr>
                <a:tableStyleId>{5C22544A-7EE6-4342-B048-85BDC9FD1C3A}</a:tableStyleId>
              </a:tblPr>
              <a:tblGrid>
                <a:gridCol w="4114800"/>
                <a:gridCol w="1737360"/>
                <a:gridCol w="5022799"/>
              </a:tblGrid>
              <a:tr h="365760">
                <a:tc>
                  <a:txBody>
                    <a:bodyPr wrap="square"/>
                    <a:lstStyle/>
                    <a:p>
                      <a:r>
                        <a:rPr sz="1150" b="1">
                          <a:solidFill>
                            <a:srgbClr val="FFFFFF"/>
                          </a:solidFill>
                          <a:latin typeface="Segoe UI"/>
                        </a:rPr>
                        <a:t>What we found</a:t>
                      </a:r>
                    </a:p>
                  </a:txBody>
                  <a:tcPr anchor="ctr" marL="91440" marR="91440">
                    <a:solidFill>
                      <a:srgbClr val="123045"/>
                    </a:solidFill>
                  </a:tcPr>
                </a:tc>
                <a:tc>
                  <a:txBody>
                    <a:bodyPr wrap="square"/>
                    <a:lstStyle/>
                    <a:p>
                      <a:r>
                        <a:rPr sz="1150" b="1">
                          <a:solidFill>
                            <a:srgbClr val="FFFFFF"/>
                          </a:solidFill>
                          <a:latin typeface="Segoe UI"/>
                        </a:rPr>
                        <a:t>Direction of the error</a:t>
                      </a:r>
                    </a:p>
                  </a:txBody>
                  <a:tcPr anchor="ctr" marL="91440" marR="91440">
                    <a:solidFill>
                      <a:srgbClr val="123045"/>
                    </a:solidFill>
                  </a:tcPr>
                </a:tc>
                <a:tc>
                  <a:txBody>
                    <a:bodyPr wrap="square"/>
                    <a:lstStyle/>
                    <a:p>
                      <a:r>
                        <a:rPr sz="1150" b="1">
                          <a:solidFill>
                            <a:srgbClr val="FFFFFF"/>
                          </a:solidFill>
                          <a:latin typeface="Segoe UI"/>
                        </a:rPr>
                        <a:t>Why it would not have been noticed</a:t>
                      </a:r>
                    </a:p>
                  </a:txBody>
                  <a:tcPr anchor="ctr" marL="91440" marR="91440">
                    <a:solidFill>
                      <a:srgbClr val="123045"/>
                    </a:solidFill>
                  </a:tcPr>
                </a:tc>
              </a:tr>
              <a:tr h="397764">
                <a:tc>
                  <a:txBody>
                    <a:bodyPr wrap="square"/>
                    <a:lstStyle/>
                    <a:p>
                      <a:r>
                        <a:rPr sz="1150" b="0">
                          <a:solidFill>
                            <a:srgbClr val="0D1F2D"/>
                          </a:solidFill>
                          <a:latin typeface="Segoe UI"/>
                        </a:rPr>
                        <a:t>The vendor DISCARDS the adapted fast weights</a:t>
                      </a:r>
                    </a:p>
                  </a:txBody>
                  <a:tcPr anchor="ctr" marL="91440" marR="91440">
                    <a:solidFill>
                      <a:srgbClr val="FBECEC"/>
                    </a:solidFill>
                  </a:tcPr>
                </a:tc>
                <a:tc>
                  <a:txBody>
                    <a:bodyPr wrap="square"/>
                    <a:lstStyle/>
                    <a:p>
                      <a:r>
                        <a:rPr sz="1050" b="1">
                          <a:solidFill>
                            <a:srgbClr val="A82C2C"/>
                          </a:solidFill>
                          <a:latin typeface="Segoe UI"/>
                        </a:rPr>
                        <a:t>false STOP</a:t>
                      </a:r>
                    </a:p>
                  </a:txBody>
                  <a:tcPr anchor="ctr" marL="91440" marR="91440">
                    <a:solidFill>
                      <a:srgbClr val="FBECEC"/>
                    </a:solidFill>
                  </a:tcPr>
                </a:tc>
                <a:tc>
                  <a:txBody>
                    <a:bodyPr wrap="square"/>
                    <a:lstStyle/>
                    <a:p>
                      <a:r>
                        <a:rPr sz="1100" b="0">
                          <a:solidFill>
                            <a:srgbClr val="5C6B78"/>
                          </a:solidFill>
                          <a:latin typeface="Segoe UI"/>
                        </a:rPr>
                        <a:t>Adapt-then-measure resets the weights; the arms differ only by noise</a:t>
                      </a:r>
                    </a:p>
                  </a:txBody>
                  <a:tcPr anchor="ctr" marL="91440" marR="91440">
                    <a:solidFill>
                      <a:srgbClr val="FBECEC"/>
                    </a:solidFill>
                  </a:tcPr>
                </a:tc>
              </a:tr>
              <a:tr h="397764">
                <a:tc>
                  <a:txBody>
                    <a:bodyPr wrap="square"/>
                    <a:lstStyle/>
                    <a:p>
                      <a:r>
                        <a:rPr sz="1150" b="0">
                          <a:solidFill>
                            <a:srgbClr val="0D1F2D"/>
                          </a:solidFill>
                          <a:latin typeface="Segoe UI"/>
                        </a:rPr>
                        <a:t>The inner learning-rate ramp starts near zero</a:t>
                      </a:r>
                    </a:p>
                  </a:txBody>
                  <a:tcPr anchor="ctr" marL="91440" marR="91440">
                    <a:solidFill>
                      <a:srgbClr val="FBECEC"/>
                    </a:solidFill>
                  </a:tcPr>
                </a:tc>
                <a:tc>
                  <a:txBody>
                    <a:bodyPr wrap="square"/>
                    <a:lstStyle/>
                    <a:p>
                      <a:r>
                        <a:rPr sz="1050" b="1">
                          <a:solidFill>
                            <a:srgbClr val="A82C2C"/>
                          </a:solidFill>
                          <a:latin typeface="Segoe UI"/>
                        </a:rPr>
                        <a:t>false STOP</a:t>
                      </a:r>
                    </a:p>
                  </a:txBody>
                  <a:tcPr anchor="ctr" marL="91440" marR="91440">
                    <a:solidFill>
                      <a:srgbClr val="FBECEC"/>
                    </a:solidFill>
                  </a:tcPr>
                </a:tc>
                <a:tc>
                  <a:txBody>
                    <a:bodyPr wrap="square"/>
                    <a:lstStyle/>
                    <a:p>
                      <a:r>
                        <a:rPr sz="1100" b="0">
                          <a:solidFill>
                            <a:srgbClr val="5C6B78"/>
                          </a:solidFill>
                          <a:latin typeface="Segoe UI"/>
                        </a:rPr>
                        <a:t>A near-frozen inner loop moves nothing, and the null looks real</a:t>
                      </a:r>
                    </a:p>
                  </a:txBody>
                  <a:tcPr anchor="ctr" marL="91440" marR="91440">
                    <a:solidFill>
                      <a:srgbClr val="FBECEC"/>
                    </a:solidFill>
                  </a:tcPr>
                </a:tc>
              </a:tr>
              <a:tr h="397764">
                <a:tc>
                  <a:txBody>
                    <a:bodyPr wrap="square"/>
                    <a:lstStyle/>
                    <a:p>
                      <a:r>
                        <a:rPr sz="1150" b="0">
                          <a:solidFill>
                            <a:srgbClr val="0D1F2D"/>
                          </a:solidFill>
                          <a:latin typeface="Segoe UI"/>
                        </a:rPr>
                        <a:t>Per-seed values were never printed in the report</a:t>
                      </a:r>
                    </a:p>
                  </a:txBody>
                  <a:tcPr anchor="ctr" marL="91440" marR="91440">
                    <a:solidFill>
                      <a:srgbClr val="FDF1DF"/>
                    </a:solidFill>
                  </a:tcPr>
                </a:tc>
                <a:tc>
                  <a:txBody>
                    <a:bodyPr wrap="square"/>
                    <a:lstStyle/>
                    <a:p>
                      <a:r>
                        <a:rPr sz="1050" b="1">
                          <a:solidFill>
                            <a:srgbClr val="B45309"/>
                          </a:solidFill>
                          <a:latin typeface="Segoe UI"/>
                        </a:rPr>
                        <a:t>hidden evidence</a:t>
                      </a:r>
                    </a:p>
                  </a:txBody>
                  <a:tcPr anchor="ctr" marL="91440" marR="91440">
                    <a:solidFill>
                      <a:srgbClr val="FDF1DF"/>
                    </a:solidFill>
                  </a:tcPr>
                </a:tc>
                <a:tc>
                  <a:txBody>
                    <a:bodyPr wrap="square"/>
                    <a:lstStyle/>
                    <a:p>
                      <a:r>
                        <a:rPr sz="1100" b="0">
                          <a:solidFill>
                            <a:srgbClr val="5C6B78"/>
                          </a:solidFill>
                          <a:latin typeface="Segoe UI"/>
                        </a:rPr>
                        <a:t>A seed where the poison HELPED the victim was invisible</a:t>
                      </a:r>
                    </a:p>
                  </a:txBody>
                  <a:tcPr anchor="ctr" marL="91440" marR="91440">
                    <a:solidFill>
                      <a:srgbClr val="FDF1DF"/>
                    </a:solidFill>
                  </a:tcPr>
                </a:tc>
              </a:tr>
              <a:tr h="397764">
                <a:tc>
                  <a:txBody>
                    <a:bodyPr wrap="square"/>
                    <a:lstStyle/>
                    <a:p>
                      <a:r>
                        <a:rPr sz="1150" b="0">
                          <a:solidFill>
                            <a:srgbClr val="0D1F2D"/>
                          </a:solidFill>
                          <a:latin typeface="Segoe UI"/>
                        </a:rPr>
                        <a:t>Degenerate input yields an infinite effect size</a:t>
                      </a:r>
                    </a:p>
                  </a:txBody>
                  <a:tcPr anchor="ctr" marL="91440" marR="91440">
                    <a:solidFill>
                      <a:srgbClr val="FDF1DF"/>
                    </a:solidFill>
                  </a:tcPr>
                </a:tc>
                <a:tc>
                  <a:txBody>
                    <a:bodyPr wrap="square"/>
                    <a:lstStyle/>
                    <a:p>
                      <a:r>
                        <a:rPr sz="1050" b="1">
                          <a:solidFill>
                            <a:srgbClr val="B45309"/>
                          </a:solidFill>
                          <a:latin typeface="Segoe UI"/>
                        </a:rPr>
                        <a:t>false PROCEED</a:t>
                      </a:r>
                    </a:p>
                  </a:txBody>
                  <a:tcPr anchor="ctr" marL="91440" marR="91440">
                    <a:solidFill>
                      <a:srgbClr val="FDF1DF"/>
                    </a:solidFill>
                  </a:tcPr>
                </a:tc>
                <a:tc>
                  <a:txBody>
                    <a:bodyPr wrap="square"/>
                    <a:lstStyle/>
                    <a:p>
                      <a:r>
                        <a:rPr sz="1100" b="0">
                          <a:solidFill>
                            <a:srgbClr val="5C6B78"/>
                          </a:solidFill>
                          <a:latin typeface="Segoe UI"/>
                        </a:rPr>
                        <a:t>Constant losses pass the bar; a stubbed harness reads as success</a:t>
                      </a:r>
                    </a:p>
                  </a:txBody>
                  <a:tcPr anchor="ctr" marL="91440" marR="91440">
                    <a:solidFill>
                      <a:srgbClr val="FDF1DF"/>
                    </a:solidFill>
                  </a:tcPr>
                </a:tc>
              </a:tr>
              <a:tr h="397764">
                <a:tc>
                  <a:txBody>
                    <a:bodyPr wrap="square"/>
                    <a:lstStyle/>
                    <a:p>
                      <a:r>
                        <a:rPr sz="1150" b="0">
                          <a:solidFill>
                            <a:srgbClr val="0D1F2D"/>
                          </a:solidFill>
                          <a:latin typeface="Segoe UI"/>
                        </a:rPr>
                        <a:t>The vendor ships no tokenizer at all</a:t>
                      </a:r>
                    </a:p>
                  </a:txBody>
                  <a:tcPr anchor="ctr" marL="91440" marR="91440">
                    <a:solidFill>
                      <a:srgbClr val="FDF1DF"/>
                    </a:solidFill>
                  </a:tcPr>
                </a:tc>
                <a:tc>
                  <a:txBody>
                    <a:bodyPr wrap="square"/>
                    <a:lstStyle/>
                    <a:p>
                      <a:r>
                        <a:rPr sz="1050" b="1">
                          <a:solidFill>
                            <a:srgbClr val="B45309"/>
                          </a:solidFill>
                          <a:latin typeface="Segoe UI"/>
                        </a:rPr>
                        <a:t>silent invalidity</a:t>
                      </a:r>
                    </a:p>
                  </a:txBody>
                  <a:tcPr anchor="ctr" marL="91440" marR="91440">
                    <a:solidFill>
                      <a:srgbClr val="FDF1DF"/>
                    </a:solidFill>
                  </a:tcPr>
                </a:tc>
                <a:tc>
                  <a:txBody>
                    <a:bodyPr wrap="square"/>
                    <a:lstStyle/>
                    <a:p>
                      <a:r>
                        <a:rPr sz="1100" b="0">
                          <a:solidFill>
                            <a:srgbClr val="5C6B78"/>
                          </a:solidFill>
                          <a:latin typeface="Segoe UI"/>
                        </a:rPr>
                        <a:t>The task depending on it had no referent; length matching would drift</a:t>
                      </a:r>
                    </a:p>
                  </a:txBody>
                  <a:tcPr anchor="ctr" marL="91440" marR="91440">
                    <a:solidFill>
                      <a:srgbClr val="FDF1DF"/>
                    </a:solidFill>
                  </a:tcPr>
                </a:tc>
              </a:tr>
            </a:tbl>
          </a:graphicData>
        </a:graphic>
      </p:graphicFrame>
      <p:sp>
        <p:nvSpPr>
          <p:cNvPr id="10" name="Rectangle 9"/>
          <p:cNvSpPr/>
          <p:nvPr/>
        </p:nvSpPr>
        <p:spPr>
          <a:xfrm>
            <a:off x="658368" y="4526280"/>
            <a:ext cx="10874959" cy="123444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4526280"/>
            <a:ext cx="45720" cy="1234440"/>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654296"/>
            <a:ext cx="10372039" cy="996696"/>
          </a:xfrm>
          <a:prstGeom prst="rect">
            <a:avLst/>
          </a:prstGeom>
          <a:noFill/>
        </p:spPr>
        <p:txBody>
          <a:bodyPr wrap="square" anchor="t" lIns="0" rIns="0" tIns="0" bIns="0">
            <a:spAutoFit/>
          </a:bodyPr>
          <a:lstStyle/>
          <a:p>
            <a:pPr>
              <a:spcAft>
                <a:spcPts val="400"/>
              </a:spcAft>
            </a:pPr>
            <a:r>
              <a:rPr sz="1150" b="1">
                <a:solidFill>
                  <a:srgbClr val="A82C2C"/>
                </a:solidFill>
                <a:latin typeface="Segoe UI"/>
              </a:rPr>
              <a:t>Why the first one is the serious one</a:t>
            </a:r>
          </a:p>
          <a:p>
            <a:pPr>
              <a:spcAft>
                <a:spcPts val="0"/>
              </a:spcAft>
            </a:pPr>
            <a:r>
              <a:rPr sz="1150" b="0">
                <a:solidFill>
                  <a:srgbClr val="0D1F2D"/>
                </a:solidFill>
                <a:latin typeface="Segoe UI"/>
              </a:rPr>
              <a:t>The carry is bound and never read (transformer.py:712). A two-call harness — adapt on the poison stream, then measure — silently resets the fast weights and measures eval noise. That is a structurally guaranteed null: a STOP verdict indistinguishable from a real one. Since STOP ends the project, it would have converted a paid GPU run into a project-ending artefact.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The fluency bar, and an honest negative result</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T3.2 — the third gating criterion</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12</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TextBox 8"/>
          <p:cNvSpPr txBox="1"/>
          <p:nvPr/>
        </p:nvSpPr>
        <p:spPr>
          <a:xfrm>
            <a:off x="658368" y="1700784"/>
            <a:ext cx="10874959" cy="822960"/>
          </a:xfrm>
          <a:prstGeom prst="rect">
            <a:avLst/>
          </a:prstGeom>
          <a:noFill/>
        </p:spPr>
        <p:txBody>
          <a:bodyPr wrap="square" anchor="t" lIns="0" rIns="0" tIns="0" bIns="0">
            <a:spAutoFit/>
          </a:bodyPr>
          <a:lstStyle/>
          <a:p>
            <a:pPr>
              <a:spcAft>
                <a:spcPts val="600"/>
              </a:spcAft>
            </a:pPr>
            <a:r>
              <a:rPr sz="1600" b="0">
                <a:solidFill>
                  <a:srgbClr val="0D1F2D"/>
                </a:solidFill>
                <a:latin typeface="Segoe UI"/>
              </a:rPr>
              <a:t>An independent reference model scores whether a poison stream still reads as ordinary text.</a:t>
            </a:r>
          </a:p>
          <a:p>
            <a:pPr>
              <a:spcAft>
                <a:spcPts val="0"/>
              </a:spcAft>
            </a:pPr>
            <a:r>
              <a:rPr sz="1300" b="0">
                <a:solidFill>
                  <a:srgbClr val="5C6B78"/>
                </a:solidFill>
                <a:latin typeface="Segoe UI"/>
              </a:rPr>
              <a:t>Scoring with the victim would be circular — the attacker optimises against it, so it rates poisoned streams as maximally fluent.</a:t>
            </a:r>
          </a:p>
        </p:txBody>
      </p:sp>
      <p:graphicFrame>
        <p:nvGraphicFramePr>
          <p:cNvPr id="10" name="Table 9"/>
          <p:cNvGraphicFramePr>
            <a:graphicFrameLocks noGrp="1"/>
          </p:cNvGraphicFramePr>
          <p:nvPr/>
        </p:nvGraphicFramePr>
        <p:xfrm>
          <a:off x="658368" y="2606040"/>
          <a:ext cx="10874959" cy="1559052"/>
        </p:xfrm>
        <a:graphic>
          <a:graphicData uri="http://schemas.openxmlformats.org/drawingml/2006/table">
            <a:tbl>
              <a:tblPr>
                <a:tableStyleId>{5C22544A-7EE6-4342-B048-85BDC9FD1C3A}</a:tableStyleId>
              </a:tblPr>
              <a:tblGrid>
                <a:gridCol w="4480560"/>
                <a:gridCol w="5120640"/>
                <a:gridCol w="1273759"/>
              </a:tblGrid>
              <a:tr h="365760">
                <a:tc>
                  <a:txBody>
                    <a:bodyPr wrap="square"/>
                    <a:lstStyle/>
                    <a:p>
                      <a:r>
                        <a:rPr sz="1150" b="1">
                          <a:solidFill>
                            <a:srgbClr val="FFFFFF"/>
                          </a:solidFill>
                          <a:latin typeface="Segoe UI"/>
                        </a:rPr>
                        <a:t>Acceptance check</a:t>
                      </a:r>
                    </a:p>
                  </a:txBody>
                  <a:tcPr anchor="ctr" marL="91440" marR="91440">
                    <a:solidFill>
                      <a:srgbClr val="123045"/>
                    </a:solidFill>
                  </a:tcPr>
                </a:tc>
                <a:tc>
                  <a:txBody>
                    <a:bodyPr wrap="square"/>
                    <a:lstStyle/>
                    <a:p>
                      <a:r>
                        <a:rPr sz="1150" b="1">
                          <a:solidFill>
                            <a:srgbClr val="FFFFFF"/>
                          </a:solidFill>
                          <a:latin typeface="Segoe UI"/>
                        </a:rPr>
                        <a:t>Result</a:t>
                      </a:r>
                    </a:p>
                  </a:txBody>
                  <a:tcPr anchor="ctr" marL="91440" marR="91440">
                    <a:solidFill>
                      <a:srgbClr val="123045"/>
                    </a:solidFill>
                  </a:tcPr>
                </a:tc>
                <a:tc>
                  <a:txBody>
                    <a:bodyPr wrap="square"/>
                    <a:lstStyle/>
                    <a:p>
                      <a:r>
                        <a:rPr sz="1150" b="1">
                          <a:solidFill>
                            <a:srgbClr val="FFFFFF"/>
                          </a:solidFill>
                          <a:latin typeface="Segoe UI"/>
                        </a:rPr>
                        <a:t>Verdict</a:t>
                      </a:r>
                    </a:p>
                  </a:txBody>
                  <a:tcPr anchor="ctr" marL="91440" marR="91440">
                    <a:solidFill>
                      <a:srgbClr val="123045"/>
                    </a:solidFill>
                  </a:tcPr>
                </a:tc>
              </a:tr>
              <a:tr h="397764">
                <a:tc>
                  <a:txBody>
                    <a:bodyPr wrap="square"/>
                    <a:lstStyle/>
                    <a:p>
                      <a:r>
                        <a:rPr sz="1150" b="0">
                          <a:solidFill>
                            <a:srgbClr val="0D1F2D"/>
                          </a:solidFill>
                          <a:latin typeface="Segoe UI"/>
                        </a:rPr>
                        <a:t>Reproduce the published perplexity (the specified check)</a:t>
                      </a:r>
                    </a:p>
                  </a:txBody>
                  <a:tcPr anchor="ctr" marL="91440" marR="91440">
                    <a:solidFill>
                      <a:srgbClr val="FBECEC"/>
                    </a:solidFill>
                  </a:tcPr>
                </a:tc>
                <a:tc>
                  <a:txBody>
                    <a:bodyPr wrap="square"/>
                    <a:lstStyle/>
                    <a:p>
                      <a:r>
                        <a:rPr sz="1100" b="0">
                          <a:solidFill>
                            <a:srgbClr val="0D1F2D"/>
                          </a:solidFill>
                          <a:latin typeface="Segoe UI"/>
                        </a:rPr>
                        <a:t>62.29 vs 37.50 published — but 31.18 on another word-count convention</a:t>
                      </a:r>
                    </a:p>
                  </a:txBody>
                  <a:tcPr anchor="ctr" marL="91440" marR="91440">
                    <a:solidFill>
                      <a:srgbClr val="FBECEC"/>
                    </a:solidFill>
                  </a:tcPr>
                </a:tc>
                <a:tc>
                  <a:txBody>
                    <a:bodyPr wrap="square"/>
                    <a:lstStyle/>
                    <a:p>
                      <a:r>
                        <a:rPr sz="1050" b="1">
                          <a:solidFill>
                            <a:srgbClr val="A82C2C"/>
                          </a:solidFill>
                          <a:latin typeface="Segoe UI"/>
                        </a:rPr>
                        <a:t>UNUSABLE</a:t>
                      </a:r>
                    </a:p>
                  </a:txBody>
                  <a:tcPr anchor="ctr" marL="91440" marR="91440">
                    <a:solidFill>
                      <a:srgbClr val="FBECEC"/>
                    </a:solidFill>
                  </a:tcPr>
                </a:tc>
              </a:tr>
              <a:tr h="397764">
                <a:tc>
                  <a:txBody>
                    <a:bodyPr wrap="square"/>
                    <a:lstStyle/>
                    <a:p>
                      <a:r>
                        <a:rPr sz="1150" b="0">
                          <a:solidFill>
                            <a:srgbClr val="0D1F2D"/>
                          </a:solidFill>
                          <a:latin typeface="Segoe UI"/>
                        </a:rPr>
                        <a:t>Logit equivalence against a reference implementation</a:t>
                      </a:r>
                    </a:p>
                  </a:txBody>
                  <a:tcPr anchor="ctr" marL="91440" marR="91440">
                    <a:solidFill>
                      <a:srgbClr val="E7F4EC"/>
                    </a:solidFill>
                  </a:tcPr>
                </a:tc>
                <a:tc>
                  <a:txBody>
                    <a:bodyPr wrap="square"/>
                    <a:lstStyle/>
                    <a:p>
                      <a:r>
                        <a:rPr sz="1100" b="0">
                          <a:solidFill>
                            <a:srgbClr val="0D1F2D"/>
                          </a:solidFill>
                          <a:latin typeface="Segoe UI"/>
                        </a:rPr>
                        <a:t>worst difference 5.8e-04; 100% argmax agreement</a:t>
                      </a:r>
                    </a:p>
                  </a:txBody>
                  <a:tcPr anchor="ctr" marL="91440" marR="91440">
                    <a:solidFill>
                      <a:srgbClr val="E7F4EC"/>
                    </a:solidFill>
                  </a:tcPr>
                </a:tc>
                <a:tc>
                  <a:txBody>
                    <a:bodyPr wrap="square"/>
                    <a:lstStyle/>
                    <a:p>
                      <a:r>
                        <a:rPr sz="1050" b="1">
                          <a:solidFill>
                            <a:srgbClr val="157A4A"/>
                          </a:solidFill>
                          <a:latin typeface="Segoe UI"/>
                        </a:rPr>
                        <a:t>PASS</a:t>
                      </a:r>
                    </a:p>
                  </a:txBody>
                  <a:tcPr anchor="ctr" marL="91440" marR="91440">
                    <a:solidFill>
                      <a:srgbClr val="E7F4EC"/>
                    </a:solidFill>
                  </a:tcPr>
                </a:tc>
              </a:tr>
              <a:tr h="397764">
                <a:tc>
                  <a:txBody>
                    <a:bodyPr wrap="square"/>
                    <a:lstStyle/>
                    <a:p>
                      <a:r>
                        <a:rPr sz="1150" b="0">
                          <a:solidFill>
                            <a:srgbClr val="0D1F2D"/>
                          </a:solidFill>
                          <a:latin typeface="Segoe UI"/>
                        </a:rPr>
                        <a:t>Discrimination self-test (fluent vs scrambled)</a:t>
                      </a:r>
                    </a:p>
                  </a:txBody>
                  <a:tcPr anchor="ctr" marL="91440" marR="91440">
                    <a:solidFill>
                      <a:srgbClr val="E7F4EC"/>
                    </a:solidFill>
                  </a:tcPr>
                </a:tc>
                <a:tc>
                  <a:txBody>
                    <a:bodyPr wrap="square"/>
                    <a:lstStyle/>
                    <a:p>
                      <a:r>
                        <a:rPr sz="1100" b="0">
                          <a:solidFill>
                            <a:srgbClr val="0D1F2D"/>
                          </a:solidFill>
                          <a:latin typeface="Segoe UI"/>
                        </a:rPr>
                        <a:t>19.98 vs 1326.84 — a 66× separation</a:t>
                      </a:r>
                    </a:p>
                  </a:txBody>
                  <a:tcPr anchor="ctr" marL="91440" marR="91440">
                    <a:solidFill>
                      <a:srgbClr val="E7F4EC"/>
                    </a:solidFill>
                  </a:tcPr>
                </a:tc>
                <a:tc>
                  <a:txBody>
                    <a:bodyPr wrap="square"/>
                    <a:lstStyle/>
                    <a:p>
                      <a:r>
                        <a:rPr sz="1050" b="1">
                          <a:solidFill>
                            <a:srgbClr val="157A4A"/>
                          </a:solidFill>
                          <a:latin typeface="Segoe UI"/>
                        </a:rPr>
                        <a:t>PASS</a:t>
                      </a:r>
                    </a:p>
                  </a:txBody>
                  <a:tcPr anchor="ctr" marL="91440" marR="91440">
                    <a:solidFill>
                      <a:srgbClr val="E7F4EC"/>
                    </a:solidFill>
                  </a:tcPr>
                </a:tc>
              </a:tr>
            </a:tbl>
          </a:graphicData>
        </a:graphic>
      </p:graphicFrame>
      <p:sp>
        <p:nvSpPr>
          <p:cNvPr id="11" name="Rectangle 10"/>
          <p:cNvSpPr/>
          <p:nvPr/>
        </p:nvSpPr>
        <p:spPr>
          <a:xfrm>
            <a:off x="658368" y="4160520"/>
            <a:ext cx="10874959" cy="1600200"/>
          </a:xfrm>
          <a:prstGeom prst="rect">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4160520"/>
            <a:ext cx="45720" cy="16002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288536"/>
            <a:ext cx="10372039" cy="1362456"/>
          </a:xfrm>
          <a:prstGeom prst="rect">
            <a:avLst/>
          </a:prstGeom>
          <a:noFill/>
        </p:spPr>
        <p:txBody>
          <a:bodyPr wrap="square" anchor="t" lIns="0" rIns="0" tIns="0" bIns="0">
            <a:spAutoFit/>
          </a:bodyPr>
          <a:lstStyle/>
          <a:p>
            <a:pPr>
              <a:spcAft>
                <a:spcPts val="400"/>
              </a:spcAft>
            </a:pPr>
            <a:r>
              <a:rPr sz="1150" b="1">
                <a:solidFill>
                  <a:srgbClr val="B45309"/>
                </a:solidFill>
                <a:latin typeface="Segoe UI"/>
              </a:rPr>
              <a:t>The specified acceptance check does not work — and we say so rather than widen a tolerance</a:t>
            </a:r>
          </a:p>
          <a:p>
            <a:pPr>
              <a:spcAft>
                <a:spcPts val="0"/>
              </a:spcAft>
            </a:pPr>
            <a:r>
              <a:rPr sz="1150" b="0">
                <a:solidFill>
                  <a:srgbClr val="0D1F2D"/>
                </a:solidFill>
                <a:latin typeface="Segoe UI"/>
              </a:rPr>
              <a:t>The published figure is per word, and the denominator is unspecified. Our single measurement yields 62.29 on one convention and 31.18 on another, and the published 37.50 falls between them. The check therefore cannot separate an implementation bug from a counting convention, so it is recorded as corroborating evidence and NOT used as a gate. Nothing was tuned toward the target: the bar consumes a ratio, so the absolute cancels, and fudging it would only hide a real bug.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A limitation of one of our own bars</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Measured, and written down before any result exists</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13</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10874959" cy="896112"/>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1883664"/>
            <a:ext cx="10106863" cy="621792"/>
          </a:xfrm>
          <a:prstGeom prst="rect">
            <a:avLst/>
          </a:prstGeom>
          <a:noFill/>
        </p:spPr>
        <p:txBody>
          <a:bodyPr wrap="square" anchor="t" lIns="0" rIns="0" tIns="0" bIns="0">
            <a:spAutoFit/>
          </a:bodyPr>
          <a:lstStyle/>
          <a:p>
            <a:pPr>
              <a:spcAft>
                <a:spcPts val="0"/>
              </a:spcAft>
            </a:pPr>
            <a:r>
              <a:rPr sz="2100" b="1">
                <a:solidFill>
                  <a:srgbClr val="FFFFFF"/>
                </a:solidFill>
                <a:latin typeface="Segoe UI"/>
              </a:rPr>
              <a:t>Perplexity punishes scrambling — but it rewards repetition.</a:t>
            </a:r>
          </a:p>
        </p:txBody>
      </p:sp>
      <p:graphicFrame>
        <p:nvGraphicFramePr>
          <p:cNvPr id="11" name="Table 10"/>
          <p:cNvGraphicFramePr>
            <a:graphicFrameLocks noGrp="1"/>
          </p:cNvGraphicFramePr>
          <p:nvPr/>
        </p:nvGraphicFramePr>
        <p:xfrm>
          <a:off x="658368" y="2880360"/>
          <a:ext cx="10874959" cy="1559052"/>
        </p:xfrm>
        <a:graphic>
          <a:graphicData uri="http://schemas.openxmlformats.org/drawingml/2006/table">
            <a:tbl>
              <a:tblPr>
                <a:tableStyleId>{5C22544A-7EE6-4342-B048-85BDC9FD1C3A}</a:tableStyleId>
              </a:tblPr>
              <a:tblGrid>
                <a:gridCol w="4572000"/>
                <a:gridCol w="1554480"/>
                <a:gridCol w="4748479"/>
              </a:tblGrid>
              <a:tr h="365760">
                <a:tc>
                  <a:txBody>
                    <a:bodyPr wrap="square"/>
                    <a:lstStyle/>
                    <a:p>
                      <a:r>
                        <a:rPr sz="1150" b="1">
                          <a:solidFill>
                            <a:srgbClr val="FFFFFF"/>
                          </a:solidFill>
                          <a:latin typeface="Segoe UI"/>
                        </a:rPr>
                        <a:t>Text fed to the reference model</a:t>
                      </a:r>
                    </a:p>
                  </a:txBody>
                  <a:tcPr anchor="ctr" marL="91440" marR="91440">
                    <a:solidFill>
                      <a:srgbClr val="123045"/>
                    </a:solidFill>
                  </a:tcPr>
                </a:tc>
                <a:tc>
                  <a:txBody>
                    <a:bodyPr wrap="square"/>
                    <a:lstStyle/>
                    <a:p>
                      <a:r>
                        <a:rPr sz="1150" b="1">
                          <a:solidFill>
                            <a:srgbClr val="FFFFFF"/>
                          </a:solidFill>
                          <a:latin typeface="Segoe UI"/>
                        </a:rPr>
                        <a:t>Perplexity</a:t>
                      </a:r>
                    </a:p>
                  </a:txBody>
                  <a:tcPr anchor="ctr" marL="91440" marR="91440">
                    <a:solidFill>
                      <a:srgbClr val="123045"/>
                    </a:solidFill>
                  </a:tcPr>
                </a:tc>
                <a:tc>
                  <a:txBody>
                    <a:bodyPr wrap="square"/>
                    <a:lstStyle/>
                    <a:p>
                      <a:r>
                        <a:rPr sz="1150" b="1">
                          <a:solidFill>
                            <a:srgbClr val="FFFFFF"/>
                          </a:solidFill>
                          <a:latin typeface="Segoe UI"/>
                        </a:rPr>
                        <a:t>What that implies</a:t>
                      </a:r>
                    </a:p>
                  </a:txBody>
                  <a:tcPr anchor="ctr" marL="91440" marR="91440">
                    <a:solidFill>
                      <a:srgbClr val="123045"/>
                    </a:solidFill>
                  </a:tcPr>
                </a:tc>
              </a:tr>
              <a:tr h="397764">
                <a:tc>
                  <a:txBody>
                    <a:bodyPr wrap="square"/>
                    <a:lstStyle/>
                    <a:p>
                      <a:r>
                        <a:rPr sz="1150" b="0">
                          <a:solidFill>
                            <a:srgbClr val="0D1F2D"/>
                          </a:solidFill>
                          <a:latin typeface="Segoe UI"/>
                        </a:rPr>
                        <a:t>Fluent English prose</a:t>
                      </a:r>
                    </a:p>
                  </a:txBody>
                  <a:tcPr anchor="ctr" marL="91440" marR="91440">
                    <a:solidFill>
                      <a:srgbClr val="E7F4EC"/>
                    </a:solidFill>
                  </a:tcPr>
                </a:tc>
                <a:tc>
                  <a:txBody>
                    <a:bodyPr wrap="square"/>
                    <a:lstStyle/>
                    <a:p>
                      <a:r>
                        <a:rPr sz="1150" b="1">
                          <a:solidFill>
                            <a:srgbClr val="0D1F2D"/>
                          </a:solidFill>
                          <a:latin typeface="Segoe UI"/>
                        </a:rPr>
                        <a:t>19.98</a:t>
                      </a:r>
                    </a:p>
                  </a:txBody>
                  <a:tcPr anchor="ctr" marL="91440" marR="91440">
                    <a:solidFill>
                      <a:srgbClr val="E7F4EC"/>
                    </a:solidFill>
                  </a:tcPr>
                </a:tc>
                <a:tc>
                  <a:txBody>
                    <a:bodyPr wrap="square"/>
                    <a:lstStyle/>
                    <a:p>
                      <a:r>
                        <a:rPr sz="1100" b="0">
                          <a:solidFill>
                            <a:srgbClr val="5C6B78"/>
                          </a:solidFill>
                          <a:latin typeface="Segoe UI"/>
                        </a:rPr>
                        <a:t>The baseline a benign stream should sit near</a:t>
                      </a:r>
                    </a:p>
                  </a:txBody>
                  <a:tcPr anchor="ctr" marL="91440" marR="91440">
                    <a:solidFill>
                      <a:srgbClr val="E7F4EC"/>
                    </a:solidFill>
                  </a:tcPr>
                </a:tc>
              </a:tr>
              <a:tr h="397764">
                <a:tc>
                  <a:txBody>
                    <a:bodyPr wrap="square"/>
                    <a:lstStyle/>
                    <a:p>
                      <a:r>
                        <a:rPr sz="1150" b="0">
                          <a:solidFill>
                            <a:srgbClr val="0D1F2D"/>
                          </a:solidFill>
                          <a:latin typeface="Segoe UI"/>
                        </a:rPr>
                        <a:t>The same words, scrambled</a:t>
                      </a:r>
                    </a:p>
                  </a:txBody>
                  <a:tcPr anchor="ctr" marL="91440" marR="91440">
                    <a:solidFill>
                      <a:srgbClr val="E7F4EC"/>
                    </a:solidFill>
                  </a:tcPr>
                </a:tc>
                <a:tc>
                  <a:txBody>
                    <a:bodyPr wrap="square"/>
                    <a:lstStyle/>
                    <a:p>
                      <a:r>
                        <a:rPr sz="1150" b="1">
                          <a:solidFill>
                            <a:srgbClr val="A82C2C"/>
                          </a:solidFill>
                          <a:latin typeface="Segoe UI"/>
                        </a:rPr>
                        <a:t>1326.84</a:t>
                      </a:r>
                    </a:p>
                  </a:txBody>
                  <a:tcPr anchor="ctr" marL="91440" marR="91440">
                    <a:solidFill>
                      <a:srgbClr val="E7F4EC"/>
                    </a:solidFill>
                  </a:tcPr>
                </a:tc>
                <a:tc>
                  <a:txBody>
                    <a:bodyPr wrap="square"/>
                    <a:lstStyle/>
                    <a:p>
                      <a:r>
                        <a:rPr sz="1100" b="0">
                          <a:solidFill>
                            <a:srgbClr val="5C6B78"/>
                          </a:solidFill>
                          <a:latin typeface="Segoe UI"/>
                        </a:rPr>
                        <a:t>Correctly caught — 66× worse</a:t>
                      </a:r>
                    </a:p>
                  </a:txBody>
                  <a:tcPr anchor="ctr" marL="91440" marR="91440">
                    <a:solidFill>
                      <a:srgbClr val="E7F4EC"/>
                    </a:solidFill>
                  </a:tcPr>
                </a:tc>
              </a:tr>
              <a:tr h="397764">
                <a:tc>
                  <a:txBody>
                    <a:bodyPr wrap="square"/>
                    <a:lstStyle/>
                    <a:p>
                      <a:r>
                        <a:rPr sz="1150" b="0">
                          <a:solidFill>
                            <a:srgbClr val="0D1F2D"/>
                          </a:solidFill>
                          <a:latin typeface="Segoe UI"/>
                        </a:rPr>
                        <a:t>A short pattern repeated many times</a:t>
                      </a:r>
                    </a:p>
                  </a:txBody>
                  <a:tcPr anchor="ctr" marL="91440" marR="91440">
                    <a:solidFill>
                      <a:srgbClr val="FDF1DF"/>
                    </a:solidFill>
                  </a:tcPr>
                </a:tc>
                <a:tc>
                  <a:txBody>
                    <a:bodyPr wrap="square"/>
                    <a:lstStyle/>
                    <a:p>
                      <a:r>
                        <a:rPr sz="1150" b="1">
                          <a:solidFill>
                            <a:srgbClr val="B45309"/>
                          </a:solidFill>
                          <a:latin typeface="Segoe UI"/>
                        </a:rPr>
                        <a:t>1.90</a:t>
                      </a:r>
                    </a:p>
                  </a:txBody>
                  <a:tcPr anchor="ctr" marL="91440" marR="91440">
                    <a:solidFill>
                      <a:srgbClr val="FDF1DF"/>
                    </a:solidFill>
                  </a:tcPr>
                </a:tc>
                <a:tc>
                  <a:txBody>
                    <a:bodyPr wrap="square"/>
                    <a:lstStyle/>
                    <a:p>
                      <a:r>
                        <a:rPr sz="1100" b="0">
                          <a:solidFill>
                            <a:srgbClr val="B45309"/>
                          </a:solidFill>
                          <a:latin typeface="Segoe UI"/>
                        </a:rPr>
                        <a:t>Scores TEN TIMES BETTER than real prose</a:t>
                      </a:r>
                    </a:p>
                  </a:txBody>
                  <a:tcPr anchor="ctr" marL="91440" marR="91440">
                    <a:solidFill>
                      <a:srgbClr val="FDF1DF"/>
                    </a:solidFill>
                  </a:tcPr>
                </a:tc>
              </a:tr>
            </a:tbl>
          </a:graphicData>
        </a:graphic>
      </p:graphicFrame>
      <p:sp>
        <p:nvSpPr>
          <p:cNvPr id="12" name="Rectangle 11"/>
          <p:cNvSpPr/>
          <p:nvPr/>
        </p:nvSpPr>
        <p:spPr>
          <a:xfrm>
            <a:off x="658368" y="4434840"/>
            <a:ext cx="10874959" cy="1325880"/>
          </a:xfrm>
          <a:prstGeom prst="rect">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4434840"/>
            <a:ext cx="45720" cy="13258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4562856"/>
            <a:ext cx="10372039" cy="1088136"/>
          </a:xfrm>
          <a:prstGeom prst="rect">
            <a:avLst/>
          </a:prstGeom>
          <a:noFill/>
        </p:spPr>
        <p:txBody>
          <a:bodyPr wrap="square" anchor="t" lIns="0" rIns="0" tIns="0" bIns="0">
            <a:spAutoFit/>
          </a:bodyPr>
          <a:lstStyle/>
          <a:p>
            <a:pPr>
              <a:spcAft>
                <a:spcPts val="400"/>
              </a:spcAft>
            </a:pPr>
            <a:r>
              <a:rPr sz="1150" b="1">
                <a:solidFill>
                  <a:srgbClr val="B45309"/>
                </a:solidFill>
                <a:latin typeface="Segoe UI"/>
              </a:rPr>
              <a:t>So the fluency bar cannot catch a repetitive poison stream</a:t>
            </a:r>
          </a:p>
          <a:p>
            <a:pPr>
              <a:spcAft>
                <a:spcPts val="0"/>
              </a:spcAft>
            </a:pPr>
            <a:r>
              <a:rPr sz="1150" b="0">
                <a:solidFill>
                  <a:srgbClr val="0D1F2D"/>
                </a:solidFill>
                <a:latin typeface="Segoe UI"/>
              </a:rPr>
              <a:t>A stream that reuses one passage many times would pass the ≤ 1.5 realism bar while being obviously not benign-looking to a human. Two mitigations were already in place and are now known to be load-bearing rather than tidy: spans are drawn without replacement, and span multiplicity is reported per arm so a repetitive stream is visible even when its ratio looks fine.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How we work, and why it is recorded that way</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The commit timeline is conception evidence, so it is never rewritten</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14</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454603"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00784"/>
            <a:ext cx="45720" cy="178308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83664"/>
            <a:ext cx="2997403" cy="145389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Feature branches, no self-merge</a:t>
            </a:r>
          </a:p>
          <a:p>
            <a:pPr>
              <a:spcAft>
                <a:spcPts val="0"/>
              </a:spcAft>
            </a:pPr>
            <a:r>
              <a:rPr sz="1200" b="0">
                <a:solidFill>
                  <a:srgbClr val="5C6B78"/>
                </a:solidFill>
                <a:latin typeface="Segoe UI"/>
              </a:rPr>
              <a:t>The author never presses merge on their own work. Nine branches landed through two reviewed pull requests.</a:t>
            </a:r>
          </a:p>
        </p:txBody>
      </p:sp>
      <p:sp>
        <p:nvSpPr>
          <p:cNvPr id="12" name="Rectangle 11"/>
          <p:cNvSpPr/>
          <p:nvPr/>
        </p:nvSpPr>
        <p:spPr>
          <a:xfrm>
            <a:off x="4369003" y="1700784"/>
            <a:ext cx="3454603"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9003" y="1700784"/>
            <a:ext cx="45720" cy="178308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5035" y="1883664"/>
            <a:ext cx="2997403" cy="145389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Seven ADRs</a:t>
            </a:r>
          </a:p>
          <a:p>
            <a:pPr>
              <a:spcAft>
                <a:spcPts val="0"/>
              </a:spcAft>
            </a:pPr>
            <a:r>
              <a:rPr sz="1200" b="0">
                <a:solidFill>
                  <a:srgbClr val="5C6B78"/>
                </a:solidFill>
                <a:latin typeface="Segoe UI"/>
              </a:rPr>
              <a:t>Every decision expensive to reverse is recorded with its alternatives and its consequences, dated.</a:t>
            </a:r>
          </a:p>
        </p:txBody>
      </p:sp>
      <p:sp>
        <p:nvSpPr>
          <p:cNvPr id="15" name="Rectangle 14"/>
          <p:cNvSpPr/>
          <p:nvPr/>
        </p:nvSpPr>
        <p:spPr>
          <a:xfrm>
            <a:off x="8079638" y="1700784"/>
            <a:ext cx="3454603"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9638" y="1700784"/>
            <a:ext cx="45720" cy="178308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5670" y="1883664"/>
            <a:ext cx="2997403" cy="145389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CI on every push</a:t>
            </a:r>
          </a:p>
          <a:p>
            <a:pPr>
              <a:spcAft>
                <a:spcPts val="0"/>
              </a:spcAft>
            </a:pPr>
            <a:r>
              <a:rPr sz="1200" b="0">
                <a:solidFill>
                  <a:srgbClr val="5C6B78"/>
                </a:solidFill>
                <a:latin typeface="Segoe UI"/>
              </a:rPr>
              <a:t>Runs the CPU suite on two Python versions and mechanises three review checks that a human previously had to remember.</a:t>
            </a:r>
          </a:p>
        </p:txBody>
      </p:sp>
      <p:graphicFrame>
        <p:nvGraphicFramePr>
          <p:cNvPr id="18" name="Table 17"/>
          <p:cNvGraphicFramePr>
            <a:graphicFrameLocks noGrp="1"/>
          </p:cNvGraphicFramePr>
          <p:nvPr/>
        </p:nvGraphicFramePr>
        <p:xfrm>
          <a:off x="658368" y="3703320"/>
          <a:ext cx="10874959" cy="1559052"/>
        </p:xfrm>
        <a:graphic>
          <a:graphicData uri="http://schemas.openxmlformats.org/drawingml/2006/table">
            <a:tbl>
              <a:tblPr>
                <a:tableStyleId>{5C22544A-7EE6-4342-B048-85BDC9FD1C3A}</a:tableStyleId>
              </a:tblPr>
              <a:tblGrid>
                <a:gridCol w="4572000"/>
                <a:gridCol w="6302959"/>
              </a:tblGrid>
              <a:tr h="365760">
                <a:tc>
                  <a:txBody>
                    <a:bodyPr wrap="square"/>
                    <a:lstStyle/>
                    <a:p>
                      <a:r>
                        <a:rPr sz="1150" b="1">
                          <a:solidFill>
                            <a:srgbClr val="FFFFFF"/>
                          </a:solidFill>
                          <a:latin typeface="Segoe UI"/>
                        </a:rPr>
                        <a:t>Standing rule</a:t>
                      </a:r>
                    </a:p>
                  </a:txBody>
                  <a:tcPr anchor="ctr" marL="91440" marR="91440">
                    <a:solidFill>
                      <a:srgbClr val="123045"/>
                    </a:solidFill>
                  </a:tcPr>
                </a:tc>
                <a:tc>
                  <a:txBody>
                    <a:bodyPr wrap="square"/>
                    <a:lstStyle/>
                    <a:p>
                      <a:r>
                        <a:rPr sz="1150" b="1">
                          <a:solidFill>
                            <a:srgbClr val="FFFFFF"/>
                          </a:solidFill>
                          <a:latin typeface="Segoe UI"/>
                        </a:rPr>
                        <a:t>How it is enforced now</a:t>
                      </a:r>
                    </a:p>
                  </a:txBody>
                  <a:tcPr anchor="ctr" marL="91440" marR="91440">
                    <a:solidFill>
                      <a:srgbClr val="123045"/>
                    </a:solidFill>
                  </a:tcPr>
                </a:tc>
              </a:tr>
              <a:tr h="397764">
                <a:tc>
                  <a:txBody>
                    <a:bodyPr wrap="square"/>
                    <a:lstStyle/>
                    <a:p>
                      <a:r>
                        <a:rPr sz="1150" b="0">
                          <a:solidFill>
                            <a:srgbClr val="0D1F2D"/>
                          </a:solidFill>
                          <a:latin typeface="Segoe UI"/>
                        </a:rPr>
                        <a:t>Pre-registered bars must not move quietly</a:t>
                      </a:r>
                    </a:p>
                  </a:txBody>
                  <a:tcPr anchor="ctr" marL="91440" marR="91440">
                    <a:solidFill>
                      <a:srgbClr val="E7F4EC"/>
                    </a:solidFill>
                  </a:tcPr>
                </a:tc>
                <a:tc>
                  <a:txBody>
                    <a:bodyPr wrap="square"/>
                    <a:lstStyle/>
                    <a:p>
                      <a:r>
                        <a:rPr sz="1100" b="0">
                          <a:solidFill>
                            <a:srgbClr val="5C6B78"/>
                          </a:solidFill>
                          <a:latin typeface="Segoe UI"/>
                        </a:rPr>
                        <a:t>A CI test parses the frozen document and asserts the three thresholds</a:t>
                      </a:r>
                    </a:p>
                  </a:txBody>
                  <a:tcPr anchor="ctr" marL="91440" marR="91440">
                    <a:solidFill>
                      <a:srgbClr val="E7F4EC"/>
                    </a:solidFill>
                  </a:tcPr>
                </a:tc>
              </a:tr>
              <a:tr h="397764">
                <a:tc>
                  <a:txBody>
                    <a:bodyPr wrap="square"/>
                    <a:lstStyle/>
                    <a:p>
                      <a:r>
                        <a:rPr sz="1150" b="0">
                          <a:solidFill>
                            <a:srgbClr val="0D1F2D"/>
                          </a:solidFill>
                          <a:latin typeface="Segoe UI"/>
                        </a:rPr>
                        <a:t>Unflattering numbers get reported, not dropped</a:t>
                      </a:r>
                    </a:p>
                  </a:txBody>
                  <a:tcPr anchor="ctr" marL="91440" marR="91440">
                    <a:solidFill>
                      <a:srgbClr val="E7F4EC"/>
                    </a:solidFill>
                  </a:tcPr>
                </a:tc>
                <a:tc>
                  <a:txBody>
                    <a:bodyPr wrap="square"/>
                    <a:lstStyle/>
                    <a:p>
                      <a:r>
                        <a:rPr sz="1100" b="0">
                          <a:solidFill>
                            <a:srgbClr val="5C6B78"/>
                          </a:solidFill>
                          <a:latin typeface="Segoe UI"/>
                        </a:rPr>
                        <a:t>The per-seed table is now mandatory in the verdict report</a:t>
                      </a:r>
                    </a:p>
                  </a:txBody>
                  <a:tcPr anchor="ctr" marL="91440" marR="91440">
                    <a:solidFill>
                      <a:srgbClr val="E7F4EC"/>
                    </a:solidFill>
                  </a:tcPr>
                </a:tc>
              </a:tr>
              <a:tr h="397764">
                <a:tc>
                  <a:txBody>
                    <a:bodyPr wrap="square"/>
                    <a:lstStyle/>
                    <a:p>
                      <a:r>
                        <a:rPr sz="1150" b="0">
                          <a:solidFill>
                            <a:srgbClr val="0D1F2D"/>
                          </a:solidFill>
                          <a:latin typeface="Segoe UI"/>
                        </a:rPr>
                        <a:t>No Phase 2 gate code before the verdict</a:t>
                      </a:r>
                    </a:p>
                  </a:txBody>
                  <a:tcPr anchor="ctr" marL="91440" marR="91440">
                    <a:solidFill>
                      <a:srgbClr val="E7F4EC"/>
                    </a:solidFill>
                  </a:tcPr>
                </a:tc>
                <a:tc>
                  <a:txBody>
                    <a:bodyPr wrap="square"/>
                    <a:lstStyle/>
                    <a:p>
                      <a:r>
                        <a:rPr sz="1100" b="0">
                          <a:solidFill>
                            <a:srgbClr val="5C6B78"/>
                          </a:solidFill>
                          <a:latin typeface="Segoe UI"/>
                        </a:rPr>
                        <a:t>CI fails if the gate stubs stop raising NotImplementedError</a:t>
                      </a:r>
                    </a:p>
                  </a:txBody>
                  <a:tcPr anchor="ctr" marL="91440" marR="91440">
                    <a:solidFill>
                      <a:srgbClr val="E7F4E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What comes next</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Section 3 of 3  ·  Blockers and decisions</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15</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10874959" cy="896112"/>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1883664"/>
            <a:ext cx="10106863" cy="621792"/>
          </a:xfrm>
          <a:prstGeom prst="rect">
            <a:avLst/>
          </a:prstGeom>
          <a:noFill/>
        </p:spPr>
        <p:txBody>
          <a:bodyPr wrap="square" anchor="t" lIns="0" rIns="0" tIns="0" bIns="0">
            <a:spAutoFit/>
          </a:bodyPr>
          <a:lstStyle/>
          <a:p>
            <a:pPr>
              <a:spcAft>
                <a:spcPts val="0"/>
              </a:spcAft>
            </a:pPr>
            <a:r>
              <a:rPr sz="2100" b="1">
                <a:solidFill>
                  <a:srgbClr val="FFFFFF"/>
                </a:solidFill>
                <a:latin typeface="Segoe UI"/>
              </a:rPr>
              <a:t>One purchase blocks the critical path. One technical decision needs the team.</a:t>
            </a:r>
          </a:p>
        </p:txBody>
      </p:sp>
      <p:sp>
        <p:nvSpPr>
          <p:cNvPr id="11" name="Rectangle 10"/>
          <p:cNvSpPr/>
          <p:nvPr/>
        </p:nvSpPr>
        <p:spPr>
          <a:xfrm>
            <a:off x="658368"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79776"/>
            <a:ext cx="45720" cy="1938528"/>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Blocked on a purchase</a:t>
            </a:r>
          </a:p>
          <a:p>
            <a:pPr>
              <a:spcAft>
                <a:spcPts val="0"/>
              </a:spcAft>
            </a:pPr>
            <a:r>
              <a:rPr sz="1200" b="0">
                <a:solidFill>
                  <a:srgbClr val="5C6B78"/>
                </a:solidFill>
                <a:latin typeface="Segoe UI"/>
              </a:rPr>
              <a:t>A Weights &amp; Biases entity, project and API key. Every GPU task waits on it, and no code change can route around it.</a:t>
            </a:r>
          </a:p>
        </p:txBody>
      </p:sp>
      <p:sp>
        <p:nvSpPr>
          <p:cNvPr id="14" name="Rectangle 13"/>
          <p:cNvSpPr/>
          <p:nvPr/>
        </p:nvSpPr>
        <p:spPr>
          <a:xfrm>
            <a:off x="4369003"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9003" y="2779776"/>
            <a:ext cx="45720" cy="193852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5035"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Blocked on a decision</a:t>
            </a:r>
          </a:p>
          <a:p>
            <a:pPr>
              <a:spcAft>
                <a:spcPts val="0"/>
              </a:spcAft>
            </a:pPr>
            <a:r>
              <a:rPr sz="1200" b="0">
                <a:solidFill>
                  <a:srgbClr val="5C6B78"/>
                </a:solidFill>
                <a:latin typeface="Segoe UI"/>
              </a:rPr>
              <a:t>Two independent fluency reference models now exist, built in parallel. They conflict, and the trade is real.</a:t>
            </a:r>
          </a:p>
        </p:txBody>
      </p:sp>
      <p:sp>
        <p:nvSpPr>
          <p:cNvPr id="17" name="Rectangle 16"/>
          <p:cNvSpPr/>
          <p:nvPr/>
        </p:nvSpPr>
        <p:spPr>
          <a:xfrm>
            <a:off x="8079638" y="2779776"/>
            <a:ext cx="3454603" cy="19385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9638" y="2779776"/>
            <a:ext cx="45720" cy="193852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5670" y="2962656"/>
            <a:ext cx="2997403" cy="1609344"/>
          </a:xfrm>
          <a:prstGeom prst="rect">
            <a:avLst/>
          </a:prstGeom>
          <a:noFill/>
        </p:spPr>
        <p:txBody>
          <a:bodyPr wrap="square" anchor="t" lIns="0" rIns="0" tIns="0" bIns="0">
            <a:spAutoFit/>
          </a:bodyPr>
          <a:lstStyle/>
          <a:p>
            <a:pPr>
              <a:spcAft>
                <a:spcPts val="700"/>
              </a:spcAft>
            </a:pPr>
            <a:r>
              <a:rPr sz="1400" b="1">
                <a:solidFill>
                  <a:srgbClr val="123045"/>
                </a:solidFill>
                <a:latin typeface="Segoe UI"/>
              </a:rPr>
              <a:t>Not blocked</a:t>
            </a:r>
          </a:p>
          <a:p>
            <a:pPr>
              <a:spcAft>
                <a:spcPts val="0"/>
              </a:spcAft>
            </a:pPr>
            <a:r>
              <a:rPr sz="1200" b="0">
                <a:solidFill>
                  <a:srgbClr val="5C6B78"/>
                </a:solidFill>
                <a:latin typeface="Segoe UI"/>
              </a:rPr>
              <a:t>Binding the carry overlay to the vendor model, the adversarial search, and the remaining administrative items.</a:t>
            </a:r>
          </a:p>
        </p:txBody>
      </p:sp>
      <p:sp>
        <p:nvSpPr>
          <p:cNvPr id="20" name="TextBox 19"/>
          <p:cNvSpPr txBox="1"/>
          <p:nvPr/>
        </p:nvSpPr>
        <p:spPr>
          <a:xfrm>
            <a:off x="658368" y="5010912"/>
            <a:ext cx="10874959" cy="822960"/>
          </a:xfrm>
          <a:prstGeom prst="rect">
            <a:avLst/>
          </a:prstGeom>
          <a:noFill/>
        </p:spPr>
        <p:txBody>
          <a:bodyPr wrap="square" anchor="t" lIns="0" rIns="0" tIns="0" bIns="0">
            <a:spAutoFit/>
          </a:bodyPr>
          <a:lstStyle/>
          <a:p>
            <a:r>
              <a:rPr sz="1500" b="1">
                <a:solidFill>
                  <a:srgbClr val="123045"/>
                </a:solidFill>
                <a:latin typeface="Segoe UI"/>
              </a:rPr>
              <a:t>Then, and only then.  </a:t>
            </a:r>
            <a:r>
              <a:rPr sz="1500" b="0">
                <a:solidFill>
                  <a:srgbClr val="0D1F2D"/>
                </a:solidFill>
                <a:latin typeface="Segoe UI"/>
              </a:rPr>
              <a:t>The verdict — and Phase 2 gate work only if it reads PROCEED.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The one hard blocker, and the path after it</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It is a purchase, not a document — which is why it is still open</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16</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10874959" cy="1188720"/>
          </a:xfrm>
          <a:prstGeom prst="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00784"/>
            <a:ext cx="45720" cy="1188720"/>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28800"/>
            <a:ext cx="10372039" cy="950976"/>
          </a:xfrm>
          <a:prstGeom prst="rect">
            <a:avLst/>
          </a:prstGeom>
          <a:noFill/>
        </p:spPr>
        <p:txBody>
          <a:bodyPr wrap="square" anchor="t" lIns="0" rIns="0" tIns="0" bIns="0">
            <a:spAutoFit/>
          </a:bodyPr>
          <a:lstStyle/>
          <a:p>
            <a:pPr>
              <a:spcAft>
                <a:spcPts val="400"/>
              </a:spcAft>
            </a:pPr>
            <a:r>
              <a:rPr sz="1150" b="1">
                <a:solidFill>
                  <a:srgbClr val="A82C2C"/>
                </a:solidFill>
                <a:latin typeface="Segoe UI"/>
              </a:rPr>
              <a:t>Why a logging key blocks a machine-learning experiment</a:t>
            </a:r>
          </a:p>
          <a:p>
            <a:pPr>
              <a:spcAft>
                <a:spcPts val="0"/>
              </a:spcAft>
            </a:pPr>
            <a:r>
              <a:rPr sz="1150" b="0">
                <a:solidFill>
                  <a:srgbClr val="0D1F2D"/>
                </a:solidFill>
                <a:latin typeface="Segoe UI"/>
              </a:rPr>
              <a:t>The vendor's Weights &amp; Biases login and an authenticated run query execute before the evaluation branch is reached, and the result drives the resume decision. Setting log_wandb=false does not avoid that path, and working around it would mean editing the vendor tree — which has no licence and which ADR-002 forbids us to modify.</a:t>
            </a:r>
          </a:p>
        </p:txBody>
      </p:sp>
      <p:graphicFrame>
        <p:nvGraphicFramePr>
          <p:cNvPr id="12" name="Table 11"/>
          <p:cNvGraphicFramePr>
            <a:graphicFrameLocks noGrp="1"/>
          </p:cNvGraphicFramePr>
          <p:nvPr/>
        </p:nvGraphicFramePr>
        <p:xfrm>
          <a:off x="658368" y="3108960"/>
          <a:ext cx="10874959" cy="2354580"/>
        </p:xfrm>
        <a:graphic>
          <a:graphicData uri="http://schemas.openxmlformats.org/drawingml/2006/table">
            <a:tbl>
              <a:tblPr>
                <a:tableStyleId>{5C22544A-7EE6-4342-B048-85BDC9FD1C3A}</a:tableStyleId>
              </a:tblPr>
              <a:tblGrid>
                <a:gridCol w="4480560"/>
                <a:gridCol w="4754880"/>
                <a:gridCol w="1639519"/>
              </a:tblGrid>
              <a:tr h="365760">
                <a:tc>
                  <a:txBody>
                    <a:bodyPr wrap="square"/>
                    <a:lstStyle/>
                    <a:p>
                      <a:r>
                        <a:rPr sz="1150" b="1">
                          <a:solidFill>
                            <a:srgbClr val="FFFFFF"/>
                          </a:solidFill>
                          <a:latin typeface="Segoe UI"/>
                        </a:rPr>
                        <a:t>Step</a:t>
                      </a:r>
                    </a:p>
                  </a:txBody>
                  <a:tcPr anchor="ctr" marL="91440" marR="91440">
                    <a:solidFill>
                      <a:srgbClr val="123045"/>
                    </a:solidFill>
                  </a:tcPr>
                </a:tc>
                <a:tc>
                  <a:txBody>
                    <a:bodyPr wrap="square"/>
                    <a:lstStyle/>
                    <a:p>
                      <a:r>
                        <a:rPr sz="1150" b="1">
                          <a:solidFill>
                            <a:srgbClr val="FFFFFF"/>
                          </a:solidFill>
                          <a:latin typeface="Segoe UI"/>
                        </a:rPr>
                        <a:t>Order and precondition</a:t>
                      </a:r>
                    </a:p>
                  </a:txBody>
                  <a:tcPr anchor="ctr" marL="91440" marR="91440">
                    <a:solidFill>
                      <a:srgbClr val="123045"/>
                    </a:solidFill>
                  </a:tcPr>
                </a:tc>
                <a:tc>
                  <a:txBody>
                    <a:bodyPr wrap="square"/>
                    <a:lstStyle/>
                    <a:p>
                      <a:r>
                        <a:rPr sz="1150" b="1">
                          <a:solidFill>
                            <a:srgbClr val="FFFFFF"/>
                          </a:solidFill>
                          <a:latin typeface="Segoe UI"/>
                        </a:rPr>
                        <a:t>Cost</a:t>
                      </a:r>
                    </a:p>
                  </a:txBody>
                  <a:tcPr anchor="ctr" marL="91440" marR="91440">
                    <a:solidFill>
                      <a:srgbClr val="123045"/>
                    </a:solidFill>
                  </a:tcPr>
                </a:tc>
              </a:tr>
              <a:tr h="397764">
                <a:tc>
                  <a:txBody>
                    <a:bodyPr wrap="square"/>
                    <a:lstStyle/>
                    <a:p>
                      <a:r>
                        <a:rPr sz="1150" b="0">
                          <a:solidFill>
                            <a:srgbClr val="0D1F2D"/>
                          </a:solidFill>
                          <a:latin typeface="Segoe UI"/>
                        </a:rPr>
                        <a:t>Procure the W&amp;B entity, project and key</a:t>
                      </a:r>
                    </a:p>
                  </a:txBody>
                  <a:tcPr anchor="ctr" marL="91440" marR="91440">
                    <a:solidFill>
                      <a:srgbClr val="FBECEC"/>
                    </a:solidFill>
                  </a:tcPr>
                </a:tc>
                <a:tc>
                  <a:txBody>
                    <a:bodyPr wrap="square"/>
                    <a:lstStyle/>
                    <a:p>
                      <a:r>
                        <a:rPr sz="1100" b="0">
                          <a:solidFill>
                            <a:srgbClr val="5C6B78"/>
                          </a:solidFill>
                          <a:latin typeface="Segoe UI"/>
                        </a:rPr>
                        <a:t>first — nothing else can start</a:t>
                      </a:r>
                    </a:p>
                  </a:txBody>
                  <a:tcPr anchor="ctr" marL="91440" marR="91440">
                    <a:solidFill>
                      <a:srgbClr val="FBECEC"/>
                    </a:solidFill>
                  </a:tcPr>
                </a:tc>
                <a:tc>
                  <a:txBody>
                    <a:bodyPr wrap="square"/>
                    <a:lstStyle/>
                    <a:p>
                      <a:r>
                        <a:rPr sz="1100" b="1">
                          <a:solidFill>
                            <a:srgbClr val="A82C2C"/>
                          </a:solidFill>
                          <a:latin typeface="Segoe UI"/>
                        </a:rPr>
                        <a:t>purchase</a:t>
                      </a:r>
                    </a:p>
                  </a:txBody>
                  <a:tcPr anchor="ctr" marL="91440" marR="91440">
                    <a:solidFill>
                      <a:srgbClr val="FBECEC"/>
                    </a:solidFill>
                  </a:tcPr>
                </a:tc>
              </a:tr>
              <a:tr h="397764">
                <a:tc>
                  <a:txBody>
                    <a:bodyPr wrap="square"/>
                    <a:lstStyle/>
                    <a:p>
                      <a:r>
                        <a:rPr sz="1150" b="0">
                          <a:solidFill>
                            <a:srgbClr val="0D1F2D"/>
                          </a:solidFill>
                          <a:latin typeface="Segoe UI"/>
                        </a:rPr>
                        <a:t>Probe the dataset size</a:t>
                      </a:r>
                    </a:p>
                  </a:txBody>
                  <a:tcPr anchor="ctr" marL="91440" marR="91440">
                    <a:solidFill>
                      <a:srgbClr val="E7F4EC"/>
                    </a:solidFill>
                  </a:tcPr>
                </a:tc>
                <a:tc>
                  <a:txBody>
                    <a:bodyPr wrap="square"/>
                    <a:lstStyle/>
                    <a:p>
                      <a:r>
                        <a:rPr sz="1100" b="0">
                          <a:solidFill>
                            <a:srgbClr val="5C6B78"/>
                          </a:solidFill>
                          <a:latin typeface="Segoe UI"/>
                        </a:rPr>
                        <a:t>metadata only, before any egress</a:t>
                      </a:r>
                    </a:p>
                  </a:txBody>
                  <a:tcPr anchor="ctr" marL="91440" marR="91440">
                    <a:solidFill>
                      <a:srgbClr val="E7F4EC"/>
                    </a:solidFill>
                  </a:tcPr>
                </a:tc>
                <a:tc>
                  <a:txBody>
                    <a:bodyPr wrap="square"/>
                    <a:lstStyle/>
                    <a:p>
                      <a:r>
                        <a:rPr sz="1100" b="1">
                          <a:solidFill>
                            <a:srgbClr val="157A4A"/>
                          </a:solidFill>
                          <a:latin typeface="Segoe UI"/>
                        </a:rPr>
                        <a:t>free</a:t>
                      </a:r>
                    </a:p>
                  </a:txBody>
                  <a:tcPr anchor="ctr" marL="91440" marR="91440">
                    <a:solidFill>
                      <a:srgbClr val="E7F4EC"/>
                    </a:solidFill>
                  </a:tcPr>
                </a:tc>
              </a:tr>
              <a:tr h="397764">
                <a:tc>
                  <a:txBody>
                    <a:bodyPr wrap="square"/>
                    <a:lstStyle/>
                    <a:p>
                      <a:r>
                        <a:rPr sz="1150" b="0">
                          <a:solidFill>
                            <a:srgbClr val="0D1F2D"/>
                          </a:solidFill>
                          <a:latin typeface="Segoe UI"/>
                        </a:rPr>
                        <a:t>Claim a booking row, then provision</a:t>
                      </a:r>
                    </a:p>
                  </a:txBody>
                  <a:tcPr anchor="ctr" marL="91440" marR="91440">
                    <a:solidFill>
                      <a:srgbClr val="FDF1DF"/>
                    </a:solidFill>
                  </a:tcPr>
                </a:tc>
                <a:tc>
                  <a:txBody>
                    <a:bodyPr wrap="square"/>
                    <a:lstStyle/>
                    <a:p>
                      <a:r>
                        <a:rPr sz="1100" b="0">
                          <a:solidFill>
                            <a:srgbClr val="5C6B78"/>
                          </a:solidFill>
                          <a:latin typeface="Segoe UI"/>
                        </a:rPr>
                        <a:t>claimed BEFORE billing starts</a:t>
                      </a:r>
                    </a:p>
                  </a:txBody>
                  <a:tcPr anchor="ctr" marL="91440" marR="91440">
                    <a:solidFill>
                      <a:srgbClr val="FDF1DF"/>
                    </a:solidFill>
                  </a:tcPr>
                </a:tc>
                <a:tc>
                  <a:txBody>
                    <a:bodyPr wrap="square"/>
                    <a:lstStyle/>
                    <a:p>
                      <a:r>
                        <a:rPr sz="1100" b="1">
                          <a:solidFill>
                            <a:srgbClr val="B45309"/>
                          </a:solidFill>
                          <a:latin typeface="Segoe UI"/>
                        </a:rPr>
                        <a:t>logged</a:t>
                      </a:r>
                    </a:p>
                  </a:txBody>
                  <a:tcPr anchor="ctr" marL="91440" marR="91440">
                    <a:solidFill>
                      <a:srgbClr val="FDF1DF"/>
                    </a:solidFill>
                  </a:tcPr>
                </a:tc>
              </a:tr>
              <a:tr h="397764">
                <a:tc>
                  <a:txBody>
                    <a:bodyPr wrap="square"/>
                    <a:lstStyle/>
                    <a:p>
                      <a:r>
                        <a:rPr sz="1150" b="0">
                          <a:solidFill>
                            <a:srgbClr val="0D1F2D"/>
                          </a:solidFill>
                          <a:latin typeface="Segoe UI"/>
                        </a:rPr>
                        <a:t>Rehearse on the 125M model</a:t>
                      </a:r>
                    </a:p>
                  </a:txBody>
                  <a:tcPr anchor="ctr" marL="91440" marR="91440">
                    <a:solidFill>
                      <a:srgbClr val="FDF1DF"/>
                    </a:solidFill>
                  </a:tcPr>
                </a:tc>
                <a:tc>
                  <a:txBody>
                    <a:bodyPr wrap="square"/>
                    <a:lstStyle/>
                    <a:p>
                      <a:r>
                        <a:rPr sz="1100" b="0">
                          <a:solidFill>
                            <a:srgbClr val="5C6B78"/>
                          </a:solidFill>
                          <a:latin typeface="Segoe UI"/>
                        </a:rPr>
                        <a:t>before the 1B run, same session</a:t>
                      </a:r>
                    </a:p>
                  </a:txBody>
                  <a:tcPr anchor="ctr" marL="91440" marR="91440">
                    <a:solidFill>
                      <a:srgbClr val="FDF1DF"/>
                    </a:solidFill>
                  </a:tcPr>
                </a:tc>
                <a:tc>
                  <a:txBody>
                    <a:bodyPr wrap="square"/>
                    <a:lstStyle/>
                    <a:p>
                      <a:r>
                        <a:rPr sz="1100" b="1">
                          <a:solidFill>
                            <a:srgbClr val="B45309"/>
                          </a:solidFill>
                          <a:latin typeface="Segoe UI"/>
                        </a:rPr>
                        <a:t>minutes</a:t>
                      </a:r>
                    </a:p>
                  </a:txBody>
                  <a:tcPr anchor="ctr" marL="91440" marR="91440">
                    <a:solidFill>
                      <a:srgbClr val="FDF1DF"/>
                    </a:solidFill>
                  </a:tcPr>
                </a:tc>
              </a:tr>
              <a:tr h="397764">
                <a:tc>
                  <a:txBody>
                    <a:bodyPr wrap="square"/>
                    <a:lstStyle/>
                    <a:p>
                      <a:r>
                        <a:rPr sz="1150" b="0">
                          <a:solidFill>
                            <a:srgbClr val="0D1F2D"/>
                          </a:solidFill>
                          <a:latin typeface="Segoe UI"/>
                        </a:rPr>
                        <a:t>Run 1B, read the bar before the number</a:t>
                      </a:r>
                    </a:p>
                  </a:txBody>
                  <a:tcPr anchor="ctr" marL="91440" marR="91440">
                    <a:solidFill>
                      <a:srgbClr val="FDF1DF"/>
                    </a:solidFill>
                  </a:tcPr>
                </a:tc>
                <a:tc>
                  <a:txBody>
                    <a:bodyPr wrap="square"/>
                    <a:lstStyle/>
                    <a:p>
                      <a:r>
                        <a:rPr sz="1100" b="0">
                          <a:solidFill>
                            <a:srgbClr val="5C6B78"/>
                          </a:solidFill>
                          <a:latin typeface="Segoe UI"/>
                        </a:rPr>
                        <a:t>Standing Rule 5</a:t>
                      </a:r>
                    </a:p>
                  </a:txBody>
                  <a:tcPr anchor="ctr" marL="91440" marR="91440">
                    <a:solidFill>
                      <a:srgbClr val="FDF1DF"/>
                    </a:solidFill>
                  </a:tcPr>
                </a:tc>
                <a:tc>
                  <a:txBody>
                    <a:bodyPr wrap="square"/>
                    <a:lstStyle/>
                    <a:p>
                      <a:r>
                        <a:rPr sz="1100" b="1">
                          <a:solidFill>
                            <a:srgbClr val="B45309"/>
                          </a:solidFill>
                          <a:latin typeface="Segoe UI"/>
                        </a:rPr>
                        <a:t>$10–35</a:t>
                      </a:r>
                    </a:p>
                  </a:txBody>
                  <a:tcPr anchor="ctr" marL="91440" marR="91440">
                    <a:solidFill>
                      <a:srgbClr val="FDF1D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A decision the team has to make</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Two independent fluency reference models now exist, and they conflict</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17</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454603"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00784"/>
            <a:ext cx="45720" cy="210312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83664"/>
            <a:ext cx="2997403" cy="177393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GPT-2 small  (124M)</a:t>
            </a:r>
          </a:p>
          <a:p>
            <a:pPr>
              <a:spcAft>
                <a:spcPts val="0"/>
              </a:spcAft>
            </a:pPr>
            <a:r>
              <a:rPr sz="1200" b="0">
                <a:solidFill>
                  <a:srgbClr val="5C6B78"/>
                </a:solidFill>
                <a:latin typeface="Segoe UI"/>
              </a:rPr>
              <a:t>Different corpus, different tokenizer, different architecture era — maximum distance from the victim. Costs a decode and re-encode step between two tokenizers.</a:t>
            </a:r>
          </a:p>
        </p:txBody>
      </p:sp>
      <p:sp>
        <p:nvSpPr>
          <p:cNvPr id="12" name="Rectangle 11"/>
          <p:cNvSpPr/>
          <p:nvPr/>
        </p:nvSpPr>
        <p:spPr>
          <a:xfrm>
            <a:off x="4369003" y="1700784"/>
            <a:ext cx="3454603"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9003" y="1700784"/>
            <a:ext cx="45720" cy="21031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5035" y="1883664"/>
            <a:ext cx="2997403" cy="177393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Llama-3.2-1B</a:t>
            </a:r>
          </a:p>
          <a:p>
            <a:pPr>
              <a:spcAft>
                <a:spcPts val="0"/>
              </a:spcAft>
            </a:pPr>
            <a:r>
              <a:rPr sz="1200" b="0">
                <a:solidFill>
                  <a:srgbClr val="5C6B78"/>
                </a:solidFill>
                <a:latin typeface="Segoe UI"/>
              </a:rPr>
              <a:t>Shares the victim's Llama-3 tokenizer, so crafted token IDs feed straight in with no tokenization seam. A stronger language model, but much closer to the victim.</a:t>
            </a:r>
          </a:p>
        </p:txBody>
      </p:sp>
      <p:sp>
        <p:nvSpPr>
          <p:cNvPr id="15" name="Rectangle 14"/>
          <p:cNvSpPr/>
          <p:nvPr/>
        </p:nvSpPr>
        <p:spPr>
          <a:xfrm>
            <a:off x="8079638" y="1700784"/>
            <a:ext cx="3454603"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9638" y="1700784"/>
            <a:ext cx="45720" cy="2103120"/>
          </a:xfrm>
          <a:prstGeom prst="rect">
            <a:avLst/>
          </a:prstGeom>
          <a:solidFill>
            <a:srgbClr val="A8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5670" y="1883664"/>
            <a:ext cx="2997403" cy="1773936"/>
          </a:xfrm>
          <a:prstGeom prst="rect">
            <a:avLst/>
          </a:prstGeom>
          <a:noFill/>
        </p:spPr>
        <p:txBody>
          <a:bodyPr wrap="square" anchor="t" lIns="0" rIns="0" tIns="0" bIns="0">
            <a:spAutoFit/>
          </a:bodyPr>
          <a:lstStyle/>
          <a:p>
            <a:pPr>
              <a:spcAft>
                <a:spcPts val="700"/>
              </a:spcAft>
            </a:pPr>
            <a:r>
              <a:rPr sz="1400" b="1">
                <a:solidFill>
                  <a:srgbClr val="123045"/>
                </a:solidFill>
                <a:latin typeface="Segoe UI"/>
              </a:rPr>
              <a:t>Why it cannot be settled by merge order</a:t>
            </a:r>
          </a:p>
          <a:p>
            <a:pPr>
              <a:spcAft>
                <a:spcPts val="0"/>
              </a:spcAft>
            </a:pPr>
            <a:r>
              <a:rPr sz="1200" b="0">
                <a:solidFill>
                  <a:srgbClr val="5C6B78"/>
                </a:solidFill>
                <a:latin typeface="Segoe UI"/>
              </a:rPr>
              <a:t>Whichever is chosen changes what a fluency number means. It wants an ADR before any such number is used in a verdict.</a:t>
            </a:r>
          </a:p>
        </p:txBody>
      </p:sp>
      <p:sp>
        <p:nvSpPr>
          <p:cNvPr id="18" name="Rectangle 17"/>
          <p:cNvSpPr/>
          <p:nvPr/>
        </p:nvSpPr>
        <p:spPr>
          <a:xfrm>
            <a:off x="658368" y="4023360"/>
            <a:ext cx="10874959" cy="1737360"/>
          </a:xfrm>
          <a:prstGeom prst="rect">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4023360"/>
            <a:ext cx="45720" cy="17373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151376"/>
            <a:ext cx="10372039" cy="1499616"/>
          </a:xfrm>
          <a:prstGeom prst="rect">
            <a:avLst/>
          </a:prstGeom>
          <a:noFill/>
        </p:spPr>
        <p:txBody>
          <a:bodyPr wrap="square" anchor="t" lIns="0" rIns="0" tIns="0" bIns="0">
            <a:spAutoFit/>
          </a:bodyPr>
          <a:lstStyle/>
          <a:p>
            <a:pPr>
              <a:spcAft>
                <a:spcPts val="400"/>
              </a:spcAft>
            </a:pPr>
            <a:r>
              <a:rPr sz="1150" b="1">
                <a:solidFill>
                  <a:srgbClr val="B45309"/>
                </a:solidFill>
                <a:latin typeface="Segoe UI"/>
              </a:rPr>
              <a:t>The trade, stated fairly — and a guard of ours that is wrong either way</a:t>
            </a:r>
          </a:p>
          <a:p>
            <a:pPr>
              <a:spcAft>
                <a:spcPts val="0"/>
              </a:spcAft>
            </a:pPr>
            <a:r>
              <a:rPr sz="1150" b="0">
                <a:solidFill>
                  <a:srgbClr val="0D1F2D"/>
                </a:solidFill>
                <a:latin typeface="Segoe UI"/>
              </a:rPr>
              <a:t>Seam-free scoring versus distance from the model under attack. Both are defensible: the pre-registration forbids scoring with the victim, and a sibling model that merely shares a tokenizer is not the victim. Our current independence guard rejects any reference sharing the victim's 128,256-token vocabulary — which would reject Llama-3.2 as a false positive. That guard was written to catch “someone passed the victim”; if Llama-3.2 is chosen it must check model identity instead of vocabulary width.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475488"/>
            <a:ext cx="50292" cy="384048"/>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02336"/>
            <a:ext cx="10600639" cy="548640"/>
          </a:xfrm>
          <a:prstGeom prst="rect">
            <a:avLst/>
          </a:prstGeom>
          <a:noFill/>
        </p:spPr>
        <p:txBody>
          <a:bodyPr wrap="square" anchor="t" lIns="0" rIns="0" tIns="0" bIns="0">
            <a:spAutoFit/>
          </a:bodyPr>
          <a:lstStyle/>
          <a:p>
            <a:pPr>
              <a:spcAft>
                <a:spcPts val="0"/>
              </a:spcAft>
            </a:pPr>
            <a:r>
              <a:rPr sz="2700" b="1">
                <a:solidFill>
                  <a:srgbClr val="123045"/>
                </a:solidFill>
                <a:latin typeface="Segoe UI"/>
              </a:rPr>
              <a:t>Where we stand</a:t>
            </a:r>
          </a:p>
        </p:txBody>
      </p:sp>
      <p:sp>
        <p:nvSpPr>
          <p:cNvPr id="5" name="TextBox 4"/>
          <p:cNvSpPr txBox="1"/>
          <p:nvPr/>
        </p:nvSpPr>
        <p:spPr>
          <a:xfrm>
            <a:off x="859536" y="969264"/>
            <a:ext cx="10600639" cy="365760"/>
          </a:xfrm>
          <a:prstGeom prst="rect">
            <a:avLst/>
          </a:prstGeom>
          <a:noFill/>
        </p:spPr>
        <p:txBody>
          <a:bodyPr wrap="square" anchor="t" lIns="0" rIns="0" tIns="0" bIns="0">
            <a:spAutoFit/>
          </a:bodyPr>
          <a:lstStyle/>
          <a:p>
            <a:pPr>
              <a:spcAft>
                <a:spcPts val="0"/>
              </a:spcAft>
            </a:pPr>
            <a:r>
              <a:rPr sz="1350" b="0">
                <a:solidFill>
                  <a:srgbClr val="5C6B78"/>
                </a:solidFill>
                <a:latin typeface="Segoe UI"/>
              </a:rPr>
              <a:t>Summary</a:t>
            </a:r>
          </a:p>
        </p:txBody>
      </p:sp>
      <p:sp>
        <p:nvSpPr>
          <p:cNvPr id="6" name="Rectangle 5"/>
          <p:cNvSpPr/>
          <p:nvPr/>
        </p:nvSpPr>
        <p:spPr>
          <a:xfrm>
            <a:off x="658368" y="1426464"/>
            <a:ext cx="10874959" cy="10972"/>
          </a:xfrm>
          <a:prstGeom prst="rect">
            <a:avLst/>
          </a:prstGeom>
          <a:solidFill>
            <a:srgbClr val="D8D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20095" y="6382512"/>
            <a:ext cx="731520" cy="274320"/>
          </a:xfrm>
          <a:prstGeom prst="rect">
            <a:avLst/>
          </a:prstGeom>
          <a:noFill/>
        </p:spPr>
        <p:txBody>
          <a:bodyPr wrap="square" anchor="t" lIns="0" rIns="0" tIns="0" bIns="0">
            <a:spAutoFit/>
          </a:bodyPr>
          <a:lstStyle/>
          <a:p>
            <a:pPr algn="r">
              <a:spcAft>
                <a:spcPts val="0"/>
              </a:spcAft>
            </a:pPr>
            <a:r>
              <a:rPr sz="1000" b="0">
                <a:solidFill>
                  <a:srgbClr val="8A97A2"/>
                </a:solidFill>
                <a:latin typeface="Segoe UI"/>
              </a:rPr>
              <a:t>18</a:t>
            </a:r>
          </a:p>
        </p:txBody>
      </p:sp>
      <p:sp>
        <p:nvSpPr>
          <p:cNvPr id="8" name="TextBox 7"/>
          <p:cNvSpPr txBox="1"/>
          <p:nvPr/>
        </p:nvSpPr>
        <p:spPr>
          <a:xfrm>
            <a:off x="658368" y="6382512"/>
            <a:ext cx="7315200" cy="274320"/>
          </a:xfrm>
          <a:prstGeom prst="rect">
            <a:avLst/>
          </a:prstGeom>
          <a:noFill/>
        </p:spPr>
        <p:txBody>
          <a:bodyPr wrap="square" anchor="t" lIns="0" rIns="0" tIns="0" bIns="0">
            <a:spAutoFit/>
          </a:bodyPr>
          <a:lstStyle/>
          <a:p>
            <a:pPr>
              <a:spcAft>
                <a:spcPts val="0"/>
              </a:spcAft>
            </a:pPr>
            <a:r>
              <a:rPr sz="950" b="0">
                <a:solidFill>
                  <a:srgbClr val="8A97A2"/>
                </a:solidFill>
                <a:latin typeface="Segoe UI"/>
              </a:rPr>
              <a:t>Trust-Gated Fast-Weight Updates for TTT-E2E LLMs</a:t>
            </a:r>
          </a:p>
        </p:txBody>
      </p:sp>
      <p:sp>
        <p:nvSpPr>
          <p:cNvPr id="9" name="Rectangle 8"/>
          <p:cNvSpPr/>
          <p:nvPr/>
        </p:nvSpPr>
        <p:spPr>
          <a:xfrm>
            <a:off x="658368"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$0</a:t>
            </a:r>
          </a:p>
        </p:txBody>
      </p:sp>
      <p:sp>
        <p:nvSpPr>
          <p:cNvPr id="11" name="TextBox 10"/>
          <p:cNvSpPr txBox="1"/>
          <p:nvPr/>
        </p:nvSpPr>
        <p:spPr>
          <a:xfrm>
            <a:off x="2231136"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spent</a:t>
            </a:r>
          </a:p>
          <a:p>
            <a:pPr>
              <a:spcAft>
                <a:spcPts val="0"/>
              </a:spcAft>
            </a:pPr>
            <a:r>
              <a:rPr sz="1050" b="0">
                <a:solidFill>
                  <a:srgbClr val="8A97A2"/>
                </a:solidFill>
                <a:latin typeface="Segoe UI"/>
              </a:rPr>
              <a:t>of a $325 written cap</a:t>
            </a:r>
          </a:p>
        </p:txBody>
      </p:sp>
      <p:sp>
        <p:nvSpPr>
          <p:cNvPr id="12" name="Rectangle 11"/>
          <p:cNvSpPr/>
          <p:nvPr/>
        </p:nvSpPr>
        <p:spPr>
          <a:xfrm>
            <a:off x="4187952"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197</a:t>
            </a:r>
          </a:p>
        </p:txBody>
      </p:sp>
      <p:sp>
        <p:nvSpPr>
          <p:cNvPr id="14" name="TextBox 13"/>
          <p:cNvSpPr txBox="1"/>
          <p:nvPr/>
        </p:nvSpPr>
        <p:spPr>
          <a:xfrm>
            <a:off x="5760720"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tests passing</a:t>
            </a:r>
          </a:p>
          <a:p>
            <a:pPr>
              <a:spcAft>
                <a:spcPts val="0"/>
              </a:spcAft>
            </a:pPr>
            <a:r>
              <a:rPr sz="1050" b="0">
                <a:solidFill>
                  <a:srgbClr val="8A97A2"/>
                </a:solidFill>
                <a:latin typeface="Segoe UI"/>
              </a:rPr>
              <a:t>31 at the start of this period</a:t>
            </a:r>
          </a:p>
        </p:txBody>
      </p:sp>
      <p:sp>
        <p:nvSpPr>
          <p:cNvPr id="15" name="Rectangle 14"/>
          <p:cNvSpPr/>
          <p:nvPr/>
        </p:nvSpPr>
        <p:spPr>
          <a:xfrm>
            <a:off x="7717536" y="1700784"/>
            <a:ext cx="3291840" cy="1042415"/>
          </a:xfrm>
          <a:prstGeom prst="rect">
            <a:avLst/>
          </a:prstGeom>
          <a:solidFill>
            <a:srgbClr val="0D1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91856" y="1865376"/>
            <a:ext cx="1371600" cy="731520"/>
          </a:xfrm>
          <a:prstGeom prst="rect">
            <a:avLst/>
          </a:prstGeom>
          <a:noFill/>
        </p:spPr>
        <p:txBody>
          <a:bodyPr wrap="square" anchor="ctr" lIns="0" rIns="0" tIns="0" bIns="0">
            <a:spAutoFit/>
          </a:bodyPr>
          <a:lstStyle/>
          <a:p>
            <a:pPr>
              <a:spcAft>
                <a:spcPts val="0"/>
              </a:spcAft>
            </a:pPr>
            <a:r>
              <a:rPr sz="3000" b="1">
                <a:solidFill>
                  <a:srgbClr val="0E9F94"/>
                </a:solidFill>
                <a:latin typeface="Segoe UI"/>
              </a:rPr>
              <a:t>0</a:t>
            </a:r>
          </a:p>
        </p:txBody>
      </p:sp>
      <p:sp>
        <p:nvSpPr>
          <p:cNvPr id="17" name="TextBox 16"/>
          <p:cNvSpPr txBox="1"/>
          <p:nvPr/>
        </p:nvSpPr>
        <p:spPr>
          <a:xfrm>
            <a:off x="9290304" y="1883664"/>
            <a:ext cx="1554480" cy="731519"/>
          </a:xfrm>
          <a:prstGeom prst="rect">
            <a:avLst/>
          </a:prstGeom>
          <a:noFill/>
        </p:spPr>
        <p:txBody>
          <a:bodyPr wrap="square" anchor="t" lIns="0" rIns="0" tIns="0" bIns="0">
            <a:spAutoFit/>
          </a:bodyPr>
          <a:lstStyle/>
          <a:p>
            <a:pPr>
              <a:spcAft>
                <a:spcPts val="200"/>
              </a:spcAft>
            </a:pPr>
            <a:r>
              <a:rPr sz="1300" b="1">
                <a:solidFill>
                  <a:srgbClr val="FFFFFF"/>
                </a:solidFill>
                <a:latin typeface="Segoe UI"/>
              </a:rPr>
              <a:t>numbers produced</a:t>
            </a:r>
          </a:p>
          <a:p>
            <a:pPr>
              <a:spcAft>
                <a:spcPts val="0"/>
              </a:spcAft>
            </a:pPr>
            <a:r>
              <a:rPr sz="1050" b="0">
                <a:solidFill>
                  <a:srgbClr val="8A97A2"/>
                </a:solidFill>
                <a:latin typeface="Segoe UI"/>
              </a:rPr>
              <a:t>and therefore no verdict</a:t>
            </a:r>
          </a:p>
        </p:txBody>
      </p:sp>
      <p:sp>
        <p:nvSpPr>
          <p:cNvPr id="18" name="TextBox 17"/>
          <p:cNvSpPr txBox="1"/>
          <p:nvPr/>
        </p:nvSpPr>
        <p:spPr>
          <a:xfrm>
            <a:off x="658368" y="3063240"/>
            <a:ext cx="10874959" cy="1874519"/>
          </a:xfrm>
          <a:prstGeom prst="rect">
            <a:avLst/>
          </a:prstGeom>
          <a:noFill/>
        </p:spPr>
        <p:txBody>
          <a:bodyPr wrap="square" anchor="t" lIns="0" rIns="0" tIns="0" bIns="0">
            <a:spAutoFit/>
          </a:bodyPr>
          <a:lstStyle/>
          <a:p>
            <a:pPr>
              <a:spcAft>
                <a:spcPts val="1000"/>
              </a:spcAft>
            </a:pPr>
            <a:r>
              <a:rPr sz="1600" b="1">
                <a:solidFill>
                  <a:srgbClr val="123045"/>
                </a:solidFill>
                <a:latin typeface="Segoe UI"/>
              </a:rPr>
              <a:t>The question is not yet answered — and could not honestly have been by now.</a:t>
            </a:r>
          </a:p>
          <a:p>
            <a:pPr>
              <a:spcAft>
                <a:spcPts val="800"/>
              </a:spcAft>
            </a:pPr>
            <a:r>
              <a:rPr sz="1400" b="0">
                <a:solidFill>
                  <a:srgbClr val="0D1F2D"/>
                </a:solidFill>
                <a:latin typeface="Segoe UI"/>
              </a:rPr>
              <a:t>What exists: a runnable experiment, a validated instrument, a frozen bar, and a written record of every decision that could later look convenient.</a:t>
            </a:r>
          </a:p>
          <a:p>
            <a:pPr>
              <a:spcAft>
                <a:spcPts val="800"/>
              </a:spcAft>
            </a:pPr>
            <a:r>
              <a:rPr sz="1400" b="0">
                <a:solidFill>
                  <a:srgbClr val="157A4A"/>
                </a:solidFill>
                <a:latin typeface="Segoe UI"/>
              </a:rPr>
              <a:t>What was avoided: five distinct routes to a scientifically worthless answer — three of them false-STOP paths that the numbers alone could never have revealed.</a:t>
            </a:r>
          </a:p>
          <a:p>
            <a:pPr>
              <a:spcAft>
                <a:spcPts val="0"/>
              </a:spcAft>
            </a:pPr>
            <a:r>
              <a:rPr sz="1400" b="0">
                <a:solidFill>
                  <a:srgbClr val="B45309"/>
                </a:solidFill>
                <a:latin typeface="Segoe UI"/>
              </a:rPr>
              <a:t>What is honest to say: the bounded-drift guarantee is designed and not yet enforced, and one of our three bars cannot detect a repetitive stream.</a:t>
            </a:r>
          </a:p>
        </p:txBody>
      </p:sp>
      <p:sp>
        <p:nvSpPr>
          <p:cNvPr id="19" name="Rectangle 18"/>
          <p:cNvSpPr/>
          <p:nvPr/>
        </p:nvSpPr>
        <p:spPr>
          <a:xfrm>
            <a:off x="658368" y="5074920"/>
            <a:ext cx="10874959" cy="685800"/>
          </a:xfrm>
          <a:prstGeom prst="rect">
            <a:avLst/>
          </a:prstGeom>
          <a:solidFill>
            <a:srgbClr val="E7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5074920"/>
            <a:ext cx="45720" cy="685800"/>
          </a:xfrm>
          <a:prstGeom prst="rect">
            <a:avLst/>
          </a:prstGeom>
          <a:solidFill>
            <a:srgbClr val="0E9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5202936"/>
            <a:ext cx="10372039" cy="448056"/>
          </a:xfrm>
          <a:prstGeom prst="rect">
            <a:avLst/>
          </a:prstGeom>
          <a:noFill/>
        </p:spPr>
        <p:txBody>
          <a:bodyPr wrap="square" anchor="t" lIns="0" rIns="0" tIns="0" bIns="0">
            <a:spAutoFit/>
          </a:bodyPr>
          <a:lstStyle/>
          <a:p>
            <a:pPr>
              <a:spcAft>
                <a:spcPts val="400"/>
              </a:spcAft>
            </a:pPr>
            <a:r>
              <a:rPr sz="1150" b="1">
                <a:solidFill>
                  <a:srgbClr val="0E9F94"/>
                </a:solidFill>
                <a:latin typeface="Segoe UI"/>
              </a:rPr>
              <a:t>Next step</a:t>
            </a:r>
          </a:p>
          <a:p>
            <a:pPr>
              <a:spcAft>
                <a:spcPts val="0"/>
              </a:spcAft>
            </a:pPr>
            <a:r>
              <a:rPr sz="1150" b="0">
                <a:solidFill>
                  <a:srgbClr val="0D1F2D"/>
                </a:solidFill>
                <a:latin typeface="Segoe UI"/>
              </a:rPr>
              <a:t>One purchase. Everything downstream of it is written, tested and waiting.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