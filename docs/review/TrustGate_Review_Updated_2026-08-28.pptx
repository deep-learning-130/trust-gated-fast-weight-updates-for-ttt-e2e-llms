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2.svg" ContentType="image/svg+xml"/>
  <Override PartName="/ppt/media/image-5-2.svg" ContentType="image/svg+xml"/>
  <Override PartName="/ppt/media/image-5-8.svg" ContentType="image/svg+xml"/>
  <Override PartName="/ppt/media/image-8-2.svg" ContentType="image/svg+xml"/>
  <Override PartName="/ppt/media/image-8-6.svg" ContentType="image/svg+xml"/>
  <Override PartName="/ppt/media/image-9-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This project is called TrustGate. The one-line version is that a new class of language model has started updating its own weights while it is serving requests, and we think that turns the serving path into a write path into model state. Our work is the defense for that, and just as importantly, the experiment that tests whether the threat is real before we build the defense. I want to flag one thing up front: this repository has been public since the first of August. That was a deliberate decision, and it means the US filing window is now a deadline rather than a safety net.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background on what we are defending. Standard attention costs grow with the square of the sequence length, which makes very long contexts expensive. TTT-E2E takes a different route: it treats long context as continual learning. While the model reads your context, it runs an inner training loop and updates a small set of what the authors call fast weights. The base weights stay frozen. The fast weights absorb the context. That is genuinely clever, and it is why the architecture is interesting. It is also the entire reason we are standing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risk. Because the model learns from the context, the serving path is now a write path into model state. An attacker does not need to touch your training data, your base weights, or our defense code. They only need to supply context, which is the one thing the system is built to accept. And the danger is cumulative. No single update looks abnormal. The harm arrives as a slow drift across many ordinary-looking updates, and it shows up later, on unrelated benign inputs, or as a latent trigger that fires on a phrase the attacker chose.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checked whether anyone had already solved this. They have not. Federated learning has excellent defenses, but they assume you are aggregating updates from many clients, and here there is a single stream with nothing to aggregate. Robust test-time adaptation methods like MedBN defend batch-normalization statistics in vision models, which is not what a fast-weight LLM update is. Nothing in the literature does all three of the things we need together: check every update before it commits, bound how far the weights can drift in total, and roll back when that bound is breached.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survey behind that claim: fifteen recent papers across five families. I will not read them all. The pattern worth noticing is the Unit row. Every one of these defends a different unit than we need to. Prompt injection work defends the prompt. Federated work defends a client gradient. Offline hardening defends the weights before deployment. Graph poisoning defends discrete edges. Not one of them defends a continuous fast-weight delta at the moment it commits, on a single stream, during inference.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is the same argument in one view. Read the last row against the others. What is missing across the whole field is a state-integrity controller sitting at the fast-weight commit point, with a stated guarantee and a recovery path. That gap is the contribution we are claiming, and it is a systems claim rather than a detector claim. We are not asserting we can spot poison better than anyone else. We are asserting that the update can be bounded and undone.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full architecture in one picture. Five stages: intercept the proposed update, score it, decide whether to accept it and charge it against a drift budget, keep versioned checkpoints so you can roll back, and log everything for audit. I will walk through each stage, and I will be explicit each time about which parts are built and tested and which parts are still design.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one, interception. We wrap the exact function where the vendor commits a fast-weight update, compute the delta, and hand it to the gate. The vendor tree is a pinned, read-only submodule; everything we do is an overlay plus a confined, reversible monkeypatch, because that tree ships with no license and we must not edit it. One finding from this stage is worth your attention. The vendor throws the adapted weights away. It computes them inside a scan and never reads the result out. We found that at the desk, before spending anything on hardware, and it changed the design: we now thread that state ourselves.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two, scoring. The primary signal compares the candidate model against a frozen anchor taken at deployment, on a small rotating probe set, using a symmetric KL divergence. A cheap gradient-based check acts as a backstop, and a more expensive influence estimate is reserved for offline auditing. I want to be direct about status: all three of these are design, not implementation. They are deliberately not built yet, because if the attack does not work there is no defense worth building, and we would rather not spend the effort first.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three is where the actual guarantee lives. An update is accepted only if every condition holds at once, including that the accumulated drift plus this update stays under the budget. Accepted drift adds up, and the breach flag latches, so once it trips it stays tripped until a window boundary or a rollback. That latching is the point. The guarantee is about cumulative drift across a window, not the size of any one update, because the threat is a slow one. Honest status: the accumulator and the store are built and unit-tested, but the interceptor does not call them yet. So the bound is designed, not enforced, and it is blocked by the vendor's fixed scan structure.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four, recovery. Trusted states go into a fixed-depth ring buffer, and rollback is index arithmetic, so it costs the same regardless of how many updates have happened since. It is constant time, but it is not free: the buffer sits in GPU memory, and its depth has to cover however long detection takes. For a billion-parameter model that memory competes directly with activations. That trade-off is a real design constraint, not a footnote.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five, evidence. Every decision is logged as append-only JSON lines so a run can be reconstructed afterwards. On the evaluation side, the thing I most want to convey is that we fixed the pass mark before we could see any results. Effect size at least 0.8, benign degradation at least ten percent, and the poison stream's perplexity no more than 1.5 times the control's. All three are required. Those numbers now live in code with a test that reads the frozen document and fails the build if they ever disagree, so the bar cannot move quietly.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Where we actually are. The scaffold has grown into a complete CPU implementation: 197 tests, the attack objectives, the stream builders, the matching discipline, the harness, the report, and continuous integration. What is still missing is everything that needs the model itself, plus the Phase 2 gate signals we are deliberately not writing yet. I want to be very clear about the claim: we have produced no measurement. No GPU has been provisioned, no checkpoint fetched, and the spend so far is zero against a written cap of three hundred and twenty-five dollars.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Limitations, and I would rather state them than be asked. The core gate signals are unbuilt. The bounded-drift guarantee is designed but not yet wired in. Our vendor integration is pinned to one commit and would break if that moved. And one of our own three pass criteria has a hole we measured: perplexity punishes scrambled text but rewards repetition, so a poison stream that reuses one passage repeatedly would slip past the fluency bar. We report span reuse separately because of that. The next step is not a research question, it is a purchase: a logging key that the vendor's code path requires before evaluation will run at all. Everything downstream of it is written and waiting.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7.png"/><Relationship Id="rId10" Type="http://schemas.openxmlformats.org/officeDocument/2006/relationships/image" Target="../media/image-5-8.sv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jpe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1.png"/><Relationship Id="rId5" Type="http://schemas.openxmlformats.org/officeDocument/2006/relationships/image" Target="../media/image-9-2.svg"/><Relationship Id="rId6" Type="http://schemas.openxmlformats.org/officeDocument/2006/relationships/image" Target="../media/image-9-1.png"/><Relationship Id="rId7" Type="http://schemas.openxmlformats.org/officeDocument/2006/relationships/image" Target="../media/image-9-2.sv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5.jpe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25350" y="1030188"/>
            <a:ext cx="6608994" cy="4343003"/>
          </a:xfrm>
          <a:prstGeom prst="roundRect">
            <a:avLst>
              <a:gd name="adj" fmla="val 3134"/>
            </a:avLst>
          </a:prstGeom>
          <a:solidFill>
            <a:srgbClr val="081A33"/>
          </a:solidFill>
          <a:ln/>
        </p:spPr>
        <p:txBody>
          <a:bodyPr/>
          <a:p/>
        </p:txBody>
      </p:sp>
      <p:sp>
        <p:nvSpPr>
          <p:cNvPr id="3" name="Shape 1"/>
          <p:cNvSpPr/>
          <p:nvPr/>
        </p:nvSpPr>
        <p:spPr>
          <a:xfrm>
            <a:off x="714357" y="1242814"/>
            <a:ext cx="767934" cy="287139"/>
          </a:xfrm>
          <a:prstGeom prst="roundRect">
            <a:avLst>
              <a:gd name="adj" fmla="val 22118"/>
            </a:avLst>
          </a:prstGeom>
          <a:noFill/>
          <a:ln w="6350">
            <a:solidFill>
              <a:srgbClr val="4950BC"/>
            </a:solidFill>
            <a:prstDash val="solid"/>
          </a:ln>
        </p:spPr>
        <p:txBody>
          <a:bodyPr/>
          <a:p/>
        </p:txBody>
      </p:sp>
      <p:sp>
        <p:nvSpPr>
          <p:cNvPr id="4" name="Text 2"/>
          <p:cNvSpPr/>
          <p:nvPr/>
        </p:nvSpPr>
        <p:spPr>
          <a:xfrm>
            <a:off x="827761" y="1299468"/>
            <a:ext cx="1150710" cy="173831"/>
          </a:xfrm>
          <a:prstGeom prst="rect">
            <a:avLst/>
          </a:prstGeom>
          <a:noFill/>
          <a:ln/>
        </p:spPr>
        <p:txBody>
          <a:bodyPr wrap="none" lIns="0" tIns="0" rIns="0" bIns="0" rtlCol="0" anchor="t"/>
          <a:lstStyle/>
          <a:p>
            <a:pPr algn="l" indent="0" marL="0">
              <a:lnSpc>
                <a:spcPct val="96000"/>
              </a:lnSpc>
              <a:buNone/>
            </a:pPr>
            <a:r>
              <a:rPr lang="en-US" sz="1150" spc="-30" kern="0" dirty="0">
                <a:solidFill>
                  <a:srgbClr val="4950BC"/>
                </a:solidFill>
                <a:latin typeface="Inter" pitchFamily="34" charset="0"/>
                <a:ea typeface="Inter" pitchFamily="34" charset="-122"/>
                <a:cs typeface="Inter" pitchFamily="34" charset="-120"/>
              </a:rPr>
              <a:t>PROJECT REVIEW</a:t>
            </a:r>
            <a:endParaRPr lang="en-US" sz="1150" dirty="0"/>
          </a:p>
        </p:txBody>
      </p:sp>
      <p:sp>
        <p:nvSpPr>
          <p:cNvPr id="5" name="Shape 3"/>
          <p:cNvSpPr/>
          <p:nvPr/>
        </p:nvSpPr>
        <p:spPr>
          <a:xfrm>
            <a:off x="1576745" y="1242814"/>
            <a:ext cx="2943350" cy="287139"/>
          </a:xfrm>
          <a:prstGeom prst="roundRect">
            <a:avLst>
              <a:gd name="adj" fmla="val 22118"/>
            </a:avLst>
          </a:prstGeom>
          <a:noFill/>
          <a:ln w="6350">
            <a:solidFill>
              <a:srgbClr val="4950BC"/>
            </a:solidFill>
            <a:prstDash val="solid"/>
          </a:ln>
        </p:spPr>
        <p:txBody>
          <a:bodyPr/>
          <a:p/>
        </p:txBody>
      </p:sp>
      <p:sp>
        <p:nvSpPr>
          <p:cNvPr id="6" name="Text 4"/>
          <p:cNvSpPr/>
          <p:nvPr/>
        </p:nvSpPr>
        <p:spPr>
          <a:xfrm>
            <a:off x="1690149" y="1299468"/>
            <a:ext cx="3326126" cy="173831"/>
          </a:xfrm>
          <a:prstGeom prst="rect">
            <a:avLst/>
          </a:prstGeom>
          <a:noFill/>
          <a:ln/>
        </p:spPr>
        <p:txBody>
          <a:bodyPr wrap="none" lIns="0" tIns="0" rIns="0" bIns="0" rtlCol="0" anchor="t"/>
          <a:lstStyle/>
          <a:p>
            <a:pPr algn="l" indent="0" marL="0">
              <a:lnSpc>
                <a:spcPct val="96000"/>
              </a:lnSpc>
              <a:buNone/>
            </a:pPr>
            <a:r>
              <a:rPr lang="en-US" sz="1150" spc="-30" kern="0" dirty="0">
                <a:solidFill>
                  <a:srgbClr val="4950BC"/>
                </a:solidFill>
                <a:latin typeface="Inter" pitchFamily="34" charset="0"/>
                <a:ea typeface="Inter" pitchFamily="34" charset="-122"/>
                <a:cs typeface="Inter" pitchFamily="34" charset="-120"/>
              </a:rPr>
              <a:t>VELLORE INSTITUTE OF TECHNOLOGY</a:t>
            </a:r>
            <a:endParaRPr lang="en-US" sz="1150" dirty="0"/>
          </a:p>
        </p:txBody>
      </p:sp>
      <p:sp>
        <p:nvSpPr>
          <p:cNvPr id="7" name="Text 5"/>
          <p:cNvSpPr/>
          <p:nvPr/>
        </p:nvSpPr>
        <p:spPr>
          <a:xfrm>
            <a:off x="714357" y="1605558"/>
            <a:ext cx="6230980" cy="1181298"/>
          </a:xfrm>
          <a:prstGeom prst="rect">
            <a:avLst/>
          </a:prstGeom>
          <a:noFill/>
          <a:ln/>
        </p:spPr>
        <p:txBody>
          <a:bodyPr wrap="square" lIns="0" tIns="0" rIns="0" bIns="0" rtlCol="0" anchor="t">
            <a:normAutofit/>
          </a:bodyPr>
          <a:lstStyle/>
          <a:p>
            <a:pPr algn="l" indent="0" marL="0">
              <a:lnSpc>
                <a:spcPct val="104000"/>
              </a:lnSpc>
              <a:buNone/>
            </a:pPr>
            <a:r>
              <a:rPr lang="en-US" sz="3700" b="1" spc="-112" kern="0" dirty="0">
                <a:solidFill>
                  <a:srgbClr val="FFFFFF"/>
                </a:solidFill>
                <a:latin typeface="Inter Bold" pitchFamily="34" charset="0"/>
                <a:ea typeface="Inter Bold" pitchFamily="34" charset="-122"/>
                <a:cs typeface="Inter Bold" pitchFamily="34" charset="-120"/>
              </a:rPr>
              <a:t>Trust-Gated Fast-Weight Updates for TTT-E2E LLMs</a:t>
            </a:r>
            <a:endParaRPr lang="en-US" sz="3700" dirty="0"/>
          </a:p>
        </p:txBody>
      </p:sp>
      <p:sp>
        <p:nvSpPr>
          <p:cNvPr id="8" name="Text 6"/>
          <p:cNvSpPr/>
          <p:nvPr/>
        </p:nvSpPr>
        <p:spPr>
          <a:xfrm>
            <a:off x="714357" y="2975868"/>
            <a:ext cx="6840565" cy="302419"/>
          </a:xfrm>
          <a:prstGeom prst="rect">
            <a:avLst/>
          </a:prstGeom>
          <a:noFill/>
          <a:ln/>
        </p:spPr>
        <p:txBody>
          <a:bodyPr wrap="none" lIns="0" tIns="0" rIns="0" bIns="0" rtlCol="0" anchor="t"/>
          <a:lstStyle/>
          <a:p>
            <a:pPr algn="l" indent="0" marL="0">
              <a:lnSpc>
                <a:spcPct val="133000"/>
              </a:lnSpc>
              <a:buNone/>
            </a:pPr>
            <a:r>
              <a:rPr lang="en-US" sz="1450" b="1" spc="-30" kern="0" dirty="0">
                <a:solidFill>
                  <a:srgbClr val="FFFFFF"/>
                </a:solidFill>
                <a:latin typeface="Inter Bold" pitchFamily="34" charset="0"/>
                <a:ea typeface="Inter Bold" pitchFamily="34" charset="-122"/>
                <a:cs typeface="Inter Bold" pitchFamily="34" charset="-120"/>
              </a:rPr>
              <a:t>A Runtime Defense for Language Models That Learn While They Serve</a:t>
            </a:r>
            <a:endParaRPr lang="en-US" sz="1450" dirty="0"/>
          </a:p>
        </p:txBody>
      </p:sp>
      <p:sp>
        <p:nvSpPr>
          <p:cNvPr id="9" name="Shape 7"/>
          <p:cNvSpPr/>
          <p:nvPr/>
        </p:nvSpPr>
        <p:spPr>
          <a:xfrm>
            <a:off x="714357" y="3538141"/>
            <a:ext cx="6230980" cy="25400"/>
          </a:xfrm>
          <a:prstGeom prst="roundRect">
            <a:avLst>
              <a:gd name="adj" fmla="val 49999"/>
            </a:avLst>
          </a:prstGeom>
          <a:solidFill>
            <a:srgbClr val="FFFFFF">
              <a:alpha val="50000"/>
            </a:srgbClr>
          </a:solidFill>
          <a:ln/>
        </p:spPr>
        <p:txBody>
          <a:bodyPr/>
          <a:p/>
        </p:txBody>
      </p:sp>
      <p:sp>
        <p:nvSpPr>
          <p:cNvPr id="10" name="Text 8"/>
          <p:cNvSpPr/>
          <p:nvPr/>
        </p:nvSpPr>
        <p:spPr>
          <a:xfrm>
            <a:off x="714357" y="3823395"/>
            <a:ext cx="6230980" cy="1379736"/>
          </a:xfrm>
          <a:prstGeom prst="rect">
            <a:avLst/>
          </a:prstGeom>
          <a:noFill/>
          <a:ln/>
        </p:spPr>
        <p:txBody>
          <a:bodyPr wrap="square" lIns="0" tIns="0" rIns="0" bIns="0" rtlCol="0" anchor="t"/>
          <a:lstStyle/>
          <a:p>
            <a:pPr algn="l" indent="0" marL="0">
              <a:lnSpc>
                <a:spcPct val="133000"/>
              </a:lnSpc>
              <a:spcAft>
                <a:spcPts val="1300"/>
              </a:spcAft>
              <a:buNone/>
            </a:pPr>
            <a:r>
              <a:rPr lang="en-US" sz="1450" b="1" spc="-30" kern="0" dirty="0">
                <a:solidFill>
                  <a:srgbClr val="FFFFFF"/>
                </a:solidFill>
                <a:latin typeface="Inter Bold" pitchFamily="34" charset="0"/>
                <a:ea typeface="Inter Bold" pitchFamily="34" charset="-122"/>
                <a:cs typeface="Inter Bold" pitchFamily="34" charset="-120"/>
              </a:rPr>
              <a:t>Authors</a:t>
            </a:r>
            <a:endParaRPr lang="en-US" sz="1450" dirty="0"/>
          </a:p>
          <a:p>
            <a:pPr algn="l" indent="0" marL="0">
              <a:lnSpc>
                <a:spcPct val="133000"/>
              </a:lnSpc>
              <a:buNone/>
            </a:pPr>
            <a:r>
              <a:rPr lang="en-US" sz="1450" spc="-30" kern="0" dirty="0">
                <a:solidFill>
                  <a:srgbClr val="FFFFFF"/>
                </a:solidFill>
                <a:latin typeface="Inter" pitchFamily="34" charset="0"/>
                <a:ea typeface="Inter" pitchFamily="34" charset="-122"/>
                <a:cs typeface="Inter" pitchFamily="34" charset="-120"/>
              </a:rPr>
              <a:t>Manas Maahir R. – 23BAI0051</a:t>
            </a:r>
            <a:endParaRPr lang="en-US" sz="1450" dirty="0"/>
          </a:p>
          <a:p>
            <a:pPr algn="l" indent="0" marL="0">
              <a:lnSpc>
                <a:spcPct val="133000"/>
              </a:lnSpc>
              <a:buNone/>
            </a:pPr>
            <a:r>
              <a:rPr lang="en-US" sz="1450" spc="-30" kern="0" dirty="0">
                <a:solidFill>
                  <a:srgbClr val="FFFFFF"/>
                </a:solidFill>
                <a:latin typeface="Inter" pitchFamily="34" charset="0"/>
                <a:ea typeface="Inter" pitchFamily="34" charset="-122"/>
                <a:cs typeface="Inter" pitchFamily="34" charset="-120"/>
              </a:rPr>
              <a:t>Jay Krishna Kamlekar – 23BAI0053</a:t>
            </a:r>
            <a:endParaRPr lang="en-US" sz="1450" dirty="0"/>
          </a:p>
          <a:p>
            <a:pPr algn="l" indent="0" marL="0">
              <a:lnSpc>
                <a:spcPct val="133000"/>
              </a:lnSpc>
              <a:buNone/>
            </a:pPr>
            <a:r>
              <a:rPr lang="en-US" sz="1450" spc="-30" kern="0" dirty="0">
                <a:solidFill>
                  <a:srgbClr val="FFFFFF"/>
                </a:solidFill>
                <a:latin typeface="Inter" pitchFamily="34" charset="0"/>
                <a:ea typeface="Inter" pitchFamily="34" charset="-122"/>
                <a:cs typeface="Inter" pitchFamily="34" charset="-120"/>
              </a:rPr>
              <a:t>Kartheek Yadav – 23BAI0056</a:t>
            </a:r>
            <a:endParaRPr lang="en-US" sz="1450" dirty="0"/>
          </a:p>
        </p:txBody>
      </p:sp>
      <p:pic>
        <p:nvPicPr>
          <p:cNvPr id="11" name="Image 0" descr="preencoded.png">    </p:cNvPr>
          <p:cNvPicPr>
            <a:picLocks noChangeAspect="1"/>
          </p:cNvPicPr>
          <p:nvPr/>
        </p:nvPicPr>
        <p:blipFill>
          <a:blip r:embed="rId1"/>
          <a:stretch>
            <a:fillRect/>
          </a:stretch>
        </p:blipFill>
        <p:spPr>
          <a:xfrm>
            <a:off x="7465727" y="1242814"/>
            <a:ext cx="4070744" cy="1755378"/>
          </a:xfrm>
          <a:prstGeom prst="rect">
            <a:avLst/>
          </a:prstGeom>
        </p:spPr>
      </p:pic>
      <p:sp>
        <p:nvSpPr>
          <p:cNvPr id="12" name="Text 9"/>
          <p:cNvSpPr/>
          <p:nvPr/>
        </p:nvSpPr>
        <p:spPr>
          <a:xfrm>
            <a:off x="7739710" y="2665307"/>
            <a:ext cx="923481" cy="115438"/>
          </a:xfrm>
          <a:prstGeom prst="rect">
            <a:avLst/>
          </a:prstGeom>
          <a:noFill/>
          <a:ln/>
        </p:spPr>
        <p:txBody>
          <a:bodyPr wrap="none" lIns="0" tIns="0" rIns="0" bIns="0" rtlCol="0" anchor="t"/>
          <a:lstStyle/>
          <a:p>
            <a:pPr algn="l" indent="0" marL="0">
              <a:lnSpc>
                <a:spcPct val="104000"/>
              </a:lnSpc>
              <a:buNone/>
            </a:pPr>
            <a:r>
              <a:rPr lang="en-US" sz="700" b="1" spc="-22" kern="0" dirty="0">
                <a:solidFill>
                  <a:srgbClr val="FFFFFF"/>
                </a:solidFill>
                <a:latin typeface="Inter Bold" pitchFamily="34" charset="0"/>
                <a:ea typeface="Inter Bold" pitchFamily="34" charset="-122"/>
                <a:cs typeface="Inter Bold" pitchFamily="34" charset="-120"/>
              </a:rPr>
              <a:t>Serve Output</a:t>
            </a:r>
            <a:endParaRPr lang="en-US" sz="700" dirty="0"/>
          </a:p>
        </p:txBody>
      </p:sp>
      <p:sp>
        <p:nvSpPr>
          <p:cNvPr id="13" name="Text 10"/>
          <p:cNvSpPr/>
          <p:nvPr/>
        </p:nvSpPr>
        <p:spPr>
          <a:xfrm>
            <a:off x="7739710" y="2258965"/>
            <a:ext cx="923481" cy="115438"/>
          </a:xfrm>
          <a:prstGeom prst="rect">
            <a:avLst/>
          </a:prstGeom>
          <a:noFill/>
          <a:ln/>
        </p:spPr>
        <p:txBody>
          <a:bodyPr wrap="none" lIns="0" tIns="0" rIns="0" bIns="0" rtlCol="0" anchor="t"/>
          <a:lstStyle/>
          <a:p>
            <a:pPr algn="l" indent="0" marL="0">
              <a:lnSpc>
                <a:spcPct val="104000"/>
              </a:lnSpc>
              <a:buNone/>
            </a:pPr>
            <a:r>
              <a:rPr lang="en-US" sz="700" b="1" spc="-22" kern="0" dirty="0">
                <a:solidFill>
                  <a:srgbClr val="FFFFFF"/>
                </a:solidFill>
                <a:latin typeface="Inter Bold" pitchFamily="34" charset="0"/>
                <a:ea typeface="Inter Bold" pitchFamily="34" charset="-122"/>
                <a:cs typeface="Inter Bold" pitchFamily="34" charset="-120"/>
              </a:rPr>
              <a:t>Fast-Weight Update</a:t>
            </a:r>
            <a:endParaRPr lang="en-US" sz="700" dirty="0"/>
          </a:p>
        </p:txBody>
      </p:sp>
      <p:sp>
        <p:nvSpPr>
          <p:cNvPr id="14" name="Text 11"/>
          <p:cNvSpPr/>
          <p:nvPr/>
        </p:nvSpPr>
        <p:spPr>
          <a:xfrm>
            <a:off x="7739710" y="1856728"/>
            <a:ext cx="923481" cy="115438"/>
          </a:xfrm>
          <a:prstGeom prst="rect">
            <a:avLst/>
          </a:prstGeom>
          <a:noFill/>
          <a:ln/>
        </p:spPr>
        <p:txBody>
          <a:bodyPr wrap="none" lIns="0" tIns="0" rIns="0" bIns="0" rtlCol="0" anchor="t"/>
          <a:lstStyle/>
          <a:p>
            <a:pPr algn="l" indent="0" marL="0">
              <a:lnSpc>
                <a:spcPct val="104000"/>
              </a:lnSpc>
              <a:buNone/>
            </a:pPr>
            <a:r>
              <a:rPr lang="en-US" sz="700" b="1" spc="-22" kern="0" dirty="0">
                <a:solidFill>
                  <a:srgbClr val="FFFFFF"/>
                </a:solidFill>
                <a:latin typeface="Inter Bold" pitchFamily="34" charset="0"/>
                <a:ea typeface="Inter Bold" pitchFamily="34" charset="-122"/>
                <a:cs typeface="Inter Bold" pitchFamily="34" charset="-120"/>
              </a:rPr>
              <a:t>Trust Gate</a:t>
            </a:r>
            <a:endParaRPr lang="en-US" sz="700" dirty="0"/>
          </a:p>
        </p:txBody>
      </p:sp>
      <p:sp>
        <p:nvSpPr>
          <p:cNvPr id="15" name="Text 12"/>
          <p:cNvSpPr/>
          <p:nvPr/>
        </p:nvSpPr>
        <p:spPr>
          <a:xfrm>
            <a:off x="7739710" y="1450386"/>
            <a:ext cx="923481" cy="115438"/>
          </a:xfrm>
          <a:prstGeom prst="rect">
            <a:avLst/>
          </a:prstGeom>
          <a:noFill/>
          <a:ln/>
        </p:spPr>
        <p:txBody>
          <a:bodyPr wrap="none" lIns="0" tIns="0" rIns="0" bIns="0" rtlCol="0" anchor="t"/>
          <a:lstStyle/>
          <a:p>
            <a:pPr algn="l" indent="0" marL="0">
              <a:lnSpc>
                <a:spcPct val="104000"/>
              </a:lnSpc>
              <a:buNone/>
            </a:pPr>
            <a:r>
              <a:rPr lang="en-US" sz="700" b="1" spc="-22" kern="0" dirty="0">
                <a:solidFill>
                  <a:srgbClr val="FFFFFF"/>
                </a:solidFill>
                <a:latin typeface="Inter Bold" pitchFamily="34" charset="0"/>
                <a:ea typeface="Inter Bold" pitchFamily="34" charset="-122"/>
                <a:cs typeface="Inter Bold" pitchFamily="34" charset="-120"/>
              </a:rPr>
              <a:t>Context Stream</a:t>
            </a:r>
            <a:endParaRPr lang="en-US" sz="700" dirty="0"/>
          </a:p>
        </p:txBody>
      </p:sp>
      <p:sp>
        <p:nvSpPr>
          <p:cNvPr id="16" name="Text 13"/>
          <p:cNvSpPr/>
          <p:nvPr/>
        </p:nvSpPr>
        <p:spPr>
          <a:xfrm>
            <a:off x="7160934" y="3210818"/>
            <a:ext cx="4680329" cy="241895"/>
          </a:xfrm>
          <a:prstGeom prst="rect">
            <a:avLst/>
          </a:prstGeom>
          <a:noFill/>
          <a:ln/>
        </p:spPr>
        <p:txBody>
          <a:bodyPr wrap="none" lIns="0" tIns="0" rIns="0" bIns="0" rtlCol="0" anchor="t"/>
          <a:lstStyle/>
          <a:p>
            <a:pPr algn="ctr" indent="0" marL="0">
              <a:lnSpc>
                <a:spcPct val="133000"/>
              </a:lnSpc>
              <a:buNone/>
            </a:pPr>
            <a:r>
              <a:rPr lang="en-US" sz="1150" spc="-30" kern="0" dirty="0">
                <a:solidFill>
                  <a:srgbClr val="5EDAE8"/>
                </a:solidFill>
                <a:latin typeface="Inter" pitchFamily="34" charset="0"/>
                <a:ea typeface="Inter" pitchFamily="34" charset="-122"/>
                <a:cs typeface="Inter" pitchFamily="34" charset="-120"/>
              </a:rPr>
              <a:t>context stream</a:t>
            </a:r>
            <a:pPr algn="ctr" indent="0" marL="0">
              <a:lnSpc>
                <a:spcPct val="133000"/>
              </a:lnSpc>
              <a:buNone/>
            </a:pPr>
            <a:r>
              <a:rPr lang="en-US" sz="1150" spc="-30" kern="0" dirty="0">
                <a:solidFill>
                  <a:srgbClr val="272525"/>
                </a:solidFill>
                <a:latin typeface="Inter" pitchFamily="34" charset="0"/>
                <a:ea typeface="Inter" pitchFamily="34" charset="-122"/>
                <a:cs typeface="Inter" pitchFamily="34" charset="-120"/>
              </a:rPr>
              <a:t> → </a:t>
            </a:r>
            <a:pPr algn="ctr" indent="0" marL="0">
              <a:lnSpc>
                <a:spcPct val="133000"/>
              </a:lnSpc>
              <a:buNone/>
            </a:pPr>
            <a:r>
              <a:rPr lang="en-US" sz="1150" spc="-30" kern="0" dirty="0">
                <a:solidFill>
                  <a:srgbClr val="5EDAE8"/>
                </a:solidFill>
                <a:latin typeface="Inter" pitchFamily="34" charset="0"/>
                <a:ea typeface="Inter" pitchFamily="34" charset="-122"/>
                <a:cs typeface="Inter" pitchFamily="34" charset="-120"/>
              </a:rPr>
              <a:t>LLM</a:t>
            </a:r>
            <a:pPr algn="ctr" indent="0" marL="0">
              <a:lnSpc>
                <a:spcPct val="133000"/>
              </a:lnSpc>
              <a:buNone/>
            </a:pPr>
            <a:r>
              <a:rPr lang="en-US" sz="1150" spc="-30" kern="0" dirty="0">
                <a:solidFill>
                  <a:srgbClr val="272525"/>
                </a:solidFill>
                <a:latin typeface="Inter" pitchFamily="34" charset="0"/>
                <a:ea typeface="Inter" pitchFamily="34" charset="-122"/>
                <a:cs typeface="Inter" pitchFamily="34" charset="-120"/>
              </a:rPr>
              <a:t> → </a:t>
            </a:r>
            <a:pPr algn="ctr" indent="0" marL="0">
              <a:lnSpc>
                <a:spcPct val="133000"/>
              </a:lnSpc>
              <a:buNone/>
            </a:pPr>
            <a:r>
              <a:rPr lang="en-US" sz="1150" spc="-30" kern="0" dirty="0">
                <a:solidFill>
                  <a:srgbClr val="5EDAE8"/>
                </a:solidFill>
                <a:latin typeface="Inter" pitchFamily="34" charset="0"/>
                <a:ea typeface="Inter" pitchFamily="34" charset="-122"/>
                <a:cs typeface="Inter" pitchFamily="34" charset="-120"/>
              </a:rPr>
              <a:t>fast weights updating</a:t>
            </a:r>
            <a:endParaRPr lang="en-US" sz="1150" dirty="0"/>
          </a:p>
        </p:txBody>
      </p:sp>
      <p:sp>
        <p:nvSpPr>
          <p:cNvPr id="17" name="Text 14"/>
          <p:cNvSpPr/>
          <p:nvPr/>
        </p:nvSpPr>
        <p:spPr>
          <a:xfrm>
            <a:off x="356682" y="5585817"/>
            <a:ext cx="11478330" cy="241895"/>
          </a:xfrm>
          <a:prstGeom prst="rect">
            <a:avLst/>
          </a:prstGeom>
          <a:noFill/>
          <a:ln/>
        </p:spPr>
        <p:txBody>
          <a:bodyPr wrap="none" lIns="0" tIns="0" rIns="0" bIns="0" rtlCol="0" anchor="t"/>
          <a:lstStyle/>
          <a:p>
            <a:pPr algn="ctr" indent="0" marL="0">
              <a:lnSpc>
                <a:spcPct val="133000"/>
              </a:lnSpc>
              <a:buNone/>
            </a:pPr>
            <a:r>
              <a:rPr lang="en-US" sz="1150" spc="-30"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64084"/>
            <a:ext cx="5239810" cy="996752"/>
          </a:xfrm>
          <a:prstGeom prst="rect">
            <a:avLst/>
          </a:prstGeom>
          <a:noFill/>
          <a:ln/>
        </p:spPr>
        <p:txBody>
          <a:bodyPr wrap="square" lIns="0" tIns="0" rIns="0" bIns="0" rtlCol="0" anchor="t">
            <a:normAutofit/>
          </a:bodyPr>
          <a:lstStyle/>
          <a:p>
            <a:pPr algn="l" indent="0" marL="0">
              <a:lnSpc>
                <a:spcPct val="104000"/>
              </a:lnSpc>
              <a:buNone/>
            </a:pPr>
            <a:r>
              <a:rPr lang="en-US" sz="3100" b="1" spc="-94" kern="0" dirty="0">
                <a:solidFill>
                  <a:srgbClr val="000000"/>
                </a:solidFill>
                <a:latin typeface="Inter Bold" pitchFamily="34" charset="0"/>
                <a:ea typeface="Inter Bold" pitchFamily="34" charset="-122"/>
                <a:cs typeface="Inter Bold" pitchFamily="34" charset="-120"/>
              </a:rPr>
              <a:t>The Challenge: Quadratic Attention Scaling</a:t>
            </a:r>
            <a:endParaRPr lang="en-US" sz="3100" dirty="0"/>
          </a:p>
        </p:txBody>
      </p:sp>
      <p:sp>
        <p:nvSpPr>
          <p:cNvPr id="3" name="Text 1"/>
          <p:cNvSpPr/>
          <p:nvPr/>
        </p:nvSpPr>
        <p:spPr>
          <a:xfrm>
            <a:off x="661475" y="1895376"/>
            <a:ext cx="5239810" cy="799505"/>
          </a:xfrm>
          <a:prstGeom prst="rect">
            <a:avLst/>
          </a:prstGeom>
          <a:noFill/>
          <a:ln/>
        </p:spPr>
        <p:txBody>
          <a:bodyPr wrap="square" lIns="0" tIns="63794" rIns="0" bIns="0" rtlCol="0" anchor="t">
            <a:normAutofit/>
          </a:bodyPr>
          <a:lstStyle/>
          <a:p>
            <a:pPr algn="l" marL="254000" indent="-254000">
              <a:lnSpc>
                <a:spcPct val="123000"/>
              </a:lnSpc>
              <a:buSzPct val="100000"/>
              <a:buChar char="•"/>
            </a:pPr>
            <a:r>
              <a:rPr lang="en-US" sz="1250" spc="-25" kern="0" dirty="0">
                <a:solidFill>
                  <a:srgbClr val="272525"/>
                </a:solidFill>
                <a:latin typeface="Inter" pitchFamily="34" charset="0"/>
                <a:ea typeface="Inter" pitchFamily="34" charset="-122"/>
                <a:cs typeface="Inter" pitchFamily="34" charset="-120"/>
              </a:rPr>
              <a:t>Full attention complexity: O(n²) for sequence length n</a:t>
            </a:r>
            <a:endParaRPr lang="en-US" sz="1250" dirty="0"/>
          </a:p>
          <a:p>
            <a:pPr algn="l" marL="254000" indent="-254000">
              <a:lnSpc>
                <a:spcPct val="123000"/>
              </a:lnSpc>
              <a:buSzPct val="100000"/>
              <a:buChar char="•"/>
            </a:pPr>
            <a:r>
              <a:rPr lang="en-US" sz="1250" spc="-25" kern="0" dirty="0">
                <a:solidFill>
                  <a:srgbClr val="272525"/>
                </a:solidFill>
                <a:latin typeface="Inter" pitchFamily="34" charset="0"/>
                <a:ea typeface="Inter" pitchFamily="34" charset="-122"/>
                <a:cs typeface="Inter" pitchFamily="34" charset="-120"/>
              </a:rPr>
              <a:t>Becomes prohibitively expensive for very long contexts</a:t>
            </a:r>
            <a:endParaRPr lang="en-US" sz="1250" dirty="0"/>
          </a:p>
          <a:p>
            <a:pPr algn="l" marL="254000" indent="-254000">
              <a:lnSpc>
                <a:spcPct val="123000"/>
              </a:lnSpc>
              <a:buSzPct val="100000"/>
              <a:buChar char="•"/>
            </a:pPr>
            <a:r>
              <a:rPr lang="en-US" sz="1250" spc="-25" kern="0" dirty="0">
                <a:solidFill>
                  <a:srgbClr val="272525"/>
                </a:solidFill>
                <a:latin typeface="Inter" pitchFamily="34" charset="0"/>
                <a:ea typeface="Inter" pitchFamily="34" charset="-122"/>
                <a:cs typeface="Inter" pitchFamily="34" charset="-120"/>
              </a:rPr>
              <a:t>Need for efficient long-context modeling</a:t>
            </a:r>
            <a:endParaRPr lang="en-US" sz="1250" dirty="0"/>
          </a:p>
        </p:txBody>
      </p:sp>
      <p:sp>
        <p:nvSpPr>
          <p:cNvPr id="4" name="Text 2"/>
          <p:cNvSpPr/>
          <p:nvPr/>
        </p:nvSpPr>
        <p:spPr>
          <a:xfrm>
            <a:off x="661475" y="2829421"/>
            <a:ext cx="5239810" cy="996752"/>
          </a:xfrm>
          <a:prstGeom prst="rect">
            <a:avLst/>
          </a:prstGeom>
          <a:noFill/>
          <a:ln/>
        </p:spPr>
        <p:txBody>
          <a:bodyPr wrap="square" lIns="0" tIns="0" rIns="0" bIns="0" rtlCol="0" anchor="t">
            <a:normAutofit/>
          </a:bodyPr>
          <a:lstStyle/>
          <a:p>
            <a:pPr algn="l" indent="0" marL="0">
              <a:lnSpc>
                <a:spcPct val="104000"/>
              </a:lnSpc>
              <a:buNone/>
            </a:pPr>
            <a:r>
              <a:rPr lang="en-US" sz="3100" b="1" spc="-94" kern="0" dirty="0">
                <a:solidFill>
                  <a:srgbClr val="000000"/>
                </a:solidFill>
                <a:latin typeface="Inter Bold" pitchFamily="34" charset="0"/>
                <a:ea typeface="Inter Bold" pitchFamily="34" charset="-122"/>
                <a:cs typeface="Inter Bold" pitchFamily="34" charset="-120"/>
              </a:rPr>
              <a:t>TTT-E2E Solution: Test-Time Training</a:t>
            </a:r>
            <a:endParaRPr lang="en-US" sz="3100" dirty="0"/>
          </a:p>
        </p:txBody>
      </p:sp>
      <p:sp>
        <p:nvSpPr>
          <p:cNvPr id="5" name="Text 3"/>
          <p:cNvSpPr/>
          <p:nvPr/>
        </p:nvSpPr>
        <p:spPr>
          <a:xfrm>
            <a:off x="661475" y="3960713"/>
            <a:ext cx="5239810" cy="1881188"/>
          </a:xfrm>
          <a:prstGeom prst="rect">
            <a:avLst/>
          </a:prstGeom>
          <a:noFill/>
          <a:ln/>
        </p:spPr>
        <p:txBody>
          <a:bodyPr wrap="square" lIns="0" tIns="63794" rIns="0" bIns="0" rtlCol="0" anchor="t">
            <a:normAutofit/>
          </a:bodyPr>
          <a:lstStyle/>
          <a:p>
            <a:pPr algn="l" marL="254000" indent="-254000">
              <a:lnSpc>
                <a:spcPct val="123000"/>
              </a:lnSpc>
              <a:buSzPct val="100000"/>
              <a:buChar char="•"/>
            </a:pPr>
            <a:r>
              <a:rPr lang="en-US" sz="1250" spc="-25" kern="0" dirty="0">
                <a:solidFill>
                  <a:srgbClr val="272525"/>
                </a:solidFill>
                <a:latin typeface="Inter" pitchFamily="34" charset="0"/>
                <a:ea typeface="Inter" pitchFamily="34" charset="-122"/>
                <a:cs typeface="Inter" pitchFamily="34" charset="-120"/>
              </a:rPr>
              <a:t>Treats long-context modeling as continual learning during inference</a:t>
            </a:r>
            <a:endParaRPr lang="en-US" sz="1250" dirty="0"/>
          </a:p>
          <a:p>
            <a:pPr algn="l" marL="254000" indent="-254000">
              <a:lnSpc>
                <a:spcPct val="123000"/>
              </a:lnSpc>
              <a:buSzPct val="100000"/>
              <a:buChar char="•"/>
            </a:pPr>
            <a:r>
              <a:rPr lang="en-US" sz="1250" spc="-25" kern="0" dirty="0">
                <a:solidFill>
                  <a:srgbClr val="272525"/>
                </a:solidFill>
                <a:latin typeface="Inter" pitchFamily="34" charset="0"/>
                <a:ea typeface="Inter" pitchFamily="34" charset="-122"/>
                <a:cs typeface="Inter" pitchFamily="34" charset="-120"/>
              </a:rPr>
              <a:t>Model updates fast weights using next-token prediction while reading context</a:t>
            </a:r>
            <a:endParaRPr lang="en-US" sz="1250" dirty="0"/>
          </a:p>
          <a:p>
            <a:pPr algn="l" marL="254000" indent="-254000">
              <a:lnSpc>
                <a:spcPct val="123000"/>
              </a:lnSpc>
              <a:buSzPct val="100000"/>
              <a:buChar char="•"/>
            </a:pPr>
            <a:r>
              <a:rPr lang="en-US" sz="1250" spc="-25" kern="0" dirty="0">
                <a:solidFill>
                  <a:srgbClr val="272525"/>
                </a:solidFill>
                <a:latin typeface="Inter" pitchFamily="34" charset="0"/>
                <a:ea typeface="Inter" pitchFamily="34" charset="-122"/>
                <a:cs typeface="Inter" pitchFamily="34" charset="-120"/>
              </a:rPr>
              <a:t>Slow/base weights remain fixed and frozen</a:t>
            </a:r>
            <a:endParaRPr lang="en-US" sz="1250" dirty="0"/>
          </a:p>
          <a:p>
            <a:pPr algn="l" marL="254000" indent="-254000">
              <a:lnSpc>
                <a:spcPct val="123000"/>
              </a:lnSpc>
              <a:buSzPct val="100000"/>
              <a:buChar char="•"/>
            </a:pPr>
            <a:r>
              <a:rPr lang="en-US" sz="1250" spc="-25" kern="0" dirty="0">
                <a:solidFill>
                  <a:srgbClr val="272525"/>
                </a:solidFill>
                <a:latin typeface="Inter" pitchFamily="34" charset="0"/>
                <a:ea typeface="Inter" pitchFamily="34" charset="-122"/>
                <a:cs typeface="Inter" pitchFamily="34" charset="-120"/>
              </a:rPr>
              <a:t>Fast weights adapt dynamically to current context</a:t>
            </a:r>
            <a:endParaRPr lang="en-US" sz="1250" dirty="0"/>
          </a:p>
          <a:p>
            <a:pPr algn="l" marL="254000" indent="-254000">
              <a:lnSpc>
                <a:spcPct val="123000"/>
              </a:lnSpc>
              <a:buSzPct val="100000"/>
              <a:buChar char="•"/>
            </a:pPr>
            <a:r>
              <a:rPr lang="en-US" sz="1250" spc="-25" kern="0" dirty="0">
                <a:solidFill>
                  <a:srgbClr val="272525"/>
                </a:solidFill>
                <a:latin typeface="Inter" pitchFamily="34" charset="0"/>
                <a:ea typeface="Inter" pitchFamily="34" charset="-122"/>
                <a:cs typeface="Inter" pitchFamily="34" charset="-120"/>
              </a:rPr>
              <a:t>Provides near-recurrent computational behavior</a:t>
            </a:r>
            <a:endParaRPr lang="en-US" sz="1250" dirty="0"/>
          </a:p>
          <a:p>
            <a:pPr algn="l" marL="254000" indent="-254000">
              <a:lnSpc>
                <a:spcPct val="123000"/>
              </a:lnSpc>
              <a:buSzPct val="100000"/>
              <a:buChar char="•"/>
            </a:pPr>
            <a:r>
              <a:rPr lang="en-US" sz="1250" spc="-25" kern="0" dirty="0">
                <a:solidFill>
                  <a:srgbClr val="272525"/>
                </a:solidFill>
                <a:latin typeface="Inter" pitchFamily="34" charset="0"/>
                <a:ea typeface="Inter" pitchFamily="34" charset="-122"/>
                <a:cs typeface="Inter" pitchFamily="34" charset="-120"/>
              </a:rPr>
              <a:t>Retains long-context modeling capability</a:t>
            </a:r>
            <a:endParaRPr lang="en-US" sz="1250" dirty="0"/>
          </a:p>
        </p:txBody>
      </p:sp>
      <p:pic>
        <p:nvPicPr>
          <p:cNvPr id="6" name="Image 0" descr="preencoded.png">    </p:cNvPr>
          <p:cNvPicPr>
            <a:picLocks noChangeAspect="1"/>
          </p:cNvPicPr>
          <p:nvPr/>
        </p:nvPicPr>
        <p:blipFill>
          <a:blip r:embed="rId1"/>
          <a:stretch>
            <a:fillRect/>
          </a:stretch>
        </p:blipFill>
        <p:spPr>
          <a:xfrm>
            <a:off x="6296760" y="780852"/>
            <a:ext cx="5239810" cy="2947392"/>
          </a:xfrm>
          <a:prstGeom prst="rect">
            <a:avLst/>
          </a:prstGeom>
        </p:spPr>
      </p:pic>
      <p:sp>
        <p:nvSpPr>
          <p:cNvPr id="7" name="Text 4"/>
          <p:cNvSpPr/>
          <p:nvPr/>
        </p:nvSpPr>
        <p:spPr>
          <a:xfrm>
            <a:off x="356682" y="6040239"/>
            <a:ext cx="11478330" cy="188119"/>
          </a:xfrm>
          <a:prstGeom prst="rect">
            <a:avLst/>
          </a:prstGeom>
          <a:noFill/>
          <a:ln/>
        </p:spPr>
        <p:txBody>
          <a:bodyPr wrap="none" lIns="0" tIns="0" rIns="0" bIns="0" rtlCol="0" anchor="t"/>
          <a:lstStyle/>
          <a:p>
            <a:pPr algn="ctr" indent="0" marL="0">
              <a:lnSpc>
                <a:spcPct val="123000"/>
              </a:lnSpc>
              <a:buNone/>
            </a:pPr>
            <a:r>
              <a:rPr lang="en-US" sz="1000" spc="-25"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40246"/>
            <a:ext cx="10868745" cy="479921"/>
          </a:xfrm>
          <a:prstGeom prst="rect">
            <a:avLst/>
          </a:prstGeom>
          <a:noFill/>
          <a:ln/>
        </p:spPr>
        <p:txBody>
          <a:bodyPr wrap="none" lIns="0" tIns="0" rIns="0" bIns="0" rtlCol="0" anchor="t"/>
          <a:lstStyle/>
          <a:p>
            <a:pPr algn="l" indent="0" marL="0">
              <a:lnSpc>
                <a:spcPct val="104000"/>
              </a:lnSpc>
              <a:buNone/>
            </a:pPr>
            <a:r>
              <a:rPr lang="en-US" sz="3000" b="1" spc="-91" kern="0" dirty="0">
                <a:solidFill>
                  <a:srgbClr val="000000"/>
                </a:solidFill>
                <a:latin typeface="Inter Bold" pitchFamily="34" charset="0"/>
                <a:ea typeface="Inter Bold" pitchFamily="34" charset="-122"/>
                <a:cs typeface="Inter Bold" pitchFamily="34" charset="-120"/>
              </a:rPr>
              <a:t>The Security Risk: Write Path During Serving</a:t>
            </a:r>
            <a:endParaRPr lang="en-US" sz="3000" dirty="0"/>
          </a:p>
        </p:txBody>
      </p:sp>
      <p:sp>
        <p:nvSpPr>
          <p:cNvPr id="3" name="Text 1"/>
          <p:cNvSpPr/>
          <p:nvPr/>
        </p:nvSpPr>
        <p:spPr>
          <a:xfrm>
            <a:off x="661475" y="1332012"/>
            <a:ext cx="5247052" cy="383977"/>
          </a:xfrm>
          <a:prstGeom prst="rect">
            <a:avLst/>
          </a:prstGeom>
          <a:noFill/>
          <a:ln/>
        </p:spPr>
        <p:txBody>
          <a:bodyPr wrap="none" lIns="0" tIns="0" rIns="0" bIns="0" rtlCol="0" anchor="t"/>
          <a:lstStyle/>
          <a:p>
            <a:pPr algn="l" indent="0" marL="0">
              <a:lnSpc>
                <a:spcPct val="104000"/>
              </a:lnSpc>
              <a:buNone/>
            </a:pPr>
            <a:r>
              <a:rPr lang="en-US" sz="2400" b="1" spc="-73" kern="0" dirty="0">
                <a:solidFill>
                  <a:srgbClr val="000000"/>
                </a:solidFill>
                <a:latin typeface="Inter Bold" pitchFamily="34" charset="0"/>
                <a:ea typeface="Inter Bold" pitchFamily="34" charset="-122"/>
                <a:cs typeface="Inter Bold" pitchFamily="34" charset="-120"/>
              </a:rPr>
              <a:t>Key Problem</a:t>
            </a:r>
            <a:endParaRPr lang="en-US" sz="2400" dirty="0"/>
          </a:p>
        </p:txBody>
      </p:sp>
      <p:sp>
        <p:nvSpPr>
          <p:cNvPr id="4" name="Text 2"/>
          <p:cNvSpPr/>
          <p:nvPr/>
        </p:nvSpPr>
        <p:spPr>
          <a:xfrm>
            <a:off x="661475" y="1840706"/>
            <a:ext cx="5247052" cy="1115020"/>
          </a:xfrm>
          <a:prstGeom prst="rect">
            <a:avLst/>
          </a:prstGeom>
          <a:noFill/>
          <a:ln/>
        </p:spPr>
        <p:txBody>
          <a:bodyPr wrap="square" lIns="0" tIns="0" rIns="0" bIns="0" rtlCol="0" anchor="t"/>
          <a:lstStyle/>
          <a:p>
            <a:pPr algn="l" indent="0" marL="0">
              <a:lnSpc>
                <a:spcPct val="121000"/>
              </a:lnSpc>
              <a:spcAft>
                <a:spcPts val="850"/>
              </a:spcAft>
              <a:buNone/>
            </a:pPr>
            <a:r>
              <a:rPr lang="en-US" sz="1200" spc="-24" kern="0" dirty="0">
                <a:solidFill>
                  <a:srgbClr val="272525"/>
                </a:solidFill>
                <a:latin typeface="Inter" pitchFamily="34" charset="0"/>
                <a:ea typeface="Inter" pitchFamily="34" charset="-122"/>
                <a:cs typeface="Inter" pitchFamily="34" charset="-120"/>
              </a:rPr>
              <a:t>The serving path becomes a write path into model state</a:t>
            </a:r>
            <a:endParaRPr lang="en-US" sz="1200" dirty="0"/>
          </a:p>
          <a:p>
            <a:pPr algn="l" indent="0" marL="0">
              <a:lnSpc>
                <a:spcPct val="121000"/>
              </a:lnSpc>
              <a:spcAft>
                <a:spcPts val="850"/>
              </a:spcAft>
              <a:buNone/>
            </a:pPr>
            <a:r>
              <a:rPr lang="en-US" sz="1200" spc="-24" kern="0" dirty="0">
                <a:solidFill>
                  <a:srgbClr val="272525"/>
                </a:solidFill>
                <a:latin typeface="Inter" pitchFamily="34" charset="0"/>
                <a:ea typeface="Inter" pitchFamily="34" charset="-122"/>
                <a:cs typeface="Inter" pitchFamily="34" charset="-120"/>
              </a:rPr>
              <a:t>A slow, benign-looking input stream can steer successive fast-weight updates</a:t>
            </a:r>
            <a:endParaRPr lang="en-US" sz="1200" dirty="0"/>
          </a:p>
          <a:p>
            <a:pPr algn="l" indent="0" marL="0">
              <a:lnSpc>
                <a:spcPct val="121000"/>
              </a:lnSpc>
              <a:buNone/>
            </a:pPr>
            <a:r>
              <a:rPr lang="en-US" sz="1200" spc="-24" kern="0" dirty="0">
                <a:solidFill>
                  <a:srgbClr val="272525"/>
                </a:solidFill>
                <a:latin typeface="Inter" pitchFamily="34" charset="0"/>
                <a:ea typeface="Inter" pitchFamily="34" charset="-122"/>
                <a:cs typeface="Inter" pitchFamily="34" charset="-120"/>
              </a:rPr>
              <a:t>Danger emerges cumulatively, not from one obviously abnormal update</a:t>
            </a:r>
            <a:endParaRPr lang="en-US" sz="1200" dirty="0"/>
          </a:p>
        </p:txBody>
      </p:sp>
      <p:sp>
        <p:nvSpPr>
          <p:cNvPr id="5" name="Text 3"/>
          <p:cNvSpPr/>
          <p:nvPr/>
        </p:nvSpPr>
        <p:spPr>
          <a:xfrm>
            <a:off x="661475" y="3080445"/>
            <a:ext cx="5247052" cy="383977"/>
          </a:xfrm>
          <a:prstGeom prst="rect">
            <a:avLst/>
          </a:prstGeom>
          <a:noFill/>
          <a:ln/>
        </p:spPr>
        <p:txBody>
          <a:bodyPr wrap="none" lIns="0" tIns="0" rIns="0" bIns="0" rtlCol="0" anchor="t"/>
          <a:lstStyle/>
          <a:p>
            <a:pPr algn="l" indent="0" marL="0">
              <a:lnSpc>
                <a:spcPct val="104000"/>
              </a:lnSpc>
              <a:buNone/>
            </a:pPr>
            <a:r>
              <a:rPr lang="en-US" sz="2400" b="1" spc="-73" kern="0" dirty="0">
                <a:solidFill>
                  <a:srgbClr val="000000"/>
                </a:solidFill>
                <a:latin typeface="Inter Bold" pitchFamily="34" charset="0"/>
                <a:ea typeface="Inter Bold" pitchFamily="34" charset="-122"/>
                <a:cs typeface="Inter Bold" pitchFamily="34" charset="-120"/>
              </a:rPr>
              <a:t>Possible Harms</a:t>
            </a:r>
            <a:endParaRPr lang="en-US" sz="2400" dirty="0"/>
          </a:p>
        </p:txBody>
      </p:sp>
      <p:sp>
        <p:nvSpPr>
          <p:cNvPr id="6" name="Text 4"/>
          <p:cNvSpPr/>
          <p:nvPr/>
        </p:nvSpPr>
        <p:spPr>
          <a:xfrm>
            <a:off x="661475" y="3589139"/>
            <a:ext cx="5247052" cy="711597"/>
          </a:xfrm>
          <a:prstGeom prst="rect">
            <a:avLst/>
          </a:prstGeom>
          <a:noFill/>
          <a:ln/>
        </p:spPr>
        <p:txBody>
          <a:bodyPr wrap="square" lIns="0" tIns="0" rIns="0" bIns="0" rtlCol="0" anchor="t">
            <a:normAutofit/>
          </a:bodyPr>
          <a:lstStyle/>
          <a:p>
            <a:pPr algn="l" marL="243840" indent="-243840">
              <a:lnSpc>
                <a:spcPct val="121000"/>
              </a:lnSpc>
              <a:buSzPct val="100000"/>
              <a:buFont typeface="+mj-lt"/>
              <a:buAutoNum type="arabicPeriod" startAt="1"/>
            </a:pPr>
            <a:r>
              <a:rPr lang="en-US" sz="1200" spc="-24" kern="0" dirty="0">
                <a:solidFill>
                  <a:srgbClr val="272525"/>
                </a:solidFill>
                <a:latin typeface="Inter" pitchFamily="34" charset="0"/>
                <a:ea typeface="Inter" pitchFamily="34" charset="-122"/>
                <a:cs typeface="Inter" pitchFamily="34" charset="-120"/>
              </a:rPr>
              <a:t>DEGRADE: later benign inputs receive worse predictions</a:t>
            </a:r>
            <a:endParaRPr lang="en-US" sz="1200" dirty="0"/>
          </a:p>
          <a:p>
            <a:pPr algn="l" marL="243840" indent="-243840">
              <a:lnSpc>
                <a:spcPct val="121000"/>
              </a:lnSpc>
              <a:buSzPct val="100000"/>
              <a:buFont typeface="+mj-lt"/>
              <a:buAutoNum type="arabicPeriod" startAt="2"/>
            </a:pPr>
            <a:r>
              <a:rPr lang="en-US" sz="1200" spc="-24" kern="0" dirty="0">
                <a:solidFill>
                  <a:srgbClr val="272525"/>
                </a:solidFill>
                <a:latin typeface="Inter" pitchFamily="34" charset="0"/>
                <a:ea typeface="Inter" pitchFamily="34" charset="-122"/>
                <a:cs typeface="Inter" pitchFamily="34" charset="-120"/>
              </a:rPr>
              <a:t>TRIGGER: a latent association causes attacker-chosen behavior after a trigger</a:t>
            </a:r>
            <a:endParaRPr lang="en-US" sz="1200" dirty="0"/>
          </a:p>
        </p:txBody>
      </p:sp>
      <p:sp>
        <p:nvSpPr>
          <p:cNvPr id="7" name="Text 5"/>
          <p:cNvSpPr/>
          <p:nvPr/>
        </p:nvSpPr>
        <p:spPr>
          <a:xfrm>
            <a:off x="661475" y="4425454"/>
            <a:ext cx="5247052" cy="383977"/>
          </a:xfrm>
          <a:prstGeom prst="rect">
            <a:avLst/>
          </a:prstGeom>
          <a:noFill/>
          <a:ln/>
        </p:spPr>
        <p:txBody>
          <a:bodyPr wrap="none" lIns="0" tIns="0" rIns="0" bIns="0" rtlCol="0" anchor="t"/>
          <a:lstStyle/>
          <a:p>
            <a:pPr algn="l" indent="0" marL="0">
              <a:lnSpc>
                <a:spcPct val="104000"/>
              </a:lnSpc>
              <a:buNone/>
            </a:pPr>
            <a:r>
              <a:rPr lang="en-US" sz="2400" b="1" spc="-73" kern="0" dirty="0">
                <a:solidFill>
                  <a:srgbClr val="000000"/>
                </a:solidFill>
                <a:latin typeface="Inter Bold" pitchFamily="34" charset="0"/>
                <a:ea typeface="Inter Bold" pitchFamily="34" charset="-122"/>
                <a:cs typeface="Inter Bold" pitchFamily="34" charset="-120"/>
              </a:rPr>
              <a:t>Threat Model Assumptions</a:t>
            </a:r>
            <a:endParaRPr lang="en-US" sz="2400" dirty="0"/>
          </a:p>
        </p:txBody>
      </p:sp>
      <p:sp>
        <p:nvSpPr>
          <p:cNvPr id="8" name="Text 6"/>
          <p:cNvSpPr/>
          <p:nvPr/>
        </p:nvSpPr>
        <p:spPr>
          <a:xfrm>
            <a:off x="661475" y="4934148"/>
            <a:ext cx="5247052" cy="1021556"/>
          </a:xfrm>
          <a:prstGeom prst="rect">
            <a:avLst/>
          </a:prstGeom>
          <a:noFill/>
          <a:ln/>
        </p:spPr>
        <p:txBody>
          <a:bodyPr wrap="square" lIns="0" tIns="61431" rIns="0" bIns="0" rtlCol="0" anchor="t">
            <a:normAutofit/>
          </a:bodyPr>
          <a:lstStyle/>
          <a:p>
            <a:pPr algn="l" marL="243840" indent="-243840">
              <a:lnSpc>
                <a:spcPct val="121000"/>
              </a:lnSpc>
              <a:buSzPct val="100000"/>
              <a:buChar char="•"/>
            </a:pPr>
            <a:r>
              <a:rPr lang="en-US" sz="1200" spc="-24" kern="0" dirty="0">
                <a:solidFill>
                  <a:srgbClr val="272525"/>
                </a:solidFill>
                <a:latin typeface="Inter" pitchFamily="34" charset="0"/>
                <a:ea typeface="Inter" pitchFamily="34" charset="-122"/>
                <a:cs typeface="Inter" pitchFamily="34" charset="-120"/>
              </a:rPr>
              <a:t>Attacker does NOT modify training data</a:t>
            </a:r>
            <a:endParaRPr lang="en-US" sz="1200" dirty="0"/>
          </a:p>
          <a:p>
            <a:pPr algn="l" marL="243840" indent="-243840">
              <a:lnSpc>
                <a:spcPct val="121000"/>
              </a:lnSpc>
              <a:buSzPct val="100000"/>
              <a:buChar char="•"/>
            </a:pPr>
            <a:r>
              <a:rPr lang="en-US" sz="1200" spc="-24" kern="0" dirty="0">
                <a:solidFill>
                  <a:srgbClr val="272525"/>
                </a:solidFill>
                <a:latin typeface="Inter" pitchFamily="34" charset="0"/>
                <a:ea typeface="Inter" pitchFamily="34" charset="-122"/>
                <a:cs typeface="Inter" pitchFamily="34" charset="-120"/>
              </a:rPr>
              <a:t>Attacker does NOT modify base weights</a:t>
            </a:r>
            <a:endParaRPr lang="en-US" sz="1200" dirty="0"/>
          </a:p>
          <a:p>
            <a:pPr algn="l" marL="243840" indent="-243840">
              <a:lnSpc>
                <a:spcPct val="121000"/>
              </a:lnSpc>
              <a:buSzPct val="100000"/>
              <a:buChar char="•"/>
            </a:pPr>
            <a:r>
              <a:rPr lang="en-US" sz="1200" spc="-24" kern="0" dirty="0">
                <a:solidFill>
                  <a:srgbClr val="272525"/>
                </a:solidFill>
                <a:latin typeface="Inter" pitchFamily="34" charset="0"/>
                <a:ea typeface="Inter" pitchFamily="34" charset="-122"/>
                <a:cs typeface="Inter" pitchFamily="34" charset="-120"/>
              </a:rPr>
              <a:t>Attacker does NOT modify trust-gate code</a:t>
            </a:r>
            <a:endParaRPr lang="en-US" sz="1200" dirty="0"/>
          </a:p>
          <a:p>
            <a:pPr algn="l" marL="243840" indent="-243840">
              <a:lnSpc>
                <a:spcPct val="121000"/>
              </a:lnSpc>
              <a:buSzPct val="100000"/>
              <a:buChar char="•"/>
            </a:pPr>
            <a:r>
              <a:rPr lang="en-US" sz="1200" spc="-24" kern="0" dirty="0">
                <a:solidFill>
                  <a:srgbClr val="272525"/>
                </a:solidFill>
                <a:latin typeface="Inter" pitchFamily="34" charset="0"/>
                <a:ea typeface="Inter" pitchFamily="34" charset="-122"/>
                <a:cs typeface="Inter" pitchFamily="34" charset="-120"/>
              </a:rPr>
              <a:t>Attack operates ONLY through the context stream</a:t>
            </a:r>
            <a:endParaRPr lang="en-US" sz="1200" dirty="0"/>
          </a:p>
        </p:txBody>
      </p:sp>
      <p:pic>
        <p:nvPicPr>
          <p:cNvPr id="9" name="Image 0" descr="preencoded.png">    </p:cNvPr>
          <p:cNvPicPr>
            <a:picLocks noChangeAspect="1"/>
          </p:cNvPicPr>
          <p:nvPr/>
        </p:nvPicPr>
        <p:blipFill>
          <a:blip r:embed="rId1"/>
          <a:stretch>
            <a:fillRect/>
          </a:stretch>
        </p:blipFill>
        <p:spPr>
          <a:xfrm>
            <a:off x="6289518" y="1347589"/>
            <a:ext cx="5247052" cy="2050058"/>
          </a:xfrm>
          <a:prstGeom prst="rect">
            <a:avLst/>
          </a:prstGeom>
        </p:spPr>
      </p:pic>
      <p:sp>
        <p:nvSpPr>
          <p:cNvPr id="10" name="Text 7"/>
          <p:cNvSpPr/>
          <p:nvPr/>
        </p:nvSpPr>
        <p:spPr>
          <a:xfrm>
            <a:off x="9203909" y="1540759"/>
            <a:ext cx="1230147" cy="144793"/>
          </a:xfrm>
          <a:prstGeom prst="rect">
            <a:avLst/>
          </a:prstGeom>
          <a:noFill/>
          <a:ln/>
        </p:spPr>
        <p:txBody>
          <a:bodyPr wrap="none" lIns="0" tIns="0" rIns="0" bIns="0" rtlCol="0" anchor="t"/>
          <a:lstStyle/>
          <a:p>
            <a:pPr algn="l" indent="0" marL="0">
              <a:lnSpc>
                <a:spcPct val="104000"/>
              </a:lnSpc>
              <a:buNone/>
            </a:pPr>
            <a:r>
              <a:rPr lang="en-US" sz="900" b="1" spc="-27" kern="0" dirty="0">
                <a:solidFill>
                  <a:srgbClr val="272525"/>
                </a:solidFill>
                <a:latin typeface="Inter Bold" pitchFamily="34" charset="0"/>
                <a:ea typeface="Inter Bold" pitchFamily="34" charset="-122"/>
                <a:cs typeface="Inter Bold" pitchFamily="34" charset="-120"/>
              </a:rPr>
              <a:t>Benign Context Stream</a:t>
            </a:r>
            <a:endParaRPr lang="en-US" sz="900" dirty="0"/>
          </a:p>
        </p:txBody>
      </p:sp>
      <p:sp>
        <p:nvSpPr>
          <p:cNvPr id="11" name="Text 8"/>
          <p:cNvSpPr/>
          <p:nvPr/>
        </p:nvSpPr>
        <p:spPr>
          <a:xfrm>
            <a:off x="9203909" y="1896065"/>
            <a:ext cx="1158315" cy="144793"/>
          </a:xfrm>
          <a:prstGeom prst="rect">
            <a:avLst/>
          </a:prstGeom>
          <a:noFill/>
          <a:ln/>
        </p:spPr>
        <p:txBody>
          <a:bodyPr wrap="none" lIns="0" tIns="0" rIns="0" bIns="0" rtlCol="0" anchor="t"/>
          <a:lstStyle/>
          <a:p>
            <a:pPr algn="l" indent="0" marL="0">
              <a:lnSpc>
                <a:spcPct val="104000"/>
              </a:lnSpc>
              <a:buNone/>
            </a:pPr>
            <a:r>
              <a:rPr lang="en-US" sz="900" b="1" spc="-27" kern="0" dirty="0">
                <a:solidFill>
                  <a:srgbClr val="272525"/>
                </a:solidFill>
                <a:latin typeface="Inter Bold" pitchFamily="34" charset="0"/>
                <a:ea typeface="Inter Bold" pitchFamily="34" charset="-122"/>
                <a:cs typeface="Inter Bold" pitchFamily="34" charset="-120"/>
              </a:rPr>
              <a:t>Fast-Weight Updates</a:t>
            </a:r>
            <a:endParaRPr lang="en-US" sz="900" dirty="0"/>
          </a:p>
        </p:txBody>
      </p:sp>
      <p:sp>
        <p:nvSpPr>
          <p:cNvPr id="12" name="Text 9"/>
          <p:cNvSpPr/>
          <p:nvPr/>
        </p:nvSpPr>
        <p:spPr>
          <a:xfrm>
            <a:off x="9203909" y="2250888"/>
            <a:ext cx="1515864" cy="144793"/>
          </a:xfrm>
          <a:prstGeom prst="rect">
            <a:avLst/>
          </a:prstGeom>
          <a:noFill/>
          <a:ln/>
        </p:spPr>
        <p:txBody>
          <a:bodyPr wrap="none" lIns="0" tIns="0" rIns="0" bIns="0" rtlCol="0" anchor="t"/>
          <a:lstStyle/>
          <a:p>
            <a:pPr algn="l" indent="0" marL="0">
              <a:lnSpc>
                <a:spcPct val="104000"/>
              </a:lnSpc>
              <a:buNone/>
            </a:pPr>
            <a:r>
              <a:rPr lang="en-US" sz="900" b="1" spc="-27" kern="0" dirty="0">
                <a:solidFill>
                  <a:srgbClr val="272525"/>
                </a:solidFill>
                <a:latin typeface="Inter Bold" pitchFamily="34" charset="0"/>
                <a:ea typeface="Inter Bold" pitchFamily="34" charset="-122"/>
                <a:cs typeface="Inter Bold" pitchFamily="34" charset="-120"/>
              </a:rPr>
              <a:t>Cumulative State Corruption</a:t>
            </a:r>
            <a:endParaRPr lang="en-US" sz="900" dirty="0"/>
          </a:p>
        </p:txBody>
      </p:sp>
      <p:sp>
        <p:nvSpPr>
          <p:cNvPr id="13" name="Text 10"/>
          <p:cNvSpPr/>
          <p:nvPr/>
        </p:nvSpPr>
        <p:spPr>
          <a:xfrm>
            <a:off x="9203909" y="2611986"/>
            <a:ext cx="1679718" cy="144793"/>
          </a:xfrm>
          <a:prstGeom prst="rect">
            <a:avLst/>
          </a:prstGeom>
          <a:noFill/>
          <a:ln/>
        </p:spPr>
        <p:txBody>
          <a:bodyPr wrap="none" lIns="0" tIns="0" rIns="0" bIns="0" rtlCol="0" anchor="t"/>
          <a:lstStyle/>
          <a:p>
            <a:pPr algn="l" indent="0" marL="0">
              <a:lnSpc>
                <a:spcPct val="104000"/>
              </a:lnSpc>
              <a:buNone/>
            </a:pPr>
            <a:r>
              <a:rPr lang="en-US" sz="900" b="1" spc="-27" kern="0" dirty="0">
                <a:solidFill>
                  <a:srgbClr val="272525"/>
                </a:solidFill>
                <a:latin typeface="Inter Bold" pitchFamily="34" charset="0"/>
                <a:ea typeface="Inter Bold" pitchFamily="34" charset="-122"/>
                <a:cs typeface="Inter Bold" pitchFamily="34" charset="-120"/>
              </a:rPr>
              <a:t>Degraded or Exploited Behavior</a:t>
            </a:r>
            <a:endParaRPr lang="en-US" sz="900" dirty="0"/>
          </a:p>
        </p:txBody>
      </p:sp>
      <p:sp>
        <p:nvSpPr>
          <p:cNvPr id="14" name="Text 11"/>
          <p:cNvSpPr/>
          <p:nvPr/>
        </p:nvSpPr>
        <p:spPr>
          <a:xfrm>
            <a:off x="356682" y="6139656"/>
            <a:ext cx="11478330" cy="178098"/>
          </a:xfrm>
          <a:prstGeom prst="rect">
            <a:avLst/>
          </a:prstGeom>
          <a:noFill/>
          <a:ln/>
        </p:spPr>
        <p:txBody>
          <a:bodyPr wrap="none" lIns="0" tIns="0" rIns="0" bIns="0" rtlCol="0" anchor="t"/>
          <a:lstStyle/>
          <a:p>
            <a:pPr algn="ctr" indent="0" marL="0">
              <a:lnSpc>
                <a:spcPct val="121000"/>
              </a:lnSpc>
              <a:buNone/>
            </a:pPr>
            <a:r>
              <a:rPr lang="en-US" sz="950" spc="-24"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Closing the Gap: Why Existing Defenses Fall Short</a:t>
            </a:r>
            <a:endParaRPr lang="en-US" sz="1850" dirty="0"/>
          </a:p>
        </p:txBody>
      </p:sp>
      <p:sp>
        <p:nvSpPr>
          <p:cNvPr id="3" name="Text 1"/>
          <p:cNvSpPr/>
          <p:nvPr/>
        </p:nvSpPr>
        <p:spPr>
          <a:xfrm>
            <a:off x="661475" y="933152"/>
            <a:ext cx="6429016"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Research Gap</a:t>
            </a:r>
            <a:endParaRPr lang="en-US" sz="1450" dirty="0"/>
          </a:p>
        </p:txBody>
      </p:sp>
      <p:sp>
        <p:nvSpPr>
          <p:cNvPr id="4" name="Text 2"/>
          <p:cNvSpPr/>
          <p:nvPr/>
        </p:nvSpPr>
        <p:spPr>
          <a:xfrm>
            <a:off x="661475" y="1216620"/>
            <a:ext cx="7038600" cy="113407"/>
          </a:xfrm>
          <a:prstGeom prst="rect">
            <a:avLst/>
          </a:prstGeom>
          <a:noFill/>
          <a:ln/>
        </p:spPr>
        <p:txBody>
          <a:bodyPr wrap="none" lIns="0" tIns="0" rIns="0" bIns="0" rtlCol="0" anchor="t"/>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Existing test-time poisoning work targets vision adaptation or input/context channels.</a:t>
            </a:r>
            <a:endParaRPr lang="en-US" sz="700" dirty="0"/>
          </a:p>
        </p:txBody>
      </p:sp>
      <p:sp>
        <p:nvSpPr>
          <p:cNvPr id="5" name="Text 3"/>
          <p:cNvSpPr/>
          <p:nvPr/>
        </p:nvSpPr>
        <p:spPr>
          <a:xfrm>
            <a:off x="661475" y="1372493"/>
            <a:ext cx="6429016" cy="373162"/>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Federated-learning defenses operate on client updates and round-based aggregation</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MedBN robustifies batch-normalization statistics (not applicable to TTT-E2E)</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No existing approach jointly provides: per-update validation + cumulative drift control + rollback for fast-weight LLM serving</a:t>
            </a:r>
            <a:endParaRPr lang="en-US" sz="700" dirty="0"/>
          </a:p>
        </p:txBody>
      </p:sp>
      <p:sp>
        <p:nvSpPr>
          <p:cNvPr id="6" name="Text 4"/>
          <p:cNvSpPr/>
          <p:nvPr/>
        </p:nvSpPr>
        <p:spPr>
          <a:xfrm>
            <a:off x="661475" y="1792883"/>
            <a:ext cx="6429016"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Objectives</a:t>
            </a:r>
            <a:endParaRPr lang="en-US" sz="1450" dirty="0"/>
          </a:p>
        </p:txBody>
      </p:sp>
      <p:sp>
        <p:nvSpPr>
          <p:cNvPr id="7" name="Text 5"/>
          <p:cNvSpPr/>
          <p:nvPr/>
        </p:nvSpPr>
        <p:spPr>
          <a:xfrm>
            <a:off x="661475" y="2076351"/>
            <a:ext cx="6429016" cy="762794"/>
          </a:xfrm>
          <a:prstGeom prst="rect">
            <a:avLst/>
          </a:prstGeom>
          <a:noFill/>
          <a:ln/>
        </p:spPr>
        <p:txBody>
          <a:bodyPr wrap="square" lIns="0" tIns="0" rIns="0" bIns="0" rtlCol="0" anchor="t">
            <a:normAutofit/>
          </a:bodyPr>
          <a:lstStyle/>
          <a:p>
            <a:pPr algn="l" marL="142240" indent="-142240">
              <a:lnSpc>
                <a:spcPct val="100000"/>
              </a:lnSpc>
              <a:buSzPct val="100000"/>
              <a:buFont typeface="+mj-lt"/>
              <a:buAutoNum type="arabicPeriod" startAt="1"/>
            </a:pPr>
            <a:r>
              <a:rPr lang="en-US" sz="700" spc="-15" kern="0" dirty="0">
                <a:solidFill>
                  <a:srgbClr val="272525"/>
                </a:solidFill>
                <a:latin typeface="Inter" pitchFamily="34" charset="0"/>
                <a:ea typeface="Inter" pitchFamily="34" charset="-122"/>
                <a:cs typeface="Inter" pitchFamily="34" charset="-120"/>
              </a:rPr>
              <a:t>Demonstrate whether benign-looking streams can corrupt TTT-E2E fast weights</a:t>
            </a:r>
            <a:endParaRPr lang="en-US" sz="700" dirty="0"/>
          </a:p>
          <a:p>
            <a:pPr algn="l" marL="142240" indent="-142240">
              <a:lnSpc>
                <a:spcPct val="100000"/>
              </a:lnSpc>
              <a:buSzPct val="100000"/>
              <a:buFont typeface="+mj-lt"/>
              <a:buAutoNum type="arabicPeriod" startAt="2"/>
            </a:pPr>
            <a:r>
              <a:rPr lang="en-US" sz="700" spc="-15" kern="0" dirty="0">
                <a:solidFill>
                  <a:srgbClr val="272525"/>
                </a:solidFill>
                <a:latin typeface="Inter" pitchFamily="34" charset="0"/>
                <a:ea typeface="Inter" pitchFamily="34" charset="-122"/>
                <a:cs typeface="Inter" pitchFamily="34" charset="-120"/>
              </a:rPr>
              <a:t>Intercept every proposed fast-weight update before commitment</a:t>
            </a:r>
            <a:endParaRPr lang="en-US" sz="700" dirty="0"/>
          </a:p>
          <a:p>
            <a:pPr algn="l" marL="142240" indent="-142240">
              <a:lnSpc>
                <a:spcPct val="100000"/>
              </a:lnSpc>
              <a:buSzPct val="100000"/>
              <a:buFont typeface="+mj-lt"/>
              <a:buAutoNum type="arabicPeriod" startAt="3"/>
            </a:pPr>
            <a:r>
              <a:rPr lang="en-US" sz="700" spc="-15" kern="0" dirty="0">
                <a:solidFill>
                  <a:srgbClr val="272525"/>
                </a:solidFill>
                <a:latin typeface="Inter" pitchFamily="34" charset="0"/>
                <a:ea typeface="Inter" pitchFamily="34" charset="-122"/>
                <a:cs typeface="Inter" pitchFamily="34" charset="-120"/>
              </a:rPr>
              <a:t>Validate updates using a frozen anchor and uncertainty signals</a:t>
            </a:r>
            <a:endParaRPr lang="en-US" sz="700" dirty="0"/>
          </a:p>
          <a:p>
            <a:pPr algn="l" marL="142240" indent="-142240">
              <a:lnSpc>
                <a:spcPct val="100000"/>
              </a:lnSpc>
              <a:buSzPct val="100000"/>
              <a:buFont typeface="+mj-lt"/>
              <a:buAutoNum type="arabicPeriod" startAt="4"/>
            </a:pPr>
            <a:r>
              <a:rPr lang="en-US" sz="700" spc="-15" kern="0" dirty="0">
                <a:solidFill>
                  <a:srgbClr val="272525"/>
                </a:solidFill>
                <a:latin typeface="Inter" pitchFamily="34" charset="0"/>
                <a:ea typeface="Inter" pitchFamily="34" charset="-122"/>
                <a:cs typeface="Inter" pitchFamily="34" charset="-120"/>
              </a:rPr>
              <a:t>Enforce a bounded cumulative-drift budget</a:t>
            </a:r>
            <a:endParaRPr lang="en-US" sz="700" dirty="0"/>
          </a:p>
          <a:p>
            <a:pPr algn="l" marL="142240" indent="-142240">
              <a:lnSpc>
                <a:spcPct val="100000"/>
              </a:lnSpc>
              <a:buSzPct val="100000"/>
              <a:buFont typeface="+mj-lt"/>
              <a:buAutoNum type="arabicPeriod" startAt="5"/>
            </a:pPr>
            <a:r>
              <a:rPr lang="en-US" sz="700" spc="-15" kern="0" dirty="0">
                <a:solidFill>
                  <a:srgbClr val="272525"/>
                </a:solidFill>
                <a:latin typeface="Inter" pitchFamily="34" charset="0"/>
                <a:ea typeface="Inter" pitchFamily="34" charset="-122"/>
                <a:cs typeface="Inter" pitchFamily="34" charset="-120"/>
              </a:rPr>
              <a:t>Recover using versioned checkpoints and rollback</a:t>
            </a:r>
            <a:endParaRPr lang="en-US" sz="700" dirty="0"/>
          </a:p>
          <a:p>
            <a:pPr algn="l" marL="142240" indent="-142240">
              <a:lnSpc>
                <a:spcPct val="100000"/>
              </a:lnSpc>
              <a:buSzPct val="100000"/>
              <a:buFont typeface="+mj-lt"/>
              <a:buAutoNum type="arabicPeriod" startAt="6"/>
            </a:pPr>
            <a:r>
              <a:rPr lang="en-US" sz="700" spc="-15" kern="0" dirty="0">
                <a:solidFill>
                  <a:srgbClr val="272525"/>
                </a:solidFill>
                <a:latin typeface="Inter" pitchFamily="34" charset="0"/>
                <a:ea typeface="Inter" pitchFamily="34" charset="-122"/>
                <a:cs typeface="Inter" pitchFamily="34" charset="-120"/>
              </a:rPr>
              <a:t>Measure attack suppression, clean utility, overhead, and auditability</a:t>
            </a:r>
            <a:endParaRPr lang="en-US" sz="700" dirty="0"/>
          </a:p>
        </p:txBody>
      </p:sp>
      <p:pic>
        <p:nvPicPr>
          <p:cNvPr id="8" name="Image 0" descr="preencoded.png">    </p:cNvPr>
          <p:cNvPicPr>
            <a:picLocks noChangeAspect="1"/>
          </p:cNvPicPr>
          <p:nvPr/>
        </p:nvPicPr>
        <p:blipFill>
          <a:blip r:embed="rId1"/>
          <a:stretch>
            <a:fillRect/>
          </a:stretch>
        </p:blipFill>
        <p:spPr>
          <a:xfrm>
            <a:off x="7327419" y="939006"/>
            <a:ext cx="4209151" cy="4209256"/>
          </a:xfrm>
          <a:prstGeom prst="rect">
            <a:avLst/>
          </a:prstGeom>
        </p:spPr>
      </p:pic>
      <p:sp>
        <p:nvSpPr>
          <p:cNvPr id="9" name="Text 6"/>
          <p:cNvSpPr/>
          <p:nvPr/>
        </p:nvSpPr>
        <p:spPr>
          <a:xfrm>
            <a:off x="7327419" y="5201345"/>
            <a:ext cx="4209151"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Key Contributions</a:t>
            </a:r>
            <a:endParaRPr lang="en-US" sz="1450" dirty="0"/>
          </a:p>
        </p:txBody>
      </p:sp>
      <p:sp>
        <p:nvSpPr>
          <p:cNvPr id="10" name="Text 7"/>
          <p:cNvSpPr/>
          <p:nvPr/>
        </p:nvSpPr>
        <p:spPr>
          <a:xfrm>
            <a:off x="7327419" y="5484813"/>
            <a:ext cx="4209151" cy="762794"/>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Fast-weight-specific runtime threat model</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Commit-point update interceptor</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Frozen-anchor behavioral consistency gate</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Latching cumulative-drift guarantee</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O(1) rollback using a versioned ring buffer</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JAX/Equinox-compatible, trace-safe implementation</a:t>
            </a:r>
            <a:endParaRPr lang="en-US" sz="700" dirty="0"/>
          </a:p>
        </p:txBody>
      </p:sp>
      <p:sp>
        <p:nvSpPr>
          <p:cNvPr id="11" name="Text 8"/>
          <p:cNvSpPr/>
          <p:nvPr/>
        </p:nvSpPr>
        <p:spPr>
          <a:xfrm>
            <a:off x="356682" y="6317159"/>
            <a:ext cx="11478330" cy="90686"/>
          </a:xfrm>
          <a:prstGeom prst="rect">
            <a:avLst/>
          </a:prstGeom>
          <a:noFill/>
          <a:ln/>
        </p:spPr>
        <p:txBody>
          <a:bodyPr wrap="none" lIns="0" tIns="0" rIns="0" bIns="0" rtlCol="0" anchor="t"/>
          <a:lstStyle/>
          <a:p>
            <a:pPr algn="ctr" indent="0" marL="0">
              <a:lnSpc>
                <a:spcPct val="100000"/>
              </a:lnSpc>
              <a:buNone/>
            </a:pPr>
            <a:r>
              <a:rPr lang="en-US" sz="550" spc="-15"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31515"/>
            <a:ext cx="10868745" cy="350738"/>
          </a:xfrm>
          <a:prstGeom prst="rect">
            <a:avLst/>
          </a:prstGeom>
          <a:noFill/>
          <a:ln/>
        </p:spPr>
        <p:txBody>
          <a:bodyPr wrap="none" lIns="0" tIns="0" rIns="0" bIns="0" rtlCol="0" anchor="t"/>
          <a:lstStyle/>
          <a:p>
            <a:pPr algn="l" indent="0" marL="0">
              <a:lnSpc>
                <a:spcPct val="104000"/>
              </a:lnSpc>
              <a:buNone/>
            </a:pPr>
            <a:r>
              <a:rPr lang="en-US" sz="2200" b="1" spc="-66" kern="0" dirty="0">
                <a:solidFill>
                  <a:srgbClr val="000000"/>
                </a:solidFill>
                <a:latin typeface="Inter Bold" pitchFamily="34" charset="0"/>
                <a:ea typeface="Inter Bold" pitchFamily="34" charset="-122"/>
                <a:cs typeface="Inter Bold" pitchFamily="34" charset="-120"/>
              </a:rPr>
              <a:t>Surveyed 15 Recent Research Articles Across Five Families</a:t>
            </a:r>
            <a:endParaRPr lang="en-US" sz="22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015504"/>
            <a:ext cx="3578532" cy="1859756"/>
          </a:xfrm>
          <a:prstGeom prst="rect">
            <a:avLst/>
          </a:prstGeom>
        </p:spPr>
      </p:pic>
      <p:sp>
        <p:nvSpPr>
          <p:cNvPr id="4" name="Text 1"/>
          <p:cNvSpPr/>
          <p:nvPr/>
        </p:nvSpPr>
        <p:spPr>
          <a:xfrm>
            <a:off x="2366606" y="1088132"/>
            <a:ext cx="168271" cy="210344"/>
          </a:xfrm>
          <a:prstGeom prst="rect">
            <a:avLst/>
          </a:prstGeom>
          <a:noFill/>
          <a:ln/>
        </p:spPr>
        <p:txBody>
          <a:bodyPr wrap="none" lIns="0" tIns="0" rIns="0" bIns="0" rtlCol="0" anchor="ctr"/>
          <a:lstStyle/>
          <a:p>
            <a:pPr algn="ctr" indent="0" marL="0">
              <a:lnSpc>
                <a:spcPct val="100000"/>
              </a:lnSpc>
              <a:buNone/>
            </a:pPr>
            <a:r>
              <a:rPr lang="en-US" sz="1300" b="1" spc="-40" kern="0" dirty="0">
                <a:solidFill>
                  <a:srgbClr val="272525"/>
                </a:solidFill>
                <a:latin typeface="Inter Bold" pitchFamily="34" charset="0"/>
                <a:ea typeface="Inter Bold" pitchFamily="34" charset="-122"/>
                <a:cs typeface="Inter Bold" pitchFamily="34" charset="-120"/>
              </a:rPr>
              <a:t>1</a:t>
            </a:r>
            <a:endParaRPr lang="en-US" sz="1300" dirty="0"/>
          </a:p>
        </p:txBody>
      </p:sp>
      <p:sp>
        <p:nvSpPr>
          <p:cNvPr id="5" name="Text 2"/>
          <p:cNvSpPr/>
          <p:nvPr/>
        </p:nvSpPr>
        <p:spPr>
          <a:xfrm>
            <a:off x="786388" y="1431429"/>
            <a:ext cx="3328706" cy="175320"/>
          </a:xfrm>
          <a:prstGeom prst="rect">
            <a:avLst/>
          </a:prstGeom>
          <a:noFill/>
          <a:ln/>
        </p:spPr>
        <p:txBody>
          <a:bodyPr wrap="none" lIns="0" tIns="0" rIns="0" bIns="0" rtlCol="0" anchor="t"/>
          <a:lstStyle/>
          <a:p>
            <a:pPr algn="l" indent="0" marL="0">
              <a:lnSpc>
                <a:spcPct val="104000"/>
              </a:lnSpc>
              <a:buNone/>
            </a:pPr>
            <a:r>
              <a:rPr lang="en-US" sz="1100" b="1" spc="-33" kern="0" dirty="0">
                <a:solidFill>
                  <a:srgbClr val="272525"/>
                </a:solidFill>
                <a:latin typeface="Inter Bold" pitchFamily="34" charset="0"/>
                <a:ea typeface="Inter Bold" pitchFamily="34" charset="-122"/>
                <a:cs typeface="Inter Bold" pitchFamily="34" charset="-120"/>
              </a:rPr>
              <a:t>Inference-Time Poisoning &amp; Contextual Backdoors</a:t>
            </a:r>
            <a:endParaRPr lang="en-US" sz="1100" dirty="0"/>
          </a:p>
        </p:txBody>
      </p:sp>
      <p:sp>
        <p:nvSpPr>
          <p:cNvPr id="6" name="Text 3"/>
          <p:cNvSpPr/>
          <p:nvPr/>
        </p:nvSpPr>
        <p:spPr>
          <a:xfrm>
            <a:off x="786388" y="1646634"/>
            <a:ext cx="3328706" cy="785316"/>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Unit:</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context/prompt injection</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Assumption: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attacker controls input stream</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Strength:</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demonstrates real-world attack surface</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Limitation: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focuses on prompt-level, not weight-level corruption</a:t>
            </a:r>
            <a:endParaRPr lang="en-US" sz="8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06581" y="1015504"/>
            <a:ext cx="3578532" cy="1859756"/>
          </a:xfrm>
          <a:prstGeom prst="rect">
            <a:avLst/>
          </a:prstGeom>
        </p:spPr>
      </p:pic>
      <p:sp>
        <p:nvSpPr>
          <p:cNvPr id="8" name="Text 4"/>
          <p:cNvSpPr/>
          <p:nvPr/>
        </p:nvSpPr>
        <p:spPr>
          <a:xfrm>
            <a:off x="6011712" y="1088132"/>
            <a:ext cx="168271" cy="210344"/>
          </a:xfrm>
          <a:prstGeom prst="rect">
            <a:avLst/>
          </a:prstGeom>
          <a:noFill/>
          <a:ln/>
        </p:spPr>
        <p:txBody>
          <a:bodyPr wrap="none" lIns="0" tIns="0" rIns="0" bIns="0" rtlCol="0" anchor="ctr"/>
          <a:lstStyle/>
          <a:p>
            <a:pPr algn="ctr" indent="0" marL="0">
              <a:lnSpc>
                <a:spcPct val="100000"/>
              </a:lnSpc>
              <a:buNone/>
            </a:pPr>
            <a:r>
              <a:rPr lang="en-US" sz="1300" b="1" spc="-40" kern="0" dirty="0">
                <a:solidFill>
                  <a:srgbClr val="272525"/>
                </a:solidFill>
                <a:latin typeface="Inter Bold" pitchFamily="34" charset="0"/>
                <a:ea typeface="Inter Bold" pitchFamily="34" charset="-122"/>
                <a:cs typeface="Inter Bold" pitchFamily="34" charset="-120"/>
              </a:rPr>
              <a:t>2</a:t>
            </a:r>
            <a:endParaRPr lang="en-US" sz="1300" dirty="0"/>
          </a:p>
        </p:txBody>
      </p:sp>
      <p:sp>
        <p:nvSpPr>
          <p:cNvPr id="9" name="Text 5"/>
          <p:cNvSpPr/>
          <p:nvPr/>
        </p:nvSpPr>
        <p:spPr>
          <a:xfrm>
            <a:off x="4431495" y="1431429"/>
            <a:ext cx="3328706" cy="175320"/>
          </a:xfrm>
          <a:prstGeom prst="rect">
            <a:avLst/>
          </a:prstGeom>
          <a:noFill/>
          <a:ln/>
        </p:spPr>
        <p:txBody>
          <a:bodyPr wrap="none" lIns="0" tIns="0" rIns="0" bIns="0" rtlCol="0" anchor="t"/>
          <a:lstStyle/>
          <a:p>
            <a:pPr algn="l" indent="0" marL="0">
              <a:lnSpc>
                <a:spcPct val="104000"/>
              </a:lnSpc>
              <a:buNone/>
            </a:pPr>
            <a:r>
              <a:rPr lang="en-US" sz="1100" b="1" spc="-33" kern="0" dirty="0">
                <a:solidFill>
                  <a:srgbClr val="272525"/>
                </a:solidFill>
                <a:latin typeface="Inter Bold" pitchFamily="34" charset="0"/>
                <a:ea typeface="Inter Bold" pitchFamily="34" charset="-122"/>
                <a:cs typeface="Inter Bold" pitchFamily="34" charset="-120"/>
              </a:rPr>
              <a:t>Test-Time Adaptation Attacks &amp; Defenses</a:t>
            </a:r>
            <a:endParaRPr lang="en-US" sz="1100" dirty="0"/>
          </a:p>
        </p:txBody>
      </p:sp>
      <p:sp>
        <p:nvSpPr>
          <p:cNvPr id="10" name="Text 6"/>
          <p:cNvSpPr/>
          <p:nvPr/>
        </p:nvSpPr>
        <p:spPr>
          <a:xfrm>
            <a:off x="4431495" y="1646634"/>
            <a:ext cx="3328706" cy="785316"/>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Unit:</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test-time update</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Assumption: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model adapts to distribution shift</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Strength:</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directly relevant to continual learning</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Limitation: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primarily vision-focused; batch-norm assumptions don't apply to LLMs</a:t>
            </a:r>
            <a:endParaRPr lang="en-US" sz="8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51688" y="1015504"/>
            <a:ext cx="3578532" cy="1859756"/>
          </a:xfrm>
          <a:prstGeom prst="rect">
            <a:avLst/>
          </a:prstGeom>
        </p:spPr>
      </p:pic>
      <p:sp>
        <p:nvSpPr>
          <p:cNvPr id="12" name="Text 7"/>
          <p:cNvSpPr/>
          <p:nvPr/>
        </p:nvSpPr>
        <p:spPr>
          <a:xfrm>
            <a:off x="9656819" y="1088132"/>
            <a:ext cx="168271" cy="210344"/>
          </a:xfrm>
          <a:prstGeom prst="rect">
            <a:avLst/>
          </a:prstGeom>
          <a:noFill/>
          <a:ln/>
        </p:spPr>
        <p:txBody>
          <a:bodyPr wrap="none" lIns="0" tIns="0" rIns="0" bIns="0" rtlCol="0" anchor="ctr"/>
          <a:lstStyle/>
          <a:p>
            <a:pPr algn="ctr" indent="0" marL="0">
              <a:lnSpc>
                <a:spcPct val="100000"/>
              </a:lnSpc>
              <a:buNone/>
            </a:pPr>
            <a:r>
              <a:rPr lang="en-US" sz="1300" b="1" spc="-40" kern="0" dirty="0">
                <a:solidFill>
                  <a:srgbClr val="272525"/>
                </a:solidFill>
                <a:latin typeface="Inter Bold" pitchFamily="34" charset="0"/>
                <a:ea typeface="Inter Bold" pitchFamily="34" charset="-122"/>
                <a:cs typeface="Inter Bold" pitchFamily="34" charset="-120"/>
              </a:rPr>
              <a:t>3</a:t>
            </a:r>
            <a:endParaRPr lang="en-US" sz="1300" dirty="0"/>
          </a:p>
        </p:txBody>
      </p:sp>
      <p:sp>
        <p:nvSpPr>
          <p:cNvPr id="13" name="Text 8"/>
          <p:cNvSpPr/>
          <p:nvPr/>
        </p:nvSpPr>
        <p:spPr>
          <a:xfrm>
            <a:off x="8076601" y="1431429"/>
            <a:ext cx="3328706" cy="350639"/>
          </a:xfrm>
          <a:prstGeom prst="rect">
            <a:avLst/>
          </a:prstGeom>
          <a:noFill/>
          <a:ln/>
        </p:spPr>
        <p:txBody>
          <a:bodyPr wrap="square" lIns="0" tIns="0" rIns="0" bIns="0" rtlCol="0" anchor="t">
            <a:normAutofit/>
          </a:bodyPr>
          <a:lstStyle/>
          <a:p>
            <a:pPr algn="l" indent="0" marL="0">
              <a:lnSpc>
                <a:spcPct val="104000"/>
              </a:lnSpc>
              <a:buNone/>
            </a:pPr>
            <a:r>
              <a:rPr lang="en-US" sz="1100" b="1" spc="-33" kern="0" dirty="0">
                <a:solidFill>
                  <a:srgbClr val="272525"/>
                </a:solidFill>
                <a:latin typeface="Inter Bold" pitchFamily="34" charset="0"/>
                <a:ea typeface="Inter Bold" pitchFamily="34" charset="-122"/>
                <a:cs typeface="Inter Bold" pitchFamily="34" charset="-120"/>
              </a:rPr>
              <a:t>Federated-Learning Update Validation &amp; Robust Aggregation</a:t>
            </a:r>
            <a:endParaRPr lang="en-US" sz="1100" dirty="0"/>
          </a:p>
        </p:txBody>
      </p:sp>
      <p:sp>
        <p:nvSpPr>
          <p:cNvPr id="14" name="Text 9"/>
          <p:cNvSpPr/>
          <p:nvPr/>
        </p:nvSpPr>
        <p:spPr>
          <a:xfrm>
            <a:off x="8076601" y="1821954"/>
            <a:ext cx="3328706" cy="928390"/>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Unit:</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client gradient/update</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Assumption: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round-based aggregation with multiple clients</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Strength:</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mature defense mechanisms (median, trimmed mean)</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Limitation: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assumes aggregation; single-stream fast-weight updates have no aggregation</a:t>
            </a:r>
            <a:endParaRPr lang="en-US" sz="8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2941836"/>
            <a:ext cx="3578532" cy="1573609"/>
          </a:xfrm>
          <a:prstGeom prst="rect">
            <a:avLst/>
          </a:prstGeom>
        </p:spPr>
      </p:pic>
      <p:sp>
        <p:nvSpPr>
          <p:cNvPr id="16" name="Text 10"/>
          <p:cNvSpPr/>
          <p:nvPr/>
        </p:nvSpPr>
        <p:spPr>
          <a:xfrm>
            <a:off x="2366606" y="3014464"/>
            <a:ext cx="168271" cy="210344"/>
          </a:xfrm>
          <a:prstGeom prst="rect">
            <a:avLst/>
          </a:prstGeom>
          <a:noFill/>
          <a:ln/>
        </p:spPr>
        <p:txBody>
          <a:bodyPr wrap="none" lIns="0" tIns="0" rIns="0" bIns="0" rtlCol="0" anchor="ctr"/>
          <a:lstStyle/>
          <a:p>
            <a:pPr algn="ctr" indent="0" marL="0">
              <a:lnSpc>
                <a:spcPct val="100000"/>
              </a:lnSpc>
              <a:buNone/>
            </a:pPr>
            <a:r>
              <a:rPr lang="en-US" sz="1300" b="1" spc="-40" kern="0" dirty="0">
                <a:solidFill>
                  <a:srgbClr val="272525"/>
                </a:solidFill>
                <a:latin typeface="Inter Bold" pitchFamily="34" charset="0"/>
                <a:ea typeface="Inter Bold" pitchFamily="34" charset="-122"/>
                <a:cs typeface="Inter Bold" pitchFamily="34" charset="-120"/>
              </a:rPr>
              <a:t>4</a:t>
            </a:r>
            <a:endParaRPr lang="en-US" sz="1300" dirty="0"/>
          </a:p>
        </p:txBody>
      </p:sp>
      <p:sp>
        <p:nvSpPr>
          <p:cNvPr id="17" name="Text 11"/>
          <p:cNvSpPr/>
          <p:nvPr/>
        </p:nvSpPr>
        <p:spPr>
          <a:xfrm>
            <a:off x="786388" y="3357761"/>
            <a:ext cx="3328706" cy="350639"/>
          </a:xfrm>
          <a:prstGeom prst="rect">
            <a:avLst/>
          </a:prstGeom>
          <a:noFill/>
          <a:ln/>
        </p:spPr>
        <p:txBody>
          <a:bodyPr wrap="square" lIns="0" tIns="0" rIns="0" bIns="0" rtlCol="0" anchor="t">
            <a:normAutofit/>
          </a:bodyPr>
          <a:lstStyle/>
          <a:p>
            <a:pPr algn="l" indent="0" marL="0">
              <a:lnSpc>
                <a:spcPct val="104000"/>
              </a:lnSpc>
              <a:buNone/>
            </a:pPr>
            <a:r>
              <a:rPr lang="en-US" sz="1100" b="1" spc="-33" kern="0" dirty="0">
                <a:solidFill>
                  <a:srgbClr val="272525"/>
                </a:solidFill>
                <a:latin typeface="Inter Bold" pitchFamily="34" charset="0"/>
                <a:ea typeface="Inter Bold" pitchFamily="34" charset="-122"/>
                <a:cs typeface="Inter Bold" pitchFamily="34" charset="-120"/>
              </a:rPr>
              <a:t>Offline Model Hardening, Distillation &amp; Adversarial Training</a:t>
            </a:r>
            <a:endParaRPr lang="en-US" sz="1100" dirty="0"/>
          </a:p>
        </p:txBody>
      </p:sp>
      <p:sp>
        <p:nvSpPr>
          <p:cNvPr id="18" name="Text 12"/>
          <p:cNvSpPr/>
          <p:nvPr/>
        </p:nvSpPr>
        <p:spPr>
          <a:xfrm>
            <a:off x="786388" y="3748286"/>
            <a:ext cx="3328706" cy="642243"/>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Unit:</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model weights (pre-deployment)</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Assumption: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defense applied before serving</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Strength:</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no runtime overhead</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Limitation: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cannot address online fast-weight corruption</a:t>
            </a:r>
            <a:endParaRPr lang="en-US" sz="8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06581" y="2941836"/>
            <a:ext cx="3578532" cy="1573609"/>
          </a:xfrm>
          <a:prstGeom prst="rect">
            <a:avLst/>
          </a:prstGeom>
        </p:spPr>
      </p:pic>
      <p:sp>
        <p:nvSpPr>
          <p:cNvPr id="20" name="Text 13"/>
          <p:cNvSpPr/>
          <p:nvPr/>
        </p:nvSpPr>
        <p:spPr>
          <a:xfrm>
            <a:off x="6011712" y="3014464"/>
            <a:ext cx="168271" cy="210344"/>
          </a:xfrm>
          <a:prstGeom prst="rect">
            <a:avLst/>
          </a:prstGeom>
          <a:noFill/>
          <a:ln/>
        </p:spPr>
        <p:txBody>
          <a:bodyPr wrap="none" lIns="0" tIns="0" rIns="0" bIns="0" rtlCol="0" anchor="ctr"/>
          <a:lstStyle/>
          <a:p>
            <a:pPr algn="ctr" indent="0" marL="0">
              <a:lnSpc>
                <a:spcPct val="100000"/>
              </a:lnSpc>
              <a:buNone/>
            </a:pPr>
            <a:r>
              <a:rPr lang="en-US" sz="1300" b="1" spc="-40" kern="0" dirty="0">
                <a:solidFill>
                  <a:srgbClr val="272525"/>
                </a:solidFill>
                <a:latin typeface="Inter Bold" pitchFamily="34" charset="0"/>
                <a:ea typeface="Inter Bold" pitchFamily="34" charset="-122"/>
                <a:cs typeface="Inter Bold" pitchFamily="34" charset="-120"/>
              </a:rPr>
              <a:t>5</a:t>
            </a:r>
            <a:endParaRPr lang="en-US" sz="1300" dirty="0"/>
          </a:p>
        </p:txBody>
      </p:sp>
      <p:sp>
        <p:nvSpPr>
          <p:cNvPr id="21" name="Text 14"/>
          <p:cNvSpPr/>
          <p:nvPr/>
        </p:nvSpPr>
        <p:spPr>
          <a:xfrm>
            <a:off x="4431495" y="3357761"/>
            <a:ext cx="3328706" cy="350639"/>
          </a:xfrm>
          <a:prstGeom prst="rect">
            <a:avLst/>
          </a:prstGeom>
          <a:noFill/>
          <a:ln/>
        </p:spPr>
        <p:txBody>
          <a:bodyPr wrap="square" lIns="0" tIns="0" rIns="0" bIns="0" rtlCol="0" anchor="t">
            <a:normAutofit/>
          </a:bodyPr>
          <a:lstStyle/>
          <a:p>
            <a:pPr algn="l" indent="0" marL="0">
              <a:lnSpc>
                <a:spcPct val="104000"/>
              </a:lnSpc>
              <a:buNone/>
            </a:pPr>
            <a:r>
              <a:rPr lang="en-US" sz="1100" b="1" spc="-33" kern="0" dirty="0">
                <a:solidFill>
                  <a:srgbClr val="272525"/>
                </a:solidFill>
                <a:latin typeface="Inter Bold" pitchFamily="34" charset="0"/>
                <a:ea typeface="Inter Bold" pitchFamily="34" charset="-122"/>
                <a:cs typeface="Inter Bold" pitchFamily="34" charset="-120"/>
              </a:rPr>
              <a:t>Structural &amp; Feature Poisoning in Graph &amp; Hypergraph Models</a:t>
            </a:r>
            <a:endParaRPr lang="en-US" sz="1100" dirty="0"/>
          </a:p>
        </p:txBody>
      </p:sp>
      <p:sp>
        <p:nvSpPr>
          <p:cNvPr id="22" name="Text 15"/>
          <p:cNvSpPr/>
          <p:nvPr/>
        </p:nvSpPr>
        <p:spPr>
          <a:xfrm>
            <a:off x="4431495" y="3748286"/>
            <a:ext cx="3328706" cy="618927"/>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Unit:</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graph edges, node features</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Assumption: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discrete structural modifications</a:t>
            </a:r>
            <a:endParaRPr lang="en-US" sz="850" dirty="0"/>
          </a:p>
          <a:p>
            <a:pPr algn="l" marL="172720" indent="-172720">
              <a:lnSpc>
                <a:spcPct val="106000"/>
              </a:lnSpc>
              <a:buSzPct val="100000"/>
              <a:buChar char="•"/>
            </a:pPr>
            <a:r>
              <a:rPr lang="en-US" sz="850" b="1" spc="-18" kern="0" dirty="0">
                <a:solidFill>
                  <a:srgbClr val="272525"/>
                </a:solidFill>
                <a:latin typeface="Inter Bold" pitchFamily="34" charset="0"/>
                <a:ea typeface="Inter Bold" pitchFamily="34" charset="-122"/>
                <a:cs typeface="Inter Bold" pitchFamily="34" charset="-120"/>
              </a:rPr>
              <a:t>Limitation:</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continuous weight updates in LLMs follow different dynamics</a:t>
            </a:r>
            <a:endParaRPr lang="en-US" sz="850" dirty="0"/>
          </a:p>
        </p:txBody>
      </p:sp>
      <p:sp>
        <p:nvSpPr>
          <p:cNvPr id="23" name="Text 16"/>
          <p:cNvSpPr/>
          <p:nvPr/>
        </p:nvSpPr>
        <p:spPr>
          <a:xfrm>
            <a:off x="661475" y="4615359"/>
            <a:ext cx="10868745" cy="280491"/>
          </a:xfrm>
          <a:prstGeom prst="rect">
            <a:avLst/>
          </a:prstGeom>
          <a:noFill/>
          <a:ln/>
        </p:spPr>
        <p:txBody>
          <a:bodyPr wrap="none" lIns="0" tIns="0" rIns="0" bIns="0" rtlCol="0" anchor="t"/>
          <a:lstStyle/>
          <a:p>
            <a:pPr algn="l" indent="0" marL="0">
              <a:lnSpc>
                <a:spcPct val="104000"/>
              </a:lnSpc>
              <a:buNone/>
            </a:pPr>
            <a:r>
              <a:rPr lang="en-US" sz="1750" b="1" spc="-53" kern="0" dirty="0">
                <a:solidFill>
                  <a:srgbClr val="000000"/>
                </a:solidFill>
                <a:latin typeface="Inter Bold" pitchFamily="34" charset="0"/>
                <a:ea typeface="Inter Bold" pitchFamily="34" charset="-122"/>
                <a:cs typeface="Inter Bold" pitchFamily="34" charset="-120"/>
              </a:rPr>
              <a:t>Representative Studies:</a:t>
            </a:r>
            <a:endParaRPr lang="en-US" sz="1750" dirty="0"/>
          </a:p>
        </p:txBody>
      </p:sp>
      <p:sp>
        <p:nvSpPr>
          <p:cNvPr id="24" name="Text 17"/>
          <p:cNvSpPr/>
          <p:nvPr/>
        </p:nvSpPr>
        <p:spPr>
          <a:xfrm>
            <a:off x="661475" y="4995763"/>
            <a:ext cx="10868745" cy="1141413"/>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Contextual backdoors in LLM-driven embodied agents</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Test-time poisoning attacks against TTA</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Realistic and black-box continual TTA attacks</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MedBN, MSGuard, multi-strategy federated defenses</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DPAD, AntidoteFL, LDPGuard, FedDRLPD</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MIMIC and adversarial self-training</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H3NI, momentum-gradient poisoning, graph defenses</a:t>
            </a:r>
            <a:endParaRPr lang="en-US" sz="850" dirty="0"/>
          </a:p>
        </p:txBody>
      </p:sp>
      <p:sp>
        <p:nvSpPr>
          <p:cNvPr id="25" name="Text 18"/>
          <p:cNvSpPr/>
          <p:nvPr/>
        </p:nvSpPr>
        <p:spPr>
          <a:xfrm>
            <a:off x="356682" y="6212086"/>
            <a:ext cx="11478330" cy="114399"/>
          </a:xfrm>
          <a:prstGeom prst="rect">
            <a:avLst/>
          </a:prstGeom>
          <a:noFill/>
          <a:ln/>
        </p:spPr>
        <p:txBody>
          <a:bodyPr wrap="none" lIns="0" tIns="0" rIns="0" bIns="0" rtlCol="0" anchor="t"/>
          <a:lstStyle/>
          <a:p>
            <a:pPr algn="ctr" indent="0" marL="0">
              <a:lnSpc>
                <a:spcPct val="106000"/>
              </a:lnSpc>
              <a:buNone/>
            </a:pPr>
            <a:r>
              <a:rPr lang="en-US" sz="700" spc="-18"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30721"/>
            <a:ext cx="10868745" cy="516731"/>
          </a:xfrm>
          <a:prstGeom prst="rect">
            <a:avLst/>
          </a:prstGeom>
          <a:noFill/>
          <a:ln/>
        </p:spPr>
        <p:txBody>
          <a:bodyPr wrap="none" lIns="0" tIns="0" rIns="0" bIns="0" rtlCol="0" anchor="t"/>
          <a:lstStyle/>
          <a:p>
            <a:pPr algn="l" indent="0" marL="0">
              <a:lnSpc>
                <a:spcPct val="104000"/>
              </a:lnSpc>
              <a:buNone/>
            </a:pPr>
            <a:r>
              <a:rPr lang="en-US" sz="3250" b="1" spc="-98" kern="0" dirty="0">
                <a:solidFill>
                  <a:srgbClr val="000000"/>
                </a:solidFill>
                <a:latin typeface="Inter Bold" pitchFamily="34" charset="0"/>
                <a:ea typeface="Inter Bold" pitchFamily="34" charset="-122"/>
                <a:cs typeface="Inter Bold" pitchFamily="34" charset="-120"/>
              </a:rPr>
              <a:t>Comparative Analysis: Where TrustGate Fits</a:t>
            </a:r>
            <a:endParaRPr lang="en-US" sz="3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1475" y="1336873"/>
          <a:ext cx="9143771" cy="914400"/>
        </p:xfrm>
        <a:graphic>
          <a:graphicData uri="http://schemas.openxmlformats.org/drawingml/2006/table">
            <a:tbl>
              <a:tblPr/>
              <a:tblGrid>
                <a:gridCol w="1630312"/>
                <a:gridCol w="2173749"/>
                <a:gridCol w="2717186"/>
                <a:gridCol w="2173749"/>
                <a:gridCol w="2173749"/>
              </a:tblGrid>
              <a:tr h="437544">
                <a:tc>
                  <a:txBody>
                    <a:bodyPr/>
                    <a:lstStyle/>
                    <a:p>
                      <a:pPr indent="0" marL="0">
                        <a:buNone/>
                      </a:pPr>
                      <a:r>
                        <a:rPr lang="en-US" sz="1300" b="1" spc="-26" kern="0" dirty="0">
                          <a:solidFill>
                            <a:srgbClr val="272525"/>
                          </a:solidFill>
                          <a:latin typeface="Inter" pitchFamily="34" charset="0"/>
                          <a:ea typeface="Inter" pitchFamily="34" charset="-122"/>
                          <a:cs typeface="Inter" pitchFamily="34" charset="-120"/>
                        </a:rPr>
                        <a:t>Domain</a:t>
                      </a:r>
                      <a:endParaRPr lang="en-US" sz="1300" dirty="0">
                        <a:latin typeface="Inter" charset="0"/>
                        <a:ea typeface="Inter" charset="0"/>
                        <a:cs typeface="Inter" charset="0"/>
                      </a:endParaRPr>
                    </a:p>
                  </a:txBody>
                  <a:tcPr marL="165391" marR="165391" marT="6350" marB="6350" anchor="ctr">
                    <a:lnL w="12700" cap="flat" cmpd="sng" algn="ctr">
                      <a:solidFill>
                        <a:srgbClr val="C0C1D7"/>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b="1" spc="-26" kern="0" dirty="0">
                          <a:solidFill>
                            <a:srgbClr val="272525"/>
                          </a:solidFill>
                          <a:latin typeface="Inter" pitchFamily="34" charset="0"/>
                          <a:ea typeface="Inter" pitchFamily="34" charset="-122"/>
                          <a:cs typeface="Inter" pitchFamily="34" charset="-120"/>
                        </a:rPr>
                        <a:t>Unit Defended</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b="1" spc="-26" kern="0" dirty="0">
                          <a:solidFill>
                            <a:srgbClr val="272525"/>
                          </a:solidFill>
                          <a:latin typeface="Inter" pitchFamily="34" charset="0"/>
                          <a:ea typeface="Inter" pitchFamily="34" charset="-122"/>
                          <a:cs typeface="Inter" pitchFamily="34" charset="-120"/>
                        </a:rPr>
                        <a:t>Signal</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b="1" spc="-26" kern="0" dirty="0">
                          <a:solidFill>
                            <a:srgbClr val="272525"/>
                          </a:solidFill>
                          <a:latin typeface="Inter" pitchFamily="34" charset="0"/>
                          <a:ea typeface="Inter" pitchFamily="34" charset="-122"/>
                          <a:cs typeface="Inter" pitchFamily="34" charset="-120"/>
                        </a:rPr>
                        <a:t>Guarantee</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b="1" spc="-26" kern="0" dirty="0">
                          <a:solidFill>
                            <a:srgbClr val="272525"/>
                          </a:solidFill>
                          <a:latin typeface="Inter" pitchFamily="34" charset="0"/>
                          <a:ea typeface="Inter" pitchFamily="34" charset="-122"/>
                          <a:cs typeface="Inter" pitchFamily="34" charset="-120"/>
                        </a:rPr>
                        <a:t>Recovery</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C0C1D7"/>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r>
              <a:tr h="688759">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Vision TTA</a:t>
                      </a:r>
                      <a:endParaRPr lang="en-US" sz="1300" dirty="0">
                        <a:latin typeface="Inter" charset="0"/>
                        <a:ea typeface="Inter" charset="0"/>
                        <a:cs typeface="Inter" charset="0"/>
                      </a:endParaRPr>
                    </a:p>
                  </a:txBody>
                  <a:tcPr marL="165391" marR="165391" marT="6350" marB="6350" anchor="ctr">
                    <a:lnL w="12700" cap="flat" cmpd="sng" algn="ctr">
                      <a:solidFill>
                        <a:srgbClr val="C0C1D7"/>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Batch-normalization statistics</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Robust median statistic</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None (per-update)</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None</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C0C1D7"/>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r>
              <a:tr h="688759">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Federated learning</a:t>
                      </a:r>
                      <a:endParaRPr lang="en-US" sz="1300" dirty="0">
                        <a:latin typeface="Inter" charset="0"/>
                        <a:ea typeface="Inter" charset="0"/>
                        <a:cs typeface="Inter" charset="0"/>
                      </a:endParaRPr>
                    </a:p>
                  </a:txBody>
                  <a:tcPr marL="165391" marR="165391" marT="6350" marB="6350" anchor="ctr">
                    <a:lnL w="12700" cap="flat" cmpd="sng" algn="ctr">
                      <a:solidFill>
                        <a:srgbClr val="C0C1D7"/>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Client gradients</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Robust aggregation (median, trimmed mean)</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Byzantine-resilient consensus</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None (aggregation-based)</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C0C1D7"/>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r>
              <a:tr h="688759">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Pre-deployment hardening</a:t>
                      </a:r>
                      <a:endParaRPr lang="en-US" sz="1300" dirty="0">
                        <a:latin typeface="Inter" charset="0"/>
                        <a:ea typeface="Inter" charset="0"/>
                        <a:cs typeface="Inter" charset="0"/>
                      </a:endParaRPr>
                    </a:p>
                  </a:txBody>
                  <a:tcPr marL="165391" marR="165391" marT="6350" marB="6350" anchor="ctr">
                    <a:lnL w="12700" cap="flat" cmpd="sng" algn="ctr">
                      <a:solidFill>
                        <a:srgbClr val="C0C1D7"/>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Base model weights</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Adversarial training, distillation</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Improved robustness (empirical)</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None (offline)</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C0C1D7"/>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r>
              <a:tr h="933625">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Long-context LLM continual inference</a:t>
                      </a:r>
                      <a:endParaRPr lang="en-US" sz="1300" dirty="0">
                        <a:latin typeface="Inter" charset="0"/>
                        <a:ea typeface="Inter" charset="0"/>
                        <a:cs typeface="Inter" charset="0"/>
                      </a:endParaRPr>
                    </a:p>
                  </a:txBody>
                  <a:tcPr marL="165391" marR="165391" marT="6350" marB="6350" anchor="ctr">
                    <a:lnL w="12700" cap="flat" cmpd="sng" algn="ctr">
                      <a:solidFill>
                        <a:srgbClr val="C0C1D7"/>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Fast-weight deltas</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Behavioral anchor divergence + uncertainty</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Bounded cumulative drift per window</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300" spc="-26" kern="0" dirty="0">
                          <a:solidFill>
                            <a:srgbClr val="272525"/>
                          </a:solidFill>
                          <a:latin typeface="Inter" pitchFamily="34" charset="0"/>
                          <a:ea typeface="Inter" pitchFamily="34" charset="-122"/>
                          <a:cs typeface="Inter" pitchFamily="34" charset="-120"/>
                        </a:rPr>
                        <a:t>Ring-buffer rollback (O(1))</a:t>
                      </a:r>
                      <a:endParaRPr lang="en-US" sz="1300" dirty="0">
                        <a:latin typeface="Inter" charset="0"/>
                        <a:ea typeface="Inter" charset="0"/>
                        <a:cs typeface="Inter"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C0C1D7"/>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r>
            </a:tbl>
          </a:graphicData>
        </a:graphic>
      </p:graphicFrame>
      <p:sp>
        <p:nvSpPr>
          <p:cNvPr id="4" name="Shape 1"/>
          <p:cNvSpPr/>
          <p:nvPr/>
        </p:nvSpPr>
        <p:spPr>
          <a:xfrm>
            <a:off x="661475" y="4949825"/>
            <a:ext cx="10868745" cy="605433"/>
          </a:xfrm>
          <a:prstGeom prst="roundRect">
            <a:avLst>
              <a:gd name="adj" fmla="val 11473"/>
            </a:avLst>
          </a:prstGeom>
          <a:solidFill>
            <a:srgbClr val="DADBF1"/>
          </a:solidFill>
          <a:ln/>
        </p:spPr>
        <p:txBody>
          <a:bodyPr/>
          <a:p/>
        </p:txBody>
      </p:sp>
      <p:pic>
        <p:nvPicPr>
          <p:cNvPr id="5" name="Image 0" descr="preencoded.png">    </p:cNvPr>
          <p:cNvPicPr>
            <a:picLocks noChangeAspect="1"/>
          </p:cNvPicPr>
          <p:nvPr/>
        </p:nvPicPr>
        <p:blipFill>
          <a:blip r:embed="rId1"/>
          <a:stretch>
            <a:fillRect/>
          </a:stretch>
        </p:blipFill>
        <p:spPr>
          <a:xfrm>
            <a:off x="826769" y="5162550"/>
            <a:ext cx="206667" cy="165298"/>
          </a:xfrm>
          <a:prstGeom prst="rect">
            <a:avLst/>
          </a:prstGeom>
        </p:spPr>
      </p:pic>
      <p:sp>
        <p:nvSpPr>
          <p:cNvPr id="6" name="Text 2"/>
          <p:cNvSpPr/>
          <p:nvPr/>
        </p:nvSpPr>
        <p:spPr>
          <a:xfrm>
            <a:off x="1198731" y="5135761"/>
            <a:ext cx="10775780" cy="248047"/>
          </a:xfrm>
          <a:prstGeom prst="rect">
            <a:avLst/>
          </a:prstGeom>
          <a:noFill/>
          <a:ln/>
        </p:spPr>
        <p:txBody>
          <a:bodyPr wrap="none" lIns="0" tIns="0" rIns="0" bIns="0" rtlCol="0" anchor="t"/>
          <a:lstStyle/>
          <a:p>
            <a:pPr algn="l" indent="0" marL="0">
              <a:lnSpc>
                <a:spcPct val="125000"/>
              </a:lnSpc>
              <a:buNone/>
            </a:pPr>
            <a:r>
              <a:rPr lang="en-US" sz="1300" spc="-26" kern="0" dirty="0">
                <a:solidFill>
                  <a:srgbClr val="000000"/>
                </a:solidFill>
                <a:latin typeface="Inter" pitchFamily="34" charset="0"/>
                <a:ea typeface="Inter" pitchFamily="34" charset="-122"/>
                <a:cs typeface="Inter" pitchFamily="34" charset="-120"/>
              </a:rPr>
              <a:t>The missing capability is a state-integrity controller placed at the fast-weight commit point.</a:t>
            </a:r>
            <a:endParaRPr lang="en-US" sz="1300" dirty="0"/>
          </a:p>
        </p:txBody>
      </p:sp>
      <p:sp>
        <p:nvSpPr>
          <p:cNvPr id="7" name="Text 3"/>
          <p:cNvSpPr/>
          <p:nvPr/>
        </p:nvSpPr>
        <p:spPr>
          <a:xfrm>
            <a:off x="661475" y="5717977"/>
            <a:ext cx="11478330" cy="248047"/>
          </a:xfrm>
          <a:prstGeom prst="rect">
            <a:avLst/>
          </a:prstGeom>
          <a:noFill/>
          <a:ln/>
        </p:spPr>
        <p:txBody>
          <a:bodyPr wrap="none" lIns="0" tIns="0" rIns="0" bIns="0" rtlCol="0" anchor="t"/>
          <a:lstStyle/>
          <a:p>
            <a:pPr algn="l" indent="0" marL="0">
              <a:lnSpc>
                <a:spcPct val="125000"/>
              </a:lnSpc>
              <a:buNone/>
            </a:pPr>
            <a:r>
              <a:rPr lang="en-US" sz="1300" spc="-26" kern="0" dirty="0">
                <a:solidFill>
                  <a:srgbClr val="272525"/>
                </a:solidFill>
                <a:latin typeface="Inter" pitchFamily="34" charset="0"/>
                <a:ea typeface="Inter" pitchFamily="34" charset="-122"/>
                <a:cs typeface="Inter" pitchFamily="34" charset="-120"/>
              </a:rPr>
              <a:t>This table shows TrustGate uniquely addresses the online, single-stream, continuous-weight-update scenario.</a:t>
            </a:r>
            <a:endParaRPr lang="en-US" sz="1300" dirty="0"/>
          </a:p>
        </p:txBody>
      </p:sp>
      <p:sp>
        <p:nvSpPr>
          <p:cNvPr id="8" name="Text 4"/>
          <p:cNvSpPr/>
          <p:nvPr/>
        </p:nvSpPr>
        <p:spPr>
          <a:xfrm>
            <a:off x="356682" y="6128742"/>
            <a:ext cx="11478330" cy="198537"/>
          </a:xfrm>
          <a:prstGeom prst="rect">
            <a:avLst/>
          </a:prstGeom>
          <a:noFill/>
          <a:ln/>
        </p:spPr>
        <p:txBody>
          <a:bodyPr wrap="none" lIns="0" tIns="0" rIns="0" bIns="0" rtlCol="0" anchor="t"/>
          <a:lstStyle/>
          <a:p>
            <a:pPr algn="ctr" indent="0" marL="0">
              <a:lnSpc>
                <a:spcPct val="125000"/>
              </a:lnSpc>
              <a:buNone/>
            </a:pPr>
            <a:r>
              <a:rPr lang="en-US" sz="1000" spc="-26"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Complete TrustGate Architecture Pipeline</a:t>
            </a:r>
            <a:endParaRPr lang="en-US" sz="1850" dirty="0"/>
          </a:p>
        </p:txBody>
      </p:sp>
      <p:pic>
        <p:nvPicPr>
          <p:cNvPr id="3" name="Image 0" descr="preencoded.png">    </p:cNvPr>
          <p:cNvPicPr>
            <a:picLocks noChangeAspect="1"/>
          </p:cNvPicPr>
          <p:nvPr/>
        </p:nvPicPr>
        <p:blipFill>
          <a:blip r:embed="rId1"/>
          <a:stretch>
            <a:fillRect/>
          </a:stretch>
        </p:blipFill>
        <p:spPr>
          <a:xfrm>
            <a:off x="661475" y="909538"/>
            <a:ext cx="9753356" cy="5486400"/>
          </a:xfrm>
          <a:prstGeom prst="rect">
            <a:avLst/>
          </a:prstGeom>
        </p:spPr>
      </p:pic>
      <p:sp>
        <p:nvSpPr>
          <p:cNvPr id="4" name="Text 1"/>
          <p:cNvSpPr/>
          <p:nvPr/>
        </p:nvSpPr>
        <p:spPr>
          <a:xfrm>
            <a:off x="356682" y="6449020"/>
            <a:ext cx="11478330" cy="90686"/>
          </a:xfrm>
          <a:prstGeom prst="rect">
            <a:avLst/>
          </a:prstGeom>
          <a:noFill/>
          <a:ln/>
        </p:spPr>
        <p:txBody>
          <a:bodyPr wrap="none" lIns="0" tIns="0" rIns="0" bIns="0" rtlCol="0" anchor="t"/>
          <a:lstStyle/>
          <a:p>
            <a:pPr algn="ctr" indent="0" marL="0">
              <a:lnSpc>
                <a:spcPct val="100000"/>
              </a:lnSpc>
              <a:buNone/>
            </a:pPr>
            <a:r>
              <a:rPr lang="en-US" sz="550" spc="-15"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21196"/>
            <a:ext cx="10868745" cy="359866"/>
          </a:xfrm>
          <a:prstGeom prst="rect">
            <a:avLst/>
          </a:prstGeom>
          <a:noFill/>
          <a:ln/>
        </p:spPr>
        <p:txBody>
          <a:bodyPr wrap="none" lIns="0" tIns="0" rIns="0" bIns="0" rtlCol="0" anchor="t"/>
          <a:lstStyle/>
          <a:p>
            <a:pPr algn="l" indent="0" marL="0">
              <a:lnSpc>
                <a:spcPct val="104000"/>
              </a:lnSpc>
              <a:buNone/>
            </a:pPr>
            <a:r>
              <a:rPr lang="en-US" sz="2250" b="1" spc="-68" kern="0" dirty="0">
                <a:solidFill>
                  <a:srgbClr val="000000"/>
                </a:solidFill>
                <a:latin typeface="Inter Bold" pitchFamily="34" charset="0"/>
                <a:ea typeface="Inter Bold" pitchFamily="34" charset="-122"/>
                <a:cs typeface="Inter Bold" pitchFamily="34" charset="-120"/>
              </a:rPr>
              <a:t>Stage 1: Capturing the Fast-Weight Update</a:t>
            </a:r>
            <a:endParaRPr lang="en-US" sz="2250" dirty="0"/>
          </a:p>
        </p:txBody>
      </p:sp>
      <p:sp>
        <p:nvSpPr>
          <p:cNvPr id="3" name="Text 1"/>
          <p:cNvSpPr/>
          <p:nvPr/>
        </p:nvSpPr>
        <p:spPr>
          <a:xfrm>
            <a:off x="661475" y="1049437"/>
            <a:ext cx="6408776" cy="296466"/>
          </a:xfrm>
          <a:prstGeom prst="rect">
            <a:avLst/>
          </a:prstGeom>
          <a:noFill/>
          <a:ln/>
        </p:spPr>
        <p:txBody>
          <a:bodyPr wrap="square" lIns="0" tIns="0" rIns="0" bIns="0" rtlCol="0" anchor="t">
            <a:normAutofit/>
          </a:bodyPr>
          <a:lstStyle/>
          <a:p>
            <a:pPr algn="l" indent="0" marL="0">
              <a:lnSpc>
                <a:spcPct val="107000"/>
              </a:lnSpc>
              <a:buNone/>
            </a:pPr>
            <a:r>
              <a:rPr lang="en-US" sz="900" spc="-18" kern="0" dirty="0">
                <a:solidFill>
                  <a:srgbClr val="272525"/>
                </a:solidFill>
                <a:latin typeface="Inter" pitchFamily="34" charset="0"/>
                <a:ea typeface="Inter" pitchFamily="34" charset="-122"/>
                <a:cs typeface="Inter" pitchFamily="34" charset="-120"/>
              </a:rPr>
              <a:t>The initial stage of TrustGate focuses on precisely intercepting the proposed fast-weight updates from the vendor's TTT-E2E model before they are committed.</a:t>
            </a:r>
            <a:endParaRPr lang="en-US" sz="9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424781"/>
            <a:ext cx="3169265" cy="2046684"/>
          </a:xfrm>
          <a:prstGeom prst="rect">
            <a:avLst/>
          </a:prstGeom>
        </p:spPr>
      </p:pic>
      <p:sp>
        <p:nvSpPr>
          <p:cNvPr id="5" name="Text 2"/>
          <p:cNvSpPr/>
          <p:nvPr/>
        </p:nvSpPr>
        <p:spPr>
          <a:xfrm>
            <a:off x="2176904" y="1511102"/>
            <a:ext cx="138208" cy="172740"/>
          </a:xfrm>
          <a:prstGeom prst="rect">
            <a:avLst/>
          </a:prstGeom>
          <a:noFill/>
          <a:ln/>
        </p:spPr>
        <p:txBody>
          <a:bodyPr wrap="none" lIns="0" tIns="0" rIns="0" bIns="0" rtlCol="0" anchor="ctr"/>
          <a:lstStyle/>
          <a:p>
            <a:pPr algn="ctr" indent="0" marL="0">
              <a:lnSpc>
                <a:spcPct val="100000"/>
              </a:lnSpc>
              <a:buNone/>
            </a:pPr>
            <a:r>
              <a:rPr lang="en-US" sz="1050" b="1" spc="-27" kern="0" dirty="0">
                <a:solidFill>
                  <a:srgbClr val="FFFFFF"/>
                </a:solidFill>
                <a:latin typeface="Inter Bold" pitchFamily="34" charset="0"/>
                <a:ea typeface="Inter Bold" pitchFamily="34" charset="-122"/>
                <a:cs typeface="Inter Bold" pitchFamily="34" charset="-120"/>
              </a:rPr>
              <a:t>1</a:t>
            </a:r>
            <a:endParaRPr lang="en-US" sz="1050" dirty="0"/>
          </a:p>
        </p:txBody>
      </p:sp>
      <p:sp>
        <p:nvSpPr>
          <p:cNvPr id="6" name="Text 3"/>
          <p:cNvSpPr/>
          <p:nvPr/>
        </p:nvSpPr>
        <p:spPr>
          <a:xfrm>
            <a:off x="789265" y="1885454"/>
            <a:ext cx="2913684" cy="179884"/>
          </a:xfrm>
          <a:prstGeom prst="rect">
            <a:avLst/>
          </a:prstGeom>
          <a:noFill/>
          <a:ln/>
        </p:spPr>
        <p:txBody>
          <a:bodyPr wrap="none" lIns="0" tIns="0" rIns="0" bIns="0" rtlCol="0" anchor="t"/>
          <a:lstStyle/>
          <a:p>
            <a:pPr algn="l" indent="0" marL="0">
              <a:lnSpc>
                <a:spcPct val="104000"/>
              </a:lnSpc>
              <a:buNone/>
            </a:pPr>
            <a:r>
              <a:rPr lang="en-US" sz="1100" b="1" spc="-34" kern="0" dirty="0">
                <a:solidFill>
                  <a:srgbClr val="272525"/>
                </a:solidFill>
                <a:latin typeface="Inter Bold" pitchFamily="34" charset="0"/>
                <a:ea typeface="Inter Bold" pitchFamily="34" charset="-122"/>
                <a:cs typeface="Inter Bold" pitchFamily="34" charset="-120"/>
              </a:rPr>
              <a:t>Inputs</a:t>
            </a:r>
            <a:endParaRPr lang="en-US" sz="1100" dirty="0"/>
          </a:p>
        </p:txBody>
      </p:sp>
      <p:sp>
        <p:nvSpPr>
          <p:cNvPr id="7" name="Text 4"/>
          <p:cNvSpPr/>
          <p:nvPr/>
        </p:nvSpPr>
        <p:spPr>
          <a:xfrm>
            <a:off x="789265" y="2135485"/>
            <a:ext cx="2913684" cy="677962"/>
          </a:xfrm>
          <a:prstGeom prst="rect">
            <a:avLst/>
          </a:prstGeom>
          <a:noFill/>
          <a:ln/>
        </p:spPr>
        <p:txBody>
          <a:bodyPr wrap="square" lIns="0" tIns="46073" rIns="0" bIns="0" rtlCol="0" anchor="t">
            <a:normAutofit/>
          </a:bodyPr>
          <a:lstStyle/>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Context chunk </a:t>
            </a:r>
            <a:pPr algn="l" marL="182880" indent="-182880">
              <a:lnSpc>
                <a:spcPct val="107000"/>
              </a:lnSpc>
              <a:buSzPct val="100000"/>
              <a:buChar char="•"/>
            </a:pPr>
            <a:r>
              <a:rPr lang="en-US" sz="900" i="1" spc="-18" kern="0" dirty="0">
                <a:solidFill>
                  <a:srgbClr val="272525"/>
                </a:solidFill>
                <a:latin typeface="Inter" pitchFamily="34" charset="0"/>
                <a:ea typeface="Inter" pitchFamily="34" charset="-122"/>
                <a:cs typeface="Inter" pitchFamily="34" charset="-120"/>
              </a:rPr>
              <a:t>x_t</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Current fast weights </a:t>
            </a:r>
            <a:pPr algn="l" marL="182880" indent="-182880">
              <a:lnSpc>
                <a:spcPct val="107000"/>
              </a:lnSpc>
              <a:buSzPct val="100000"/>
              <a:buChar char="•"/>
            </a:pPr>
            <a:r>
              <a:rPr lang="en-US" sz="900" i="1" spc="-18" kern="0" dirty="0">
                <a:solidFill>
                  <a:srgbClr val="272525"/>
                </a:solidFill>
                <a:latin typeface="Inter" pitchFamily="34" charset="0"/>
                <a:ea typeface="Inter" pitchFamily="34" charset="-122"/>
                <a:cs typeface="Inter" pitchFamily="34" charset="-120"/>
              </a:rPr>
              <a:t>\theta_t</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Optimizer state</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Recurrent/suffix state</a:t>
            </a:r>
            <a:endParaRPr lang="en-US" sz="9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00886" y="1424781"/>
            <a:ext cx="3169364" cy="2046684"/>
          </a:xfrm>
          <a:prstGeom prst="rect">
            <a:avLst/>
          </a:prstGeom>
        </p:spPr>
      </p:pic>
      <p:sp>
        <p:nvSpPr>
          <p:cNvPr id="9" name="Text 5"/>
          <p:cNvSpPr/>
          <p:nvPr/>
        </p:nvSpPr>
        <p:spPr>
          <a:xfrm>
            <a:off x="5416414" y="1511102"/>
            <a:ext cx="138208" cy="172740"/>
          </a:xfrm>
          <a:prstGeom prst="rect">
            <a:avLst/>
          </a:prstGeom>
          <a:noFill/>
          <a:ln/>
        </p:spPr>
        <p:txBody>
          <a:bodyPr wrap="none" lIns="0" tIns="0" rIns="0" bIns="0" rtlCol="0" anchor="ctr"/>
          <a:lstStyle/>
          <a:p>
            <a:pPr algn="ctr" indent="0" marL="0">
              <a:lnSpc>
                <a:spcPct val="100000"/>
              </a:lnSpc>
              <a:buNone/>
            </a:pPr>
            <a:r>
              <a:rPr lang="en-US" sz="1050" b="1" spc="-27" kern="0" dirty="0">
                <a:solidFill>
                  <a:srgbClr val="FFFFFF"/>
                </a:solidFill>
                <a:latin typeface="Inter Bold" pitchFamily="34" charset="0"/>
                <a:ea typeface="Inter Bold" pitchFamily="34" charset="-122"/>
                <a:cs typeface="Inter Bold" pitchFamily="34" charset="-120"/>
              </a:rPr>
              <a:t>2</a:t>
            </a:r>
            <a:endParaRPr lang="en-US" sz="1050" dirty="0"/>
          </a:p>
        </p:txBody>
      </p:sp>
      <p:sp>
        <p:nvSpPr>
          <p:cNvPr id="10" name="Text 6"/>
          <p:cNvSpPr/>
          <p:nvPr/>
        </p:nvSpPr>
        <p:spPr>
          <a:xfrm>
            <a:off x="4028677" y="1885454"/>
            <a:ext cx="2913783" cy="179884"/>
          </a:xfrm>
          <a:prstGeom prst="rect">
            <a:avLst/>
          </a:prstGeom>
          <a:noFill/>
          <a:ln/>
        </p:spPr>
        <p:txBody>
          <a:bodyPr wrap="none" lIns="0" tIns="0" rIns="0" bIns="0" rtlCol="0" anchor="t"/>
          <a:lstStyle/>
          <a:p>
            <a:pPr algn="l" indent="0" marL="0">
              <a:lnSpc>
                <a:spcPct val="104000"/>
              </a:lnSpc>
              <a:buNone/>
            </a:pPr>
            <a:r>
              <a:rPr lang="en-US" sz="1100" b="1" spc="-34" kern="0" dirty="0">
                <a:solidFill>
                  <a:srgbClr val="272525"/>
                </a:solidFill>
                <a:latin typeface="Inter Bold" pitchFamily="34" charset="0"/>
                <a:ea typeface="Inter Bold" pitchFamily="34" charset="-122"/>
                <a:cs typeface="Inter Bold" pitchFamily="34" charset="-120"/>
              </a:rPr>
              <a:t>Process</a:t>
            </a:r>
            <a:endParaRPr lang="en-US" sz="1100" dirty="0"/>
          </a:p>
        </p:txBody>
      </p:sp>
      <p:sp>
        <p:nvSpPr>
          <p:cNvPr id="11" name="Text 7"/>
          <p:cNvSpPr/>
          <p:nvPr/>
        </p:nvSpPr>
        <p:spPr>
          <a:xfrm>
            <a:off x="4028677" y="2135485"/>
            <a:ext cx="2913783" cy="1208187"/>
          </a:xfrm>
          <a:prstGeom prst="rect">
            <a:avLst/>
          </a:prstGeom>
          <a:noFill/>
          <a:ln/>
        </p:spPr>
        <p:txBody>
          <a:bodyPr wrap="square" lIns="0" tIns="46073" rIns="0" bIns="0" rtlCol="0" anchor="t">
            <a:normAutofit/>
          </a:bodyPr>
          <a:lstStyle/>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Vendor TTT-E2E inner loop proposes new state</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Update delta: \Delta\theta_t = \theta_{(t+1)}^{prop} - \theta_t</a:t>
            </a:r>
            <a:pPr algn="l" marL="182880" indent="-182880">
              <a:lnSpc>
                <a:spcPct val="107000"/>
              </a:lnSpc>
              <a:buSzPct val="100000"/>
              <a:buChar char="•"/>
            </a:pP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Interceptor placed at MetaModel.inner_loop_step</a:t>
            </a:r>
            <a:pPr algn="l" marL="182880" indent="-182880">
              <a:lnSpc>
                <a:spcPct val="107000"/>
              </a:lnSpc>
              <a:buSzPct val="100000"/>
              <a:buChar char="•"/>
            </a:pP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Vendor code is read-only, pinned submodule</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Overlay plus a confined, reversible monkeypatch</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Vendor discards its scan carry — our overlay threads the fast weights (ADR-006)</a:t>
            </a:r>
            <a:endParaRPr lang="en-US" sz="9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541613"/>
            <a:ext cx="6408776" cy="1510705"/>
          </a:xfrm>
          <a:prstGeom prst="rect">
            <a:avLst/>
          </a:prstGeom>
        </p:spPr>
      </p:pic>
      <p:sp>
        <p:nvSpPr>
          <p:cNvPr id="13" name="Text 8"/>
          <p:cNvSpPr/>
          <p:nvPr/>
        </p:nvSpPr>
        <p:spPr>
          <a:xfrm>
            <a:off x="3796709" y="3627934"/>
            <a:ext cx="138208" cy="172740"/>
          </a:xfrm>
          <a:prstGeom prst="rect">
            <a:avLst/>
          </a:prstGeom>
          <a:noFill/>
          <a:ln/>
        </p:spPr>
        <p:txBody>
          <a:bodyPr wrap="none" lIns="0" tIns="0" rIns="0" bIns="0" rtlCol="0" anchor="ctr"/>
          <a:lstStyle/>
          <a:p>
            <a:pPr algn="ctr" indent="0" marL="0">
              <a:lnSpc>
                <a:spcPct val="100000"/>
              </a:lnSpc>
              <a:buNone/>
            </a:pPr>
            <a:r>
              <a:rPr lang="en-US" sz="1050" b="1" spc="-27" kern="0" dirty="0">
                <a:solidFill>
                  <a:srgbClr val="FFFFFF"/>
                </a:solidFill>
                <a:latin typeface="Inter Bold" pitchFamily="34" charset="0"/>
                <a:ea typeface="Inter Bold" pitchFamily="34" charset="-122"/>
                <a:cs typeface="Inter Bold" pitchFamily="34" charset="-120"/>
              </a:rPr>
              <a:t>3</a:t>
            </a:r>
            <a:endParaRPr lang="en-US" sz="1050" dirty="0"/>
          </a:p>
        </p:txBody>
      </p:sp>
      <p:sp>
        <p:nvSpPr>
          <p:cNvPr id="14" name="Text 9"/>
          <p:cNvSpPr/>
          <p:nvPr/>
        </p:nvSpPr>
        <p:spPr>
          <a:xfrm>
            <a:off x="789265" y="4002286"/>
            <a:ext cx="6153195" cy="179884"/>
          </a:xfrm>
          <a:prstGeom prst="rect">
            <a:avLst/>
          </a:prstGeom>
          <a:noFill/>
          <a:ln/>
        </p:spPr>
        <p:txBody>
          <a:bodyPr wrap="none" lIns="0" tIns="0" rIns="0" bIns="0" rtlCol="0" anchor="t"/>
          <a:lstStyle/>
          <a:p>
            <a:pPr algn="l" indent="0" marL="0">
              <a:lnSpc>
                <a:spcPct val="104000"/>
              </a:lnSpc>
              <a:buNone/>
            </a:pPr>
            <a:r>
              <a:rPr lang="en-US" sz="1100" b="1" spc="-34" kern="0" dirty="0">
                <a:solidFill>
                  <a:srgbClr val="272525"/>
                </a:solidFill>
                <a:latin typeface="Inter Bold" pitchFamily="34" charset="0"/>
                <a:ea typeface="Inter Bold" pitchFamily="34" charset="-122"/>
                <a:cs typeface="Inter Bold" pitchFamily="34" charset="-120"/>
              </a:rPr>
              <a:t>Outputs</a:t>
            </a:r>
            <a:endParaRPr lang="en-US" sz="1100" dirty="0"/>
          </a:p>
        </p:txBody>
      </p:sp>
      <p:sp>
        <p:nvSpPr>
          <p:cNvPr id="15" name="Text 10"/>
          <p:cNvSpPr/>
          <p:nvPr/>
        </p:nvSpPr>
        <p:spPr>
          <a:xfrm>
            <a:off x="789265" y="4252317"/>
            <a:ext cx="6153195" cy="672207"/>
          </a:xfrm>
          <a:prstGeom prst="rect">
            <a:avLst/>
          </a:prstGeom>
          <a:noFill/>
          <a:ln/>
        </p:spPr>
        <p:txBody>
          <a:bodyPr wrap="square" lIns="0" tIns="46073" rIns="0" bIns="0" rtlCol="0" anchor="t">
            <a:normAutofit/>
          </a:bodyPr>
          <a:lstStyle/>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Proposed update </a:t>
            </a:r>
            <a:pPr algn="l" marL="182880" indent="-182880">
              <a:lnSpc>
                <a:spcPct val="107000"/>
              </a:lnSpc>
              <a:buSzPct val="100000"/>
              <a:buChar char="•"/>
            </a:pPr>
            <a:r>
              <a:rPr lang="en-US" sz="900" i="1" spc="-18" kern="0" dirty="0">
                <a:solidFill>
                  <a:srgbClr val="272525"/>
                </a:solidFill>
                <a:latin typeface="Inter" pitchFamily="34" charset="0"/>
                <a:ea typeface="Inter" pitchFamily="34" charset="-122"/>
                <a:cs typeface="Inter" pitchFamily="34" charset="-120"/>
              </a:rPr>
              <a:t>\Delta\theta_t</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Candidate model state</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New suffix/recurrent state</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Update metrics</a:t>
            </a:r>
            <a:endParaRPr lang="en-US" sz="900" dirty="0"/>
          </a:p>
        </p:txBody>
      </p:sp>
      <p:sp>
        <p:nvSpPr>
          <p:cNvPr id="16" name="Text 11"/>
          <p:cNvSpPr/>
          <p:nvPr/>
        </p:nvSpPr>
        <p:spPr>
          <a:xfrm>
            <a:off x="661475" y="5131197"/>
            <a:ext cx="7018360" cy="148233"/>
          </a:xfrm>
          <a:prstGeom prst="rect">
            <a:avLst/>
          </a:prstGeom>
          <a:noFill/>
          <a:ln/>
        </p:spPr>
        <p:txBody>
          <a:bodyPr wrap="none" lIns="0" tIns="0" rIns="0" bIns="0" rtlCol="0" anchor="t"/>
          <a:lstStyle/>
          <a:p>
            <a:pPr algn="l" indent="0" marL="0">
              <a:lnSpc>
                <a:spcPct val="107000"/>
              </a:lnSpc>
              <a:buNone/>
            </a:pPr>
            <a:r>
              <a:rPr lang="en-US" sz="900" b="1" spc="-18" kern="0" dirty="0">
                <a:solidFill>
                  <a:srgbClr val="272525"/>
                </a:solidFill>
                <a:latin typeface="Inter Bold" pitchFamily="34" charset="0"/>
                <a:ea typeface="Inter Bold" pitchFamily="34" charset="-122"/>
                <a:cs typeface="Inter Bold" pitchFamily="34" charset="-120"/>
              </a:rPr>
              <a:t>Implementation Files:</a:t>
            </a:r>
            <a:endParaRPr lang="en-US" sz="900" dirty="0"/>
          </a:p>
        </p:txBody>
      </p:sp>
      <p:sp>
        <p:nvSpPr>
          <p:cNvPr id="17" name="Text 12"/>
          <p:cNvSpPr/>
          <p:nvPr/>
        </p:nvSpPr>
        <p:spPr>
          <a:xfrm>
            <a:off x="661475" y="5342533"/>
            <a:ext cx="6408776" cy="493713"/>
          </a:xfrm>
          <a:prstGeom prst="rect">
            <a:avLst/>
          </a:prstGeom>
          <a:noFill/>
          <a:ln/>
        </p:spPr>
        <p:txBody>
          <a:bodyPr wrap="square" lIns="0" tIns="46073" rIns="0" bIns="0" rtlCol="0" anchor="t">
            <a:normAutofit/>
          </a:bodyPr>
          <a:lstStyle/>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src/trustgate/interceptor.py</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src/trustgate/vendor_patch.py</a:t>
            </a:r>
            <a:endParaRPr lang="en-US" sz="900" dirty="0"/>
          </a:p>
          <a:p>
            <a:pPr algn="l" marL="182880" indent="-182880">
              <a:lnSpc>
                <a:spcPct val="107000"/>
              </a:lnSpc>
              <a:buSzPct val="100000"/>
              <a:buChar char="•"/>
            </a:pPr>
            <a:r>
              <a:rPr lang="en-US" sz="900" spc="-18" kern="0" dirty="0">
                <a:solidFill>
                  <a:srgbClr val="272525"/>
                </a:solidFill>
                <a:latin typeface="Inter" pitchFamily="34" charset="0"/>
                <a:ea typeface="Inter" pitchFamily="34" charset="-122"/>
                <a:cs typeface="Inter" pitchFamily="34" charset="-120"/>
              </a:rPr>
              <a:t>src/trustgate/tree_ops.py</a:t>
            </a:r>
            <a:endParaRPr lang="en-US" sz="900" dirty="0"/>
          </a:p>
        </p:txBody>
      </p:sp>
      <p:pic>
        <p:nvPicPr>
          <p:cNvPr id="18" name="Image 3" descr="preencoded.png">    </p:cNvPr>
          <p:cNvPicPr>
            <a:picLocks noChangeAspect="1"/>
          </p:cNvPicPr>
          <p:nvPr/>
        </p:nvPicPr>
        <p:blipFill>
          <a:blip r:embed="rId7"/>
          <a:stretch>
            <a:fillRect/>
          </a:stretch>
        </p:blipFill>
        <p:spPr>
          <a:xfrm>
            <a:off x="7357581" y="1065213"/>
            <a:ext cx="4178890" cy="4178995"/>
          </a:xfrm>
          <a:prstGeom prst="rect">
            <a:avLst/>
          </a:prstGeom>
        </p:spPr>
      </p:pic>
      <p:sp>
        <p:nvSpPr>
          <p:cNvPr id="19" name="Shape 13"/>
          <p:cNvSpPr/>
          <p:nvPr/>
        </p:nvSpPr>
        <p:spPr>
          <a:xfrm>
            <a:off x="7357581" y="5323086"/>
            <a:ext cx="4178890" cy="737295"/>
          </a:xfrm>
          <a:prstGeom prst="roundRect">
            <a:avLst>
              <a:gd name="adj" fmla="val 6561"/>
            </a:avLst>
          </a:prstGeom>
          <a:solidFill>
            <a:srgbClr val="DADBF1"/>
          </a:solidFill>
          <a:ln/>
        </p:spPr>
        <p:txBody>
          <a:bodyPr/>
          <a:p/>
        </p:txBody>
      </p:sp>
      <p:pic>
        <p:nvPicPr>
          <p:cNvPr id="20" name="Image 4" descr="preencoded.png">    </p:cNvPr>
          <p:cNvPicPr>
            <a:picLocks noChangeAspect="1"/>
          </p:cNvPicPr>
          <p:nvPr/>
        </p:nvPicPr>
        <p:blipFill>
          <a:blip r:embed="rId8"/>
          <a:stretch>
            <a:fillRect/>
          </a:stretch>
        </p:blipFill>
        <p:spPr>
          <a:xfrm>
            <a:off x="7472672" y="5435699"/>
            <a:ext cx="179879" cy="143966"/>
          </a:xfrm>
          <a:prstGeom prst="rect">
            <a:avLst/>
          </a:prstGeom>
        </p:spPr>
      </p:pic>
      <p:sp>
        <p:nvSpPr>
          <p:cNvPr id="21" name="Text 14"/>
          <p:cNvSpPr/>
          <p:nvPr/>
        </p:nvSpPr>
        <p:spPr>
          <a:xfrm>
            <a:off x="7767642" y="5422007"/>
            <a:ext cx="3653738" cy="179884"/>
          </a:xfrm>
          <a:prstGeom prst="rect">
            <a:avLst/>
          </a:prstGeom>
          <a:noFill/>
          <a:ln/>
        </p:spPr>
        <p:txBody>
          <a:bodyPr wrap="none" lIns="0" tIns="0" rIns="0" bIns="0" rtlCol="0" anchor="t"/>
          <a:lstStyle/>
          <a:p>
            <a:pPr algn="l" indent="0" marL="0">
              <a:lnSpc>
                <a:spcPct val="104000"/>
              </a:lnSpc>
              <a:buNone/>
            </a:pPr>
            <a:r>
              <a:rPr lang="en-US" sz="1100" b="1" spc="-34" kern="0" dirty="0">
                <a:solidFill>
                  <a:srgbClr val="000000"/>
                </a:solidFill>
                <a:latin typeface="Inter Bold" pitchFamily="34" charset="0"/>
                <a:ea typeface="Inter Bold" pitchFamily="34" charset="-122"/>
                <a:cs typeface="Inter Bold" pitchFamily="34" charset="-120"/>
              </a:rPr>
              <a:t>Key Design Principle:</a:t>
            </a:r>
            <a:endParaRPr lang="en-US" sz="1100" dirty="0"/>
          </a:p>
        </p:txBody>
      </p:sp>
      <p:sp>
        <p:nvSpPr>
          <p:cNvPr id="22" name="Text 15"/>
          <p:cNvSpPr/>
          <p:nvPr/>
        </p:nvSpPr>
        <p:spPr>
          <a:xfrm>
            <a:off x="7767642" y="5672038"/>
            <a:ext cx="3653738" cy="296466"/>
          </a:xfrm>
          <a:prstGeom prst="rect">
            <a:avLst/>
          </a:prstGeom>
          <a:noFill/>
          <a:ln/>
        </p:spPr>
        <p:txBody>
          <a:bodyPr wrap="square" lIns="0" tIns="0" rIns="0" bIns="0" rtlCol="0" anchor="t">
            <a:normAutofit/>
          </a:bodyPr>
          <a:lstStyle/>
          <a:p>
            <a:pPr algn="l" indent="0" marL="0">
              <a:lnSpc>
                <a:spcPct val="107000"/>
              </a:lnSpc>
              <a:buNone/>
            </a:pPr>
            <a:r>
              <a:rPr lang="en-US" sz="900" spc="-18" kern="0" dirty="0">
                <a:solidFill>
                  <a:srgbClr val="000000"/>
                </a:solidFill>
                <a:latin typeface="Inter" pitchFamily="34" charset="0"/>
                <a:ea typeface="Inter" pitchFamily="34" charset="-122"/>
                <a:cs typeface="Inter" pitchFamily="34" charset="-120"/>
              </a:rPr>
              <a:t>The interceptor is non-invasive: vendor code is pinned and read-only. The vendor also discards its adapted state, so the overlay must carry it forward.</a:t>
            </a:r>
            <a:endParaRPr lang="en-US" sz="900" dirty="0"/>
          </a:p>
        </p:txBody>
      </p:sp>
      <p:sp>
        <p:nvSpPr>
          <p:cNvPr id="23" name="Text 16"/>
          <p:cNvSpPr/>
          <p:nvPr/>
        </p:nvSpPr>
        <p:spPr>
          <a:xfrm>
            <a:off x="356682" y="6218138"/>
            <a:ext cx="11478330" cy="118666"/>
          </a:xfrm>
          <a:prstGeom prst="rect">
            <a:avLst/>
          </a:prstGeom>
          <a:noFill/>
          <a:ln/>
        </p:spPr>
        <p:txBody>
          <a:bodyPr wrap="none" lIns="0" tIns="0" rIns="0" bIns="0" rtlCol="0" anchor="t"/>
          <a:lstStyle/>
          <a:p>
            <a:pPr algn="ctr" indent="0" marL="0">
              <a:lnSpc>
                <a:spcPct val="107000"/>
              </a:lnSpc>
              <a:buNone/>
            </a:pPr>
            <a:r>
              <a:rPr lang="en-US" sz="700" spc="-18"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82712"/>
            <a:ext cx="10868745" cy="350738"/>
          </a:xfrm>
          <a:prstGeom prst="rect">
            <a:avLst/>
          </a:prstGeom>
          <a:noFill/>
          <a:ln/>
        </p:spPr>
        <p:txBody>
          <a:bodyPr wrap="none" lIns="0" tIns="0" rIns="0" bIns="0" rtlCol="0" anchor="t"/>
          <a:lstStyle/>
          <a:p>
            <a:pPr algn="l" indent="0" marL="0">
              <a:lnSpc>
                <a:spcPct val="104000"/>
              </a:lnSpc>
              <a:buNone/>
            </a:pPr>
            <a:r>
              <a:rPr lang="en-US" sz="2200" b="1" spc="-66" kern="0" dirty="0">
                <a:solidFill>
                  <a:srgbClr val="000000"/>
                </a:solidFill>
                <a:latin typeface="Inter Bold" pitchFamily="34" charset="0"/>
                <a:ea typeface="Inter Bold" pitchFamily="34" charset="-122"/>
                <a:cs typeface="Inter Bold" pitchFamily="34" charset="-120"/>
              </a:rPr>
              <a:t>Stage 2: Multi-Signal Validation of Fast-Weight Updates</a:t>
            </a:r>
            <a:endParaRPr lang="en-US" sz="2200" dirty="0"/>
          </a:p>
        </p:txBody>
      </p:sp>
      <p:sp>
        <p:nvSpPr>
          <p:cNvPr id="3" name="Text 1"/>
          <p:cNvSpPr/>
          <p:nvPr/>
        </p:nvSpPr>
        <p:spPr>
          <a:xfrm>
            <a:off x="661475" y="1066701"/>
            <a:ext cx="11478330" cy="143073"/>
          </a:xfrm>
          <a:prstGeom prst="rect">
            <a:avLst/>
          </a:prstGeom>
          <a:noFill/>
          <a:ln/>
        </p:spPr>
        <p:txBody>
          <a:bodyPr wrap="none" lIns="0" tIns="0" rIns="0" bIns="0" rtlCol="0" anchor="t"/>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Three Planned Scoring Signals:</a:t>
            </a:r>
            <a:endParaRPr lang="en-US" sz="8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284684"/>
            <a:ext cx="3578532" cy="2605881"/>
          </a:xfrm>
          <a:prstGeom prst="rect">
            <a:avLst/>
          </a:prstGeom>
        </p:spPr>
      </p:pic>
      <p:sp>
        <p:nvSpPr>
          <p:cNvPr id="5" name="Text 2"/>
          <p:cNvSpPr/>
          <p:nvPr/>
        </p:nvSpPr>
        <p:spPr>
          <a:xfrm>
            <a:off x="2366606" y="1357313"/>
            <a:ext cx="168271" cy="210344"/>
          </a:xfrm>
          <a:prstGeom prst="rect">
            <a:avLst/>
          </a:prstGeom>
          <a:noFill/>
          <a:ln/>
        </p:spPr>
        <p:txBody>
          <a:bodyPr wrap="none" lIns="0" tIns="0" rIns="0" bIns="0" rtlCol="0" anchor="ctr"/>
          <a:lstStyle/>
          <a:p>
            <a:pPr algn="ctr" indent="0" marL="0">
              <a:lnSpc>
                <a:spcPct val="100000"/>
              </a:lnSpc>
              <a:buNone/>
            </a:pPr>
            <a:r>
              <a:rPr lang="en-US" sz="1300" b="1" spc="-40" kern="0" dirty="0">
                <a:solidFill>
                  <a:srgbClr val="272525"/>
                </a:solidFill>
                <a:latin typeface="Inter Bold" pitchFamily="34" charset="0"/>
                <a:ea typeface="Inter Bold" pitchFamily="34" charset="-122"/>
                <a:cs typeface="Inter Bold" pitchFamily="34" charset="-120"/>
              </a:rPr>
              <a:t>1</a:t>
            </a:r>
            <a:endParaRPr lang="en-US" sz="1300" dirty="0"/>
          </a:p>
        </p:txBody>
      </p:sp>
      <p:sp>
        <p:nvSpPr>
          <p:cNvPr id="6" name="Text 3"/>
          <p:cNvSpPr/>
          <p:nvPr/>
        </p:nvSpPr>
        <p:spPr>
          <a:xfrm>
            <a:off x="786388" y="1700609"/>
            <a:ext cx="3328706" cy="350639"/>
          </a:xfrm>
          <a:prstGeom prst="rect">
            <a:avLst/>
          </a:prstGeom>
          <a:noFill/>
          <a:ln/>
        </p:spPr>
        <p:txBody>
          <a:bodyPr wrap="square" lIns="0" tIns="0" rIns="0" bIns="0" rtlCol="0" anchor="t">
            <a:normAutofit/>
          </a:bodyPr>
          <a:lstStyle/>
          <a:p>
            <a:pPr algn="l" indent="0" marL="0">
              <a:lnSpc>
                <a:spcPct val="104000"/>
              </a:lnSpc>
              <a:buNone/>
            </a:pPr>
            <a:r>
              <a:rPr lang="en-US" sz="1100" b="1" spc="-33" kern="0" dirty="0">
                <a:solidFill>
                  <a:srgbClr val="272525"/>
                </a:solidFill>
                <a:latin typeface="Inter Bold" pitchFamily="34" charset="0"/>
                <a:ea typeface="Inter Bold" pitchFamily="34" charset="-122"/>
                <a:cs typeface="Inter Bold" pitchFamily="34" charset="-120"/>
              </a:rPr>
              <a:t>PRIMARY SIGNAL – Option A: Frozen Anchor Behavioral Consistency</a:t>
            </a:r>
            <a:endParaRPr lang="en-US" sz="1100" dirty="0"/>
          </a:p>
        </p:txBody>
      </p:sp>
      <p:sp>
        <p:nvSpPr>
          <p:cNvPr id="7" name="Text 4"/>
          <p:cNvSpPr/>
          <p:nvPr/>
        </p:nvSpPr>
        <p:spPr>
          <a:xfrm>
            <a:off x="786388" y="2091134"/>
            <a:ext cx="3328706" cy="490934"/>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Frozen anchor model </a:t>
            </a:r>
            <a:pPr algn="l" marL="172720" indent="-172720">
              <a:lnSpc>
                <a:spcPct val="106000"/>
              </a:lnSpc>
              <a:buSzPct val="100000"/>
              <a:buChar char="•"/>
            </a:pPr>
            <a:r>
              <a:rPr lang="en-US" sz="850" i="1" spc="-18" kern="0" dirty="0">
                <a:solidFill>
                  <a:srgbClr val="272525"/>
                </a:solidFill>
                <a:latin typeface="Inter" pitchFamily="34" charset="0"/>
                <a:ea typeface="Inter" pitchFamily="34" charset="-122"/>
                <a:cs typeface="Inter" pitchFamily="34" charset="-120"/>
              </a:rPr>
              <a:t>\theta_0</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(initialized at deployment)</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Small held-out probe set </a:t>
            </a:r>
            <a:pPr algn="l" marL="172720" indent="-172720">
              <a:lnSpc>
                <a:spcPct val="106000"/>
              </a:lnSpc>
              <a:buSzPct val="100000"/>
              <a:buChar char="•"/>
            </a:pPr>
            <a:r>
              <a:rPr lang="en-US" sz="850" i="1" spc="-18" kern="0" dirty="0">
                <a:solidFill>
                  <a:srgbClr val="272525"/>
                </a:solidFill>
                <a:latin typeface="Inter" pitchFamily="34" charset="0"/>
                <a:ea typeface="Inter" pitchFamily="34" charset="-122"/>
                <a:cs typeface="Inter" pitchFamily="34" charset="-120"/>
              </a:rPr>
              <a:t>P_t</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(rotating)</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Compare candidate behavior with anchor behavior</a:t>
            </a:r>
            <a:endParaRPr lang="en-US" sz="850" dirty="0"/>
          </a:p>
        </p:txBody>
      </p:sp>
      <p:sp>
        <p:nvSpPr>
          <p:cNvPr id="8" name="Text 5"/>
          <p:cNvSpPr/>
          <p:nvPr/>
        </p:nvSpPr>
        <p:spPr>
          <a:xfrm>
            <a:off x="786388" y="2621955"/>
            <a:ext cx="3328706" cy="143073"/>
          </a:xfrm>
          <a:prstGeom prst="rect">
            <a:avLst/>
          </a:prstGeom>
          <a:noFill/>
          <a:ln/>
        </p:spPr>
        <p:txBody>
          <a:bodyPr wrap="none" lIns="0" tIns="0" rIns="0" bIns="0" rtlCol="0" anchor="t"/>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Candidate symmetric KL divergence:</a:t>
            </a:r>
            <a:endParaRPr lang="en-US" sz="850" dirty="0"/>
          </a:p>
        </p:txBody>
      </p:sp>
      <p:sp>
        <p:nvSpPr>
          <p:cNvPr id="9" name="Text 6"/>
          <p:cNvSpPr/>
          <p:nvPr/>
        </p:nvSpPr>
        <p:spPr>
          <a:xfrm>
            <a:off x="786388" y="2849364"/>
            <a:ext cx="3328706" cy="379413"/>
          </a:xfrm>
          <a:prstGeom prst="rect">
            <a:avLst/>
          </a:prstGeom>
          <a:noFill/>
          <a:ln/>
        </p:spPr>
        <p:txBody>
          <a:bodyPr wrap="square" lIns="0" tIns="0" rIns="0" bIns="0" rtlCol="0" anchor="t">
            <a:normAutofit/>
          </a:bodyPr>
          <a:lstStyle/>
          <a:p>
            <a:pPr algn="l" indent="0" marL="0">
              <a:lnSpc>
                <a:spcPct val="106000"/>
              </a:lnSpc>
              <a:buNone/>
            </a:pPr>
            <a:r>
              <a:rPr lang="en-US" sz="950" spc="-18" kern="0" dirty="0">
                <a:solidFill>
                  <a:srgbClr val="272525"/>
                </a:solidFill>
                <a:latin typeface="Inter" pitchFamily="34" charset="0"/>
                <a:ea typeface="Inter" pitchFamily="34" charset="-122"/>
                <a:cs typeface="Inter" pitchFamily="34" charset="-120"/>
              </a:rPr>
              <a:t>A_t = (1 / 2m) \Sigma [KL(p_{candidate} || p_{anchor}) + KL(p_{anchor} || p_{candidate})]</a:t>
            </a:r>
            <a:endParaRPr lang="en-US" sz="950" dirty="0"/>
          </a:p>
        </p:txBody>
      </p:sp>
      <p:pic>
        <p:nvPicPr>
          <p:cNvPr id="10" name="Image 1" descr="preencoded.png">    </p:cNvPr>
          <p:cNvPicPr>
            <a:picLocks noChangeAspect="1"/>
          </p:cNvPicPr>
          <p:nvPr/>
        </p:nvPicPr>
        <p:blipFill>
          <a:blip r:embed="rId3"/>
          <a:stretch>
            <a:fillRect/>
          </a:stretch>
        </p:blipFill>
        <p:spPr>
          <a:xfrm>
            <a:off x="786388" y="2849364"/>
            <a:ext cx="3328706" cy="379413"/>
          </a:xfrm>
          <a:prstGeom prst="rect">
            <a:avLst/>
          </a:prstGeom>
        </p:spPr>
      </p:pic>
      <p:sp>
        <p:nvSpPr>
          <p:cNvPr id="11" name="Text 7"/>
          <p:cNvSpPr/>
          <p:nvPr/>
        </p:nvSpPr>
        <p:spPr>
          <a:xfrm>
            <a:off x="786388" y="3313113"/>
            <a:ext cx="3328706" cy="452537"/>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Low divergence suggests consistency; high divergence indicates behavioral displacement</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Status: Proposed/Phase 2 component</a:t>
            </a:r>
            <a:endParaRPr lang="en-US" sz="85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06581" y="1284684"/>
            <a:ext cx="3578532" cy="2605881"/>
          </a:xfrm>
          <a:prstGeom prst="rect">
            <a:avLst/>
          </a:prstGeom>
        </p:spPr>
      </p:pic>
      <p:sp>
        <p:nvSpPr>
          <p:cNvPr id="13" name="Text 8"/>
          <p:cNvSpPr/>
          <p:nvPr/>
        </p:nvSpPr>
        <p:spPr>
          <a:xfrm>
            <a:off x="6011712" y="1357313"/>
            <a:ext cx="168271" cy="210344"/>
          </a:xfrm>
          <a:prstGeom prst="rect">
            <a:avLst/>
          </a:prstGeom>
          <a:noFill/>
          <a:ln/>
        </p:spPr>
        <p:txBody>
          <a:bodyPr wrap="none" lIns="0" tIns="0" rIns="0" bIns="0" rtlCol="0" anchor="ctr"/>
          <a:lstStyle/>
          <a:p>
            <a:pPr algn="ctr" indent="0" marL="0">
              <a:lnSpc>
                <a:spcPct val="100000"/>
              </a:lnSpc>
              <a:buNone/>
            </a:pPr>
            <a:r>
              <a:rPr lang="en-US" sz="1300" b="1" spc="-40" kern="0" dirty="0">
                <a:solidFill>
                  <a:srgbClr val="272525"/>
                </a:solidFill>
                <a:latin typeface="Inter Bold" pitchFamily="34" charset="0"/>
                <a:ea typeface="Inter Bold" pitchFamily="34" charset="-122"/>
                <a:cs typeface="Inter Bold" pitchFamily="34" charset="-120"/>
              </a:rPr>
              <a:t>2</a:t>
            </a:r>
            <a:endParaRPr lang="en-US" sz="1300" dirty="0"/>
          </a:p>
        </p:txBody>
      </p:sp>
      <p:sp>
        <p:nvSpPr>
          <p:cNvPr id="14" name="Text 9"/>
          <p:cNvSpPr/>
          <p:nvPr/>
        </p:nvSpPr>
        <p:spPr>
          <a:xfrm>
            <a:off x="4431495" y="1700609"/>
            <a:ext cx="3328706" cy="350639"/>
          </a:xfrm>
          <a:prstGeom prst="rect">
            <a:avLst/>
          </a:prstGeom>
          <a:noFill/>
          <a:ln/>
        </p:spPr>
        <p:txBody>
          <a:bodyPr wrap="square" lIns="0" tIns="0" rIns="0" bIns="0" rtlCol="0" anchor="t">
            <a:normAutofit/>
          </a:bodyPr>
          <a:lstStyle/>
          <a:p>
            <a:pPr algn="l" indent="0" marL="0">
              <a:lnSpc>
                <a:spcPct val="104000"/>
              </a:lnSpc>
              <a:buNone/>
            </a:pPr>
            <a:r>
              <a:rPr lang="en-US" sz="1100" b="1" spc="-33" kern="0" dirty="0">
                <a:solidFill>
                  <a:srgbClr val="272525"/>
                </a:solidFill>
                <a:latin typeface="Inter Bold" pitchFamily="34" charset="0"/>
                <a:ea typeface="Inter Bold" pitchFamily="34" charset="-122"/>
                <a:cs typeface="Inter Bold" pitchFamily="34" charset="-120"/>
              </a:rPr>
              <a:t>SECONDARY SIGNAL – Option B: Gradient-Based Backstop</a:t>
            </a:r>
            <a:endParaRPr lang="en-US" sz="1100" dirty="0"/>
          </a:p>
        </p:txBody>
      </p:sp>
      <p:sp>
        <p:nvSpPr>
          <p:cNvPr id="15" name="Text 10"/>
          <p:cNvSpPr/>
          <p:nvPr/>
        </p:nvSpPr>
        <p:spPr>
          <a:xfrm>
            <a:off x="4431495" y="2091134"/>
            <a:ext cx="3328706" cy="951706"/>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Gradient-norm z-score</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Loss spike detection</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Mini-batch disagreement</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Low-cost backstop, but weak against slow low-variance poisoning</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Status: Proposed/Phase 2 component</a:t>
            </a:r>
            <a:endParaRPr lang="en-US" sz="850" dirty="0"/>
          </a:p>
        </p:txBody>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51688" y="1284684"/>
            <a:ext cx="3578532" cy="2605881"/>
          </a:xfrm>
          <a:prstGeom prst="rect">
            <a:avLst/>
          </a:prstGeom>
        </p:spPr>
      </p:pic>
      <p:sp>
        <p:nvSpPr>
          <p:cNvPr id="17" name="Text 11"/>
          <p:cNvSpPr/>
          <p:nvPr/>
        </p:nvSpPr>
        <p:spPr>
          <a:xfrm>
            <a:off x="9656819" y="1357313"/>
            <a:ext cx="168271" cy="210344"/>
          </a:xfrm>
          <a:prstGeom prst="rect">
            <a:avLst/>
          </a:prstGeom>
          <a:noFill/>
          <a:ln/>
        </p:spPr>
        <p:txBody>
          <a:bodyPr wrap="none" lIns="0" tIns="0" rIns="0" bIns="0" rtlCol="0" anchor="ctr"/>
          <a:lstStyle/>
          <a:p>
            <a:pPr algn="ctr" indent="0" marL="0">
              <a:lnSpc>
                <a:spcPct val="100000"/>
              </a:lnSpc>
              <a:buNone/>
            </a:pPr>
            <a:r>
              <a:rPr lang="en-US" sz="1300" b="1" spc="-40" kern="0" dirty="0">
                <a:solidFill>
                  <a:srgbClr val="272525"/>
                </a:solidFill>
                <a:latin typeface="Inter Bold" pitchFamily="34" charset="0"/>
                <a:ea typeface="Inter Bold" pitchFamily="34" charset="-122"/>
                <a:cs typeface="Inter Bold" pitchFamily="34" charset="-120"/>
              </a:rPr>
              <a:t>3</a:t>
            </a:r>
            <a:endParaRPr lang="en-US" sz="1300" dirty="0"/>
          </a:p>
        </p:txBody>
      </p:sp>
      <p:sp>
        <p:nvSpPr>
          <p:cNvPr id="18" name="Text 12"/>
          <p:cNvSpPr/>
          <p:nvPr/>
        </p:nvSpPr>
        <p:spPr>
          <a:xfrm>
            <a:off x="8076601" y="1700609"/>
            <a:ext cx="3328706" cy="350639"/>
          </a:xfrm>
          <a:prstGeom prst="rect">
            <a:avLst/>
          </a:prstGeom>
          <a:noFill/>
          <a:ln/>
        </p:spPr>
        <p:txBody>
          <a:bodyPr wrap="square" lIns="0" tIns="0" rIns="0" bIns="0" rtlCol="0" anchor="t">
            <a:normAutofit/>
          </a:bodyPr>
          <a:lstStyle/>
          <a:p>
            <a:pPr algn="l" indent="0" marL="0">
              <a:lnSpc>
                <a:spcPct val="104000"/>
              </a:lnSpc>
              <a:buNone/>
            </a:pPr>
            <a:r>
              <a:rPr lang="en-US" sz="1100" b="1" spc="-33" kern="0" dirty="0">
                <a:solidFill>
                  <a:srgbClr val="272525"/>
                </a:solidFill>
                <a:latin typeface="Inter Bold" pitchFamily="34" charset="0"/>
                <a:ea typeface="Inter Bold" pitchFamily="34" charset="-122"/>
                <a:cs typeface="Inter Bold" pitchFamily="34" charset="-120"/>
              </a:rPr>
              <a:t>OFFLINE SIGNAL – Option C: Influence/Gradient Estimation</a:t>
            </a:r>
            <a:endParaRPr lang="en-US" sz="1100" dirty="0"/>
          </a:p>
        </p:txBody>
      </p:sp>
      <p:sp>
        <p:nvSpPr>
          <p:cNvPr id="19" name="Text 13"/>
          <p:cNvSpPr/>
          <p:nvPr/>
        </p:nvSpPr>
        <p:spPr>
          <a:xfrm>
            <a:off x="8076601" y="2091134"/>
            <a:ext cx="3328706" cy="475853"/>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Stronger but too expensive for the online path</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Used as a future offline auditor</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Status: Proposed/Phase 2 component</a:t>
            </a:r>
            <a:endParaRPr lang="en-US" sz="850" dirty="0"/>
          </a:p>
        </p:txBody>
      </p:sp>
      <p:sp>
        <p:nvSpPr>
          <p:cNvPr id="20" name="Text 14"/>
          <p:cNvSpPr/>
          <p:nvPr/>
        </p:nvSpPr>
        <p:spPr>
          <a:xfrm>
            <a:off x="661475" y="3990479"/>
            <a:ext cx="10868745" cy="210443"/>
          </a:xfrm>
          <a:prstGeom prst="rect">
            <a:avLst/>
          </a:prstGeom>
          <a:noFill/>
          <a:ln/>
        </p:spPr>
        <p:txBody>
          <a:bodyPr wrap="none" lIns="0" tIns="0" rIns="0" bIns="0" rtlCol="0" anchor="t"/>
          <a:lstStyle/>
          <a:p>
            <a:pPr algn="l" indent="0" marL="0">
              <a:lnSpc>
                <a:spcPct val="104000"/>
              </a:lnSpc>
              <a:buNone/>
            </a:pPr>
            <a:r>
              <a:rPr lang="en-US" sz="1300" b="1" spc="-40" kern="0" dirty="0">
                <a:solidFill>
                  <a:srgbClr val="000000"/>
                </a:solidFill>
                <a:latin typeface="Inter Bold" pitchFamily="34" charset="0"/>
                <a:ea typeface="Inter Bold" pitchFamily="34" charset="-122"/>
                <a:cs typeface="Inter Bold" pitchFamily="34" charset="-120"/>
              </a:rPr>
              <a:t>Inputs to Trust Gate:</a:t>
            </a:r>
            <a:endParaRPr lang="en-US" sz="1300" dirty="0"/>
          </a:p>
        </p:txBody>
      </p:sp>
      <p:sp>
        <p:nvSpPr>
          <p:cNvPr id="21" name="Text 15"/>
          <p:cNvSpPr/>
          <p:nvPr/>
        </p:nvSpPr>
        <p:spPr>
          <a:xfrm>
            <a:off x="661475" y="4300835"/>
            <a:ext cx="10868745" cy="831255"/>
          </a:xfrm>
          <a:prstGeom prst="rect">
            <a:avLst/>
          </a:prstGeom>
          <a:noFill/>
          <a:ln/>
        </p:spPr>
        <p:txBody>
          <a:bodyPr wrap="square" lIns="0" tIns="44892" rIns="0" bIns="0" rtlCol="0" anchor="t">
            <a:normAutofit/>
          </a:bodyPr>
          <a:lstStyle/>
          <a:p>
            <a:pPr algn="l" marL="172720" indent="-172720">
              <a:lnSpc>
                <a:spcPct val="106000"/>
              </a:lnSpc>
              <a:buSzPct val="100000"/>
              <a:buChar char="•"/>
            </a:pPr>
            <a:r>
              <a:rPr lang="en-US" sz="850" i="1" spc="-18" kern="0" dirty="0">
                <a:solidFill>
                  <a:srgbClr val="272525"/>
                </a:solidFill>
                <a:latin typeface="Inter" pitchFamily="34" charset="0"/>
                <a:ea typeface="Inter" pitchFamily="34" charset="-122"/>
                <a:cs typeface="Inter" pitchFamily="34" charset="-120"/>
              </a:rPr>
              <a:t>\Delta\theta_t</a:t>
            </a:r>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 (proposed update)</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Current fast weights</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Anchor parameters </a:t>
            </a:r>
            <a:pPr algn="l" marL="172720" indent="-172720">
              <a:lnSpc>
                <a:spcPct val="106000"/>
              </a:lnSpc>
              <a:buSzPct val="100000"/>
              <a:buChar char="•"/>
            </a:pPr>
            <a:r>
              <a:rPr lang="en-US" sz="850" i="1" spc="-18" kern="0" dirty="0">
                <a:solidFill>
                  <a:srgbClr val="272525"/>
                </a:solidFill>
                <a:latin typeface="Inter" pitchFamily="34" charset="0"/>
                <a:ea typeface="Inter" pitchFamily="34" charset="-122"/>
                <a:cs typeface="Inter" pitchFamily="34" charset="-120"/>
              </a:rPr>
              <a:t>\theta_0</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Rotating probes </a:t>
            </a:r>
            <a:pPr algn="l" marL="172720" indent="-172720">
              <a:lnSpc>
                <a:spcPct val="106000"/>
              </a:lnSpc>
              <a:buSzPct val="100000"/>
              <a:buChar char="•"/>
            </a:pPr>
            <a:r>
              <a:rPr lang="en-US" sz="850" i="1" spc="-18" kern="0" dirty="0">
                <a:solidFill>
                  <a:srgbClr val="272525"/>
                </a:solidFill>
                <a:latin typeface="Inter" pitchFamily="34" charset="0"/>
                <a:ea typeface="Inter" pitchFamily="34" charset="-122"/>
                <a:cs typeface="Inter" pitchFamily="34" charset="-120"/>
              </a:rPr>
              <a:t>P_t</a:t>
            </a:r>
            <a:endParaRPr lang="en-US" sz="850" dirty="0"/>
          </a:p>
          <a:p>
            <a:pPr algn="l" marL="172720" indent="-172720">
              <a:lnSpc>
                <a:spcPct val="106000"/>
              </a:lnSpc>
              <a:buSzPct val="100000"/>
              <a:buChar char="•"/>
            </a:pPr>
            <a:r>
              <a:rPr lang="en-US" sz="850" spc="-18" kern="0" dirty="0">
                <a:solidFill>
                  <a:srgbClr val="272525"/>
                </a:solidFill>
                <a:latin typeface="Inter" pitchFamily="34" charset="0"/>
                <a:ea typeface="Inter" pitchFamily="34" charset="-122"/>
                <a:cs typeface="Inter" pitchFamily="34" charset="-120"/>
              </a:rPr>
              <a:t>Update statistics</a:t>
            </a:r>
            <a:endParaRPr lang="en-US" sz="850" dirty="0"/>
          </a:p>
        </p:txBody>
      </p:sp>
      <p:sp>
        <p:nvSpPr>
          <p:cNvPr id="22" name="Text 16"/>
          <p:cNvSpPr/>
          <p:nvPr/>
        </p:nvSpPr>
        <p:spPr>
          <a:xfrm>
            <a:off x="661475" y="5232003"/>
            <a:ext cx="10868745" cy="210443"/>
          </a:xfrm>
          <a:prstGeom prst="rect">
            <a:avLst/>
          </a:prstGeom>
          <a:noFill/>
          <a:ln/>
        </p:spPr>
        <p:txBody>
          <a:bodyPr wrap="none" lIns="0" tIns="0" rIns="0" bIns="0" rtlCol="0" anchor="t"/>
          <a:lstStyle/>
          <a:p>
            <a:pPr algn="l" indent="0" marL="0">
              <a:lnSpc>
                <a:spcPct val="104000"/>
              </a:lnSpc>
              <a:buNone/>
            </a:pPr>
            <a:r>
              <a:rPr lang="en-US" sz="1300" b="1" spc="-40" kern="0" dirty="0">
                <a:solidFill>
                  <a:srgbClr val="000000"/>
                </a:solidFill>
                <a:latin typeface="Inter Bold" pitchFamily="34" charset="0"/>
                <a:ea typeface="Inter Bold" pitchFamily="34" charset="-122"/>
                <a:cs typeface="Inter Bold" pitchFamily="34" charset="-120"/>
              </a:rPr>
              <a:t>Output:</a:t>
            </a:r>
            <a:endParaRPr lang="en-US" sz="1300" dirty="0"/>
          </a:p>
        </p:txBody>
      </p:sp>
      <p:sp>
        <p:nvSpPr>
          <p:cNvPr id="23" name="Text 17"/>
          <p:cNvSpPr/>
          <p:nvPr/>
        </p:nvSpPr>
        <p:spPr>
          <a:xfrm>
            <a:off x="661475" y="5542359"/>
            <a:ext cx="11478330" cy="143073"/>
          </a:xfrm>
          <a:prstGeom prst="rect">
            <a:avLst/>
          </a:prstGeom>
          <a:noFill/>
          <a:ln/>
        </p:spPr>
        <p:txBody>
          <a:bodyPr wrap="none" lIns="0" tIns="0" rIns="0" bIns="0" rtlCol="0" anchor="t"/>
          <a:lstStyle/>
          <a:p>
            <a:pPr algn="l" indent="0" marL="0">
              <a:lnSpc>
                <a:spcPct val="106000"/>
              </a:lnSpc>
              <a:buNone/>
            </a:pPr>
            <a:r>
              <a:rPr lang="en-US" sz="850" spc="-18" kern="0" dirty="0">
                <a:solidFill>
                  <a:srgbClr val="272525"/>
                </a:solidFill>
                <a:latin typeface="Inter" pitchFamily="34" charset="0"/>
                <a:ea typeface="Inter" pitchFamily="34" charset="-122"/>
                <a:cs typeface="Inter" pitchFamily="34" charset="-120"/>
              </a:rPr>
              <a:t>GateDecision = (verdict, drift_delta, confidence)</a:t>
            </a:r>
            <a:endParaRPr lang="en-US" sz="850" dirty="0"/>
          </a:p>
        </p:txBody>
      </p:sp>
      <p:sp>
        <p:nvSpPr>
          <p:cNvPr id="24" name="Shape 18"/>
          <p:cNvSpPr/>
          <p:nvPr/>
        </p:nvSpPr>
        <p:spPr>
          <a:xfrm>
            <a:off x="661475" y="5760343"/>
            <a:ext cx="10868745" cy="325537"/>
          </a:xfrm>
          <a:prstGeom prst="roundRect">
            <a:avLst>
              <a:gd name="adj" fmla="val 14480"/>
            </a:avLst>
          </a:prstGeom>
          <a:solidFill>
            <a:srgbClr val="DADBF1"/>
          </a:solidFill>
          <a:ln/>
        </p:spPr>
        <p:txBody>
          <a:bodyPr/>
          <a:p/>
        </p:txBody>
      </p:sp>
      <p:pic>
        <p:nvPicPr>
          <p:cNvPr id="25" name="Image 4" descr="preencoded.png">    </p:cNvPr>
          <p:cNvPicPr>
            <a:picLocks noChangeAspect="1"/>
          </p:cNvPicPr>
          <p:nvPr/>
        </p:nvPicPr>
        <p:blipFill>
          <a:blip r:embed="rId8"/>
          <a:stretch>
            <a:fillRect/>
          </a:stretch>
        </p:blipFill>
        <p:spPr>
          <a:xfrm>
            <a:off x="773688" y="5854898"/>
            <a:ext cx="140193" cy="112216"/>
          </a:xfrm>
          <a:prstGeom prst="rect">
            <a:avLst/>
          </a:prstGeom>
        </p:spPr>
      </p:pic>
      <p:sp>
        <p:nvSpPr>
          <p:cNvPr id="26" name="Text 19"/>
          <p:cNvSpPr/>
          <p:nvPr/>
        </p:nvSpPr>
        <p:spPr>
          <a:xfrm>
            <a:off x="1026095" y="5854898"/>
            <a:ext cx="11001497" cy="143073"/>
          </a:xfrm>
          <a:prstGeom prst="rect">
            <a:avLst/>
          </a:prstGeom>
          <a:noFill/>
          <a:ln/>
        </p:spPr>
        <p:txBody>
          <a:bodyPr wrap="none" lIns="0" tIns="0" rIns="0" bIns="0" rtlCol="0" anchor="t"/>
          <a:lstStyle/>
          <a:p>
            <a:pPr algn="l" indent="0" marL="0">
              <a:lnSpc>
                <a:spcPct val="106000"/>
              </a:lnSpc>
              <a:buNone/>
            </a:pPr>
            <a:r>
              <a:rPr lang="en-US" sz="850" spc="-18" kern="0" dirty="0">
                <a:solidFill>
                  <a:srgbClr val="000000"/>
                </a:solidFill>
                <a:latin typeface="Inter" pitchFamily="34" charset="0"/>
                <a:ea typeface="Inter" pitchFamily="34" charset="-122"/>
                <a:cs typeface="Inter" pitchFamily="34" charset="-120"/>
              </a:rPr>
              <a:t>Options A, B, and C are proposed/Phase 2 components, not completed implementations.</a:t>
            </a:r>
            <a:endParaRPr lang="en-US" sz="850" dirty="0"/>
          </a:p>
        </p:txBody>
      </p:sp>
      <p:sp>
        <p:nvSpPr>
          <p:cNvPr id="27" name="Text 20"/>
          <p:cNvSpPr/>
          <p:nvPr/>
        </p:nvSpPr>
        <p:spPr>
          <a:xfrm>
            <a:off x="356682" y="6160790"/>
            <a:ext cx="11478330" cy="114399"/>
          </a:xfrm>
          <a:prstGeom prst="rect">
            <a:avLst/>
          </a:prstGeom>
          <a:noFill/>
          <a:ln/>
        </p:spPr>
        <p:txBody>
          <a:bodyPr wrap="none" lIns="0" tIns="0" rIns="0" bIns="0" rtlCol="0" anchor="t"/>
          <a:lstStyle/>
          <a:p>
            <a:pPr algn="ctr" indent="0" marL="0">
              <a:lnSpc>
                <a:spcPct val="106000"/>
              </a:lnSpc>
              <a:buNone/>
            </a:pPr>
            <a:r>
              <a:rPr lang="en-US" sz="700" spc="-18"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Stage 3: Acceptance Policy and Cumulative Drift Control</a:t>
            </a:r>
            <a:endParaRPr lang="en-US" sz="1850" dirty="0"/>
          </a:p>
        </p:txBody>
      </p:sp>
      <p:sp>
        <p:nvSpPr>
          <p:cNvPr id="3" name="Text 1"/>
          <p:cNvSpPr/>
          <p:nvPr/>
        </p:nvSpPr>
        <p:spPr>
          <a:xfrm>
            <a:off x="661475" y="833934"/>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Decision Policy:</a:t>
            </a:r>
            <a:endParaRPr lang="en-US" sz="1450" dirty="0"/>
          </a:p>
        </p:txBody>
      </p:sp>
      <p:sp>
        <p:nvSpPr>
          <p:cNvPr id="4" name="Text 2"/>
          <p:cNvSpPr/>
          <p:nvPr/>
        </p:nvSpPr>
        <p:spPr>
          <a:xfrm>
            <a:off x="661475" y="1089025"/>
            <a:ext cx="10868745"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Three Possible Actions:</a:t>
            </a:r>
            <a:endParaRPr lang="en-US" sz="1100" dirty="0"/>
          </a:p>
        </p:txBody>
      </p:sp>
      <p:sp>
        <p:nvSpPr>
          <p:cNvPr id="5" name="Text 3"/>
          <p:cNvSpPr/>
          <p:nvPr/>
        </p:nvSpPr>
        <p:spPr>
          <a:xfrm>
            <a:off x="661475" y="1337072"/>
            <a:ext cx="10868745" cy="373162"/>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ACCEPT: commit update and add its drift contribution to the accumulator</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REJECT: discard learned weight delta, preserve pre-update weights, continue reading context</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ROLLBACK: restore the most recent trusted checkpoint after a breach</a:t>
            </a:r>
            <a:endParaRPr lang="en-US" sz="700" dirty="0"/>
          </a:p>
        </p:txBody>
      </p:sp>
      <p:sp>
        <p:nvSpPr>
          <p:cNvPr id="6" name="Text 4"/>
          <p:cNvSpPr/>
          <p:nvPr/>
        </p:nvSpPr>
        <p:spPr>
          <a:xfrm>
            <a:off x="661475" y="1781076"/>
            <a:ext cx="10868745"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Acceptance Condition:</a:t>
            </a:r>
            <a:endParaRPr lang="en-US" sz="1100" dirty="0"/>
          </a:p>
        </p:txBody>
      </p:sp>
      <p:sp>
        <p:nvSpPr>
          <p:cNvPr id="7" name="Text 5"/>
          <p:cNvSpPr/>
          <p:nvPr/>
        </p:nvSpPr>
        <p:spPr>
          <a:xfrm>
            <a:off x="661475" y="2029123"/>
            <a:ext cx="11478330" cy="160734"/>
          </a:xfrm>
          <a:prstGeom prst="rect">
            <a:avLst/>
          </a:prstGeom>
          <a:noFill/>
          <a:ln/>
        </p:spPr>
        <p:txBody>
          <a:bodyPr wrap="none" lIns="0" tIns="0" rIns="0" bIns="0" rtlCol="0" anchor="t"/>
          <a:lstStyle/>
          <a:p>
            <a:pPr algn="l" indent="0" marL="0">
              <a:lnSpc>
                <a:spcPct val="100000"/>
              </a:lnSpc>
              <a:buNone/>
            </a:pPr>
            <a:r>
              <a:rPr lang="en-US" sz="800" spc="-15" kern="0" dirty="0">
                <a:solidFill>
                  <a:srgbClr val="272525"/>
                </a:solidFill>
                <a:latin typeface="Inter" pitchFamily="34" charset="0"/>
                <a:ea typeface="Inter" pitchFamily="34" charset="-122"/>
                <a:cs typeface="Inter" pitchFamily="34" charset="-120"/>
              </a:rPr>
              <a:t>a_t = 1\{A_t \le \tau_A \text{ AND } B_t \le \tau_B \text{ AND } \text{confidence}_t \ge c_{min} \text{ AND } C_t + d_t \le \epsilon\}</a:t>
            </a:r>
            <a:endParaRPr lang="en-US" sz="800" dirty="0"/>
          </a:p>
        </p:txBody>
      </p:sp>
      <p:pic>
        <p:nvPicPr>
          <p:cNvPr id="8" name="Image 0" descr="preencoded.png">    </p:cNvPr>
          <p:cNvPicPr>
            <a:picLocks noChangeAspect="1"/>
          </p:cNvPicPr>
          <p:nvPr/>
        </p:nvPicPr>
        <p:blipFill>
          <a:blip r:embed="rId1"/>
          <a:stretch>
            <a:fillRect/>
          </a:stretch>
        </p:blipFill>
        <p:spPr>
          <a:xfrm>
            <a:off x="661475" y="2029123"/>
            <a:ext cx="10868745" cy="160734"/>
          </a:xfrm>
          <a:prstGeom prst="rect">
            <a:avLst/>
          </a:prstGeom>
        </p:spPr>
      </p:pic>
      <p:sp>
        <p:nvSpPr>
          <p:cNvPr id="9" name="Text 6"/>
          <p:cNvSpPr/>
          <p:nvPr/>
        </p:nvSpPr>
        <p:spPr>
          <a:xfrm>
            <a:off x="661475" y="2249587"/>
            <a:ext cx="11478330" cy="113407"/>
          </a:xfrm>
          <a:prstGeom prst="rect">
            <a:avLst/>
          </a:prstGeom>
          <a:noFill/>
          <a:ln/>
        </p:spPr>
        <p:txBody>
          <a:bodyPr wrap="none" lIns="0" tIns="0" rIns="0" bIns="0" rtlCol="0" anchor="t"/>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Where:</a:t>
            </a:r>
            <a:endParaRPr lang="en-US" sz="700" dirty="0"/>
          </a:p>
        </p:txBody>
      </p:sp>
      <p:sp>
        <p:nvSpPr>
          <p:cNvPr id="10" name="Text 7"/>
          <p:cNvSpPr/>
          <p:nvPr/>
        </p:nvSpPr>
        <p:spPr>
          <a:xfrm>
            <a:off x="661475" y="2416076"/>
            <a:ext cx="10868745" cy="1052711"/>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A_t</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 anchor divergence score</a:t>
            </a:r>
            <a:endParaRPr lang="en-US" sz="700" dirty="0"/>
          </a:p>
          <a:p>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B_t</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 gradient-based backstop score</a:t>
            </a:r>
            <a:endParaRPr lang="en-US" sz="700" dirty="0"/>
          </a:p>
          <a:p>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confidence_t</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 confidence in the decision</a:t>
            </a:r>
            <a:endParaRPr lang="en-US" sz="700" dirty="0"/>
          </a:p>
          <a:p>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C_t</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 current cumulative drift</a:t>
            </a:r>
            <a:endParaRPr lang="en-US" sz="700" dirty="0"/>
          </a:p>
          <a:p>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d_t</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 drift contribution of this update</a:t>
            </a:r>
            <a:endParaRPr lang="en-US" sz="700" dirty="0"/>
          </a:p>
          <a:p>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\tau_A, \tau_B</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 thresholds</a:t>
            </a:r>
            <a:endParaRPr lang="en-US" sz="700" dirty="0"/>
          </a:p>
          <a:p>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c_{min}</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 minimum confidence threshold</a:t>
            </a:r>
            <a:endParaRPr lang="en-US" sz="700" dirty="0"/>
          </a:p>
          <a:p>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\epsilon</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 cumulative drift budget</a:t>
            </a:r>
            <a:endParaRPr lang="en-US" sz="700" dirty="0"/>
          </a:p>
        </p:txBody>
      </p:sp>
      <p:sp>
        <p:nvSpPr>
          <p:cNvPr id="11" name="Text 8"/>
          <p:cNvSpPr/>
          <p:nvPr/>
        </p:nvSpPr>
        <p:spPr>
          <a:xfrm>
            <a:off x="661475" y="3539629"/>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Drift Accumulation:</a:t>
            </a:r>
            <a:endParaRPr lang="en-US" sz="1450" dirty="0"/>
          </a:p>
        </p:txBody>
      </p:sp>
      <p:sp>
        <p:nvSpPr>
          <p:cNvPr id="12" name="Text 9"/>
          <p:cNvSpPr/>
          <p:nvPr/>
        </p:nvSpPr>
        <p:spPr>
          <a:xfrm>
            <a:off x="661475" y="3846711"/>
            <a:ext cx="11478330" cy="160734"/>
          </a:xfrm>
          <a:prstGeom prst="rect">
            <a:avLst/>
          </a:prstGeom>
          <a:noFill/>
          <a:ln/>
        </p:spPr>
        <p:txBody>
          <a:bodyPr wrap="none" lIns="0" tIns="0" rIns="0" bIns="0" rtlCol="0" anchor="t"/>
          <a:lstStyle/>
          <a:p>
            <a:pPr algn="l" indent="0" marL="0">
              <a:lnSpc>
                <a:spcPct val="100000"/>
              </a:lnSpc>
              <a:buNone/>
            </a:pPr>
            <a:r>
              <a:rPr lang="en-US" sz="800" spc="-15" kern="0" dirty="0">
                <a:solidFill>
                  <a:srgbClr val="272525"/>
                </a:solidFill>
                <a:latin typeface="Inter" pitchFamily="34" charset="0"/>
                <a:ea typeface="Inter" pitchFamily="34" charset="-122"/>
                <a:cs typeface="Inter" pitchFamily="34" charset="-120"/>
              </a:rPr>
              <a:t>C_{t+1} = C_t + d_t \text{ (if accepted)}</a:t>
            </a:r>
            <a:endParaRPr lang="en-US" sz="800" dirty="0"/>
          </a:p>
        </p:txBody>
      </p:sp>
      <p:pic>
        <p:nvPicPr>
          <p:cNvPr id="13" name="Image 1" descr="preencoded.png">    </p:cNvPr>
          <p:cNvPicPr>
            <a:picLocks noChangeAspect="1"/>
          </p:cNvPicPr>
          <p:nvPr/>
        </p:nvPicPr>
        <p:blipFill>
          <a:blip r:embed="rId2"/>
          <a:stretch>
            <a:fillRect/>
          </a:stretch>
        </p:blipFill>
        <p:spPr>
          <a:xfrm>
            <a:off x="661475" y="3846711"/>
            <a:ext cx="10868745" cy="160734"/>
          </a:xfrm>
          <a:prstGeom prst="rect">
            <a:avLst/>
          </a:prstGeom>
        </p:spPr>
      </p:pic>
      <p:sp>
        <p:nvSpPr>
          <p:cNvPr id="14" name="Text 10"/>
          <p:cNvSpPr/>
          <p:nvPr/>
        </p:nvSpPr>
        <p:spPr>
          <a:xfrm>
            <a:off x="661475" y="4067175"/>
            <a:ext cx="11478330" cy="160734"/>
          </a:xfrm>
          <a:prstGeom prst="rect">
            <a:avLst/>
          </a:prstGeom>
          <a:noFill/>
          <a:ln/>
        </p:spPr>
        <p:txBody>
          <a:bodyPr wrap="none" lIns="0" tIns="0" rIns="0" bIns="0" rtlCol="0" anchor="t"/>
          <a:lstStyle/>
          <a:p>
            <a:pPr algn="l" indent="0" marL="0">
              <a:lnSpc>
                <a:spcPct val="100000"/>
              </a:lnSpc>
              <a:buNone/>
            </a:pPr>
            <a:r>
              <a:rPr lang="en-US" sz="800" spc="-15" kern="0" dirty="0">
                <a:solidFill>
                  <a:srgbClr val="272525"/>
                </a:solidFill>
                <a:latin typeface="Inter" pitchFamily="34" charset="0"/>
                <a:ea typeface="Inter" pitchFamily="34" charset="-122"/>
                <a:cs typeface="Inter" pitchFamily="34" charset="-120"/>
              </a:rPr>
              <a:t>\text{breach}_{t+1} = \text{breach}_t \text{ OR } (C_{t+1} &gt; \epsilon)</a:t>
            </a:r>
            <a:endParaRPr lang="en-US" sz="800" dirty="0"/>
          </a:p>
        </p:txBody>
      </p:sp>
      <p:pic>
        <p:nvPicPr>
          <p:cNvPr id="15" name="Image 2" descr="preencoded.png">    </p:cNvPr>
          <p:cNvPicPr>
            <a:picLocks noChangeAspect="1"/>
          </p:cNvPicPr>
          <p:nvPr/>
        </p:nvPicPr>
        <p:blipFill>
          <a:blip r:embed="rId3"/>
          <a:stretch>
            <a:fillRect/>
          </a:stretch>
        </p:blipFill>
        <p:spPr>
          <a:xfrm>
            <a:off x="661475" y="4067175"/>
            <a:ext cx="10868745" cy="160734"/>
          </a:xfrm>
          <a:prstGeom prst="rect">
            <a:avLst/>
          </a:prstGeom>
        </p:spPr>
      </p:pic>
      <p:sp>
        <p:nvSpPr>
          <p:cNvPr id="16" name="Text 11"/>
          <p:cNvSpPr/>
          <p:nvPr/>
        </p:nvSpPr>
        <p:spPr>
          <a:xfrm>
            <a:off x="661475" y="4298752"/>
            <a:ext cx="10868745"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Key Properties:</a:t>
            </a:r>
            <a:endParaRPr lang="en-US" sz="1100" dirty="0"/>
          </a:p>
        </p:txBody>
      </p:sp>
      <p:sp>
        <p:nvSpPr>
          <p:cNvPr id="17" name="Text 12"/>
          <p:cNvSpPr/>
          <p:nvPr/>
        </p:nvSpPr>
        <p:spPr>
          <a:xfrm>
            <a:off x="661475" y="4546798"/>
            <a:ext cx="10868745" cy="373162"/>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The breach flag latches; the budget resets only at a window boundary or after rollback</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The guarantee bounds cumulative accepted drift, not merely the norm of one update</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STATUS: accumulator and store are built and unit-tested but NOT yet called by the interceptor — the bound is designed, not enforced (ADR-003)</a:t>
            </a:r>
            <a:endParaRPr lang="en-US" sz="700" dirty="0"/>
          </a:p>
        </p:txBody>
      </p:sp>
      <p:sp>
        <p:nvSpPr>
          <p:cNvPr id="18" name="Text 13"/>
          <p:cNvSpPr/>
          <p:nvPr/>
        </p:nvSpPr>
        <p:spPr>
          <a:xfrm>
            <a:off x="661475" y="5020270"/>
            <a:ext cx="5319083"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Inputs:</a:t>
            </a:r>
            <a:endParaRPr lang="en-US" sz="1100" dirty="0"/>
          </a:p>
        </p:txBody>
      </p:sp>
      <p:sp>
        <p:nvSpPr>
          <p:cNvPr id="19" name="Text 14"/>
          <p:cNvSpPr/>
          <p:nvPr/>
        </p:nvSpPr>
        <p:spPr>
          <a:xfrm>
            <a:off x="661475" y="5244703"/>
            <a:ext cx="5319083" cy="380702"/>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GateDecision (verdict, drift_delta, confidence)</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Drift state (</a:t>
            </a:r>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C_t</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a:t>
            </a:r>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\text{breach}_t</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Budget </a:t>
            </a:r>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\epsilon</a:t>
            </a:r>
            <a:endParaRPr lang="en-US" sz="700" dirty="0"/>
          </a:p>
        </p:txBody>
      </p:sp>
      <p:sp>
        <p:nvSpPr>
          <p:cNvPr id="20" name="Text 15"/>
          <p:cNvSpPr/>
          <p:nvPr/>
        </p:nvSpPr>
        <p:spPr>
          <a:xfrm>
            <a:off x="6217487" y="5020270"/>
            <a:ext cx="5319083"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Outputs:</a:t>
            </a:r>
            <a:endParaRPr lang="en-US" sz="1100" dirty="0"/>
          </a:p>
        </p:txBody>
      </p:sp>
      <p:sp>
        <p:nvSpPr>
          <p:cNvPr id="21" name="Text 16"/>
          <p:cNvSpPr/>
          <p:nvPr/>
        </p:nvSpPr>
        <p:spPr>
          <a:xfrm>
            <a:off x="6217487" y="5244703"/>
            <a:ext cx="5319083" cy="506809"/>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Accepted/rejected update flag</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Updated drift state (</a:t>
            </a:r>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C_{t+1}</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a:t>
            </a:r>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\text{breach}_{t+1}</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Breach flag</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Rollback signal</a:t>
            </a:r>
            <a:endParaRPr lang="en-US" sz="700" dirty="0"/>
          </a:p>
        </p:txBody>
      </p:sp>
      <p:sp>
        <p:nvSpPr>
          <p:cNvPr id="22" name="Text 17"/>
          <p:cNvSpPr/>
          <p:nvPr/>
        </p:nvSpPr>
        <p:spPr>
          <a:xfrm>
            <a:off x="661475" y="5838825"/>
            <a:ext cx="10868745"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Implementation:</a:t>
            </a:r>
            <a:endParaRPr lang="en-US" sz="1100" dirty="0"/>
          </a:p>
        </p:txBody>
      </p:sp>
      <p:sp>
        <p:nvSpPr>
          <p:cNvPr id="23" name="Text 18"/>
          <p:cNvSpPr/>
          <p:nvPr/>
        </p:nvSpPr>
        <p:spPr>
          <a:xfrm>
            <a:off x="661475" y="6086872"/>
            <a:ext cx="10868745" cy="243284"/>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src/trustgate/drift/accumulator.py</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src/trustgate/types.py</a:t>
            </a:r>
            <a:endParaRPr lang="en-US" sz="700" dirty="0"/>
          </a:p>
        </p:txBody>
      </p:sp>
      <p:sp>
        <p:nvSpPr>
          <p:cNvPr id="24" name="Text 19"/>
          <p:cNvSpPr/>
          <p:nvPr/>
        </p:nvSpPr>
        <p:spPr>
          <a:xfrm>
            <a:off x="356682" y="6383238"/>
            <a:ext cx="11478330" cy="90686"/>
          </a:xfrm>
          <a:prstGeom prst="rect">
            <a:avLst/>
          </a:prstGeom>
          <a:noFill/>
          <a:ln/>
        </p:spPr>
        <p:txBody>
          <a:bodyPr wrap="none" lIns="0" tIns="0" rIns="0" bIns="0" rtlCol="0" anchor="t"/>
          <a:lstStyle/>
          <a:p>
            <a:pPr algn="ctr" indent="0" marL="0">
              <a:lnSpc>
                <a:spcPct val="100000"/>
              </a:lnSpc>
              <a:buNone/>
            </a:pPr>
            <a:r>
              <a:rPr lang="en-US" sz="550" spc="-15"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Stage 4: O(1) Rollback via Ring Buffer</a:t>
            </a:r>
            <a:endParaRPr lang="en-US" sz="1850" dirty="0"/>
          </a:p>
        </p:txBody>
      </p:sp>
      <p:sp>
        <p:nvSpPr>
          <p:cNvPr id="3" name="Text 1"/>
          <p:cNvSpPr/>
          <p:nvPr/>
        </p:nvSpPr>
        <p:spPr>
          <a:xfrm>
            <a:off x="661475" y="909538"/>
            <a:ext cx="11478330" cy="113407"/>
          </a:xfrm>
          <a:prstGeom prst="rect">
            <a:avLst/>
          </a:prstGeom>
          <a:noFill/>
          <a:ln/>
        </p:spPr>
        <p:txBody>
          <a:bodyPr wrap="none" lIns="0" tIns="0" rIns="0" bIns="0" rtlCol="0" anchor="t"/>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Versioned checkpointing ensures that trusted fast-weight states are retained, enabling a computationally constant-time rollback mechanism in case of a breach.</a:t>
            </a:r>
            <a:endParaRPr lang="en-US" sz="700" dirty="0"/>
          </a:p>
        </p:txBody>
      </p:sp>
      <p:sp>
        <p:nvSpPr>
          <p:cNvPr id="4" name="Text 2"/>
          <p:cNvSpPr/>
          <p:nvPr/>
        </p:nvSpPr>
        <p:spPr>
          <a:xfrm>
            <a:off x="661475" y="1093788"/>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How Versioned Checkpointing Works:</a:t>
            </a:r>
            <a:endParaRPr lang="en-US" sz="1450" dirty="0"/>
          </a:p>
        </p:txBody>
      </p:sp>
      <p:sp>
        <p:nvSpPr>
          <p:cNvPr id="5" name="Text 3"/>
          <p:cNvSpPr/>
          <p:nvPr/>
        </p:nvSpPr>
        <p:spPr>
          <a:xfrm>
            <a:off x="661475" y="1448098"/>
            <a:ext cx="5319083"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Storage Structure:</a:t>
            </a:r>
            <a:endParaRPr lang="en-US" sz="1100" dirty="0"/>
          </a:p>
        </p:txBody>
      </p:sp>
      <p:sp>
        <p:nvSpPr>
          <p:cNvPr id="6" name="Text 4"/>
          <p:cNvSpPr/>
          <p:nvPr/>
        </p:nvSpPr>
        <p:spPr>
          <a:xfrm>
            <a:off x="661475" y="1672530"/>
            <a:ext cx="5319083" cy="506809"/>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Trusted fast-weight states are stored in a fixed-depth ring buffer</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Each checkpoint has a version/index</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The head advances modulo the buffer depth</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Rollback reads a checkpoint using traced index arithmetic:             </a:t>
            </a:r>
            <a:pPr algn="l" marL="142240" indent="-142240">
              <a:lnSpc>
                <a:spcPct val="100000"/>
              </a:lnSpc>
              <a:buSzPct val="100000"/>
              <a:buChar char="•"/>
            </a:pPr>
            <a:r>
              <a:rPr lang="en-US" sz="700" i="1" spc="-15" kern="0" dirty="0">
                <a:solidFill>
                  <a:srgbClr val="272525"/>
                </a:solidFill>
                <a:latin typeface="Inter" pitchFamily="34" charset="0"/>
                <a:ea typeface="Inter" pitchFamily="34" charset="-122"/>
                <a:cs typeface="Inter" pitchFamily="34" charset="-120"/>
              </a:rPr>
              <a:t>index = (head - 1 - steps_back) \pmod k</a:t>
            </a:r>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           </a:t>
            </a:r>
            <a:endParaRPr lang="en-US" sz="700" dirty="0"/>
          </a:p>
        </p:txBody>
      </p:sp>
      <p:sp>
        <p:nvSpPr>
          <p:cNvPr id="7" name="Text 5"/>
          <p:cNvSpPr/>
          <p:nvPr/>
        </p:nvSpPr>
        <p:spPr>
          <a:xfrm>
            <a:off x="6217487" y="1448098"/>
            <a:ext cx="5319083"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Rollback Mechanism:</a:t>
            </a:r>
            <a:endParaRPr lang="en-US" sz="1100" dirty="0"/>
          </a:p>
        </p:txBody>
      </p:sp>
      <p:sp>
        <p:nvSpPr>
          <p:cNvPr id="8" name="Text 6"/>
          <p:cNvSpPr/>
          <p:nvPr/>
        </p:nvSpPr>
        <p:spPr>
          <a:xfrm>
            <a:off x="6217487" y="1672530"/>
            <a:ext cx="5319083" cy="373162"/>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Rollback is O(1) with respect to the number of preceding updates</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JAX pure-function semantics avoid undoing mutations</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No explicit state reversal; instead, read the desired checkpoint from the ring</a:t>
            </a:r>
            <a:endParaRPr lang="en-US" sz="7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48892"/>
            <a:ext cx="5410759" cy="999629"/>
          </a:xfrm>
          <a:prstGeom prst="rect">
            <a:avLst/>
          </a:prstGeom>
        </p:spPr>
      </p:pic>
      <p:sp>
        <p:nvSpPr>
          <p:cNvPr id="10" name="Text 7"/>
          <p:cNvSpPr/>
          <p:nvPr/>
        </p:nvSpPr>
        <p:spPr>
          <a:xfrm>
            <a:off x="3295964" y="2311499"/>
            <a:ext cx="141681" cy="177205"/>
          </a:xfrm>
          <a:prstGeom prst="rect">
            <a:avLst/>
          </a:prstGeom>
          <a:noFill/>
          <a:ln/>
        </p:spPr>
        <p:txBody>
          <a:bodyPr wrap="none" lIns="0" tIns="0" rIns="0" bIns="0" rtlCol="0" anchor="ctr"/>
          <a:lstStyle/>
          <a:p>
            <a:pPr algn="ctr" indent="0" marL="0">
              <a:lnSpc>
                <a:spcPct val="100000"/>
              </a:lnSpc>
              <a:buNone/>
            </a:pPr>
            <a:r>
              <a:rPr lang="en-US" sz="1100" b="1" spc="-33" kern="0" dirty="0">
                <a:solidFill>
                  <a:srgbClr val="272525"/>
                </a:solidFill>
                <a:latin typeface="Inter Bold" pitchFamily="34" charset="0"/>
                <a:ea typeface="Inter Bold" pitchFamily="34" charset="-122"/>
                <a:cs typeface="Inter Bold" pitchFamily="34" charset="-120"/>
              </a:rPr>
              <a:t>1</a:t>
            </a:r>
            <a:endParaRPr lang="en-US" sz="1100" dirty="0"/>
          </a:p>
        </p:txBody>
      </p:sp>
      <p:sp>
        <p:nvSpPr>
          <p:cNvPr id="11" name="Text 8"/>
          <p:cNvSpPr/>
          <p:nvPr/>
        </p:nvSpPr>
        <p:spPr>
          <a:xfrm>
            <a:off x="768628" y="2592288"/>
            <a:ext cx="5196452"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Inputs:</a:t>
            </a:r>
            <a:endParaRPr lang="en-US" sz="900" dirty="0"/>
          </a:p>
        </p:txBody>
      </p:sp>
      <p:sp>
        <p:nvSpPr>
          <p:cNvPr id="12" name="Text 9"/>
          <p:cNvSpPr/>
          <p:nvPr/>
        </p:nvSpPr>
        <p:spPr>
          <a:xfrm>
            <a:off x="768628" y="2768203"/>
            <a:ext cx="5196452" cy="373162"/>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Trusted fast weights (after acceptance)</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Checkpoint depth k</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Rollback request (steps_back)</a:t>
            </a:r>
            <a:endParaRPr lang="en-US" sz="700" dirty="0"/>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19461" y="2248892"/>
            <a:ext cx="5410759" cy="999629"/>
          </a:xfrm>
          <a:prstGeom prst="rect">
            <a:avLst/>
          </a:prstGeom>
        </p:spPr>
      </p:pic>
      <p:sp>
        <p:nvSpPr>
          <p:cNvPr id="14" name="Text 10"/>
          <p:cNvSpPr/>
          <p:nvPr/>
        </p:nvSpPr>
        <p:spPr>
          <a:xfrm>
            <a:off x="8753951" y="2311499"/>
            <a:ext cx="141681" cy="177205"/>
          </a:xfrm>
          <a:prstGeom prst="rect">
            <a:avLst/>
          </a:prstGeom>
          <a:noFill/>
          <a:ln/>
        </p:spPr>
        <p:txBody>
          <a:bodyPr wrap="none" lIns="0" tIns="0" rIns="0" bIns="0" rtlCol="0" anchor="ctr"/>
          <a:lstStyle/>
          <a:p>
            <a:pPr algn="ctr" indent="0" marL="0">
              <a:lnSpc>
                <a:spcPct val="100000"/>
              </a:lnSpc>
              <a:buNone/>
            </a:pPr>
            <a:r>
              <a:rPr lang="en-US" sz="1100" b="1" spc="-33" kern="0" dirty="0">
                <a:solidFill>
                  <a:srgbClr val="272525"/>
                </a:solidFill>
                <a:latin typeface="Inter Bold" pitchFamily="34" charset="0"/>
                <a:ea typeface="Inter Bold" pitchFamily="34" charset="-122"/>
                <a:cs typeface="Inter Bold" pitchFamily="34" charset="-120"/>
              </a:rPr>
              <a:t>2</a:t>
            </a:r>
            <a:endParaRPr lang="en-US" sz="1100" dirty="0"/>
          </a:p>
        </p:txBody>
      </p:sp>
      <p:sp>
        <p:nvSpPr>
          <p:cNvPr id="15" name="Text 11"/>
          <p:cNvSpPr/>
          <p:nvPr/>
        </p:nvSpPr>
        <p:spPr>
          <a:xfrm>
            <a:off x="6226615" y="2592288"/>
            <a:ext cx="5196452" cy="147638"/>
          </a:xfrm>
          <a:prstGeom prst="rect">
            <a:avLst/>
          </a:prstGeom>
          <a:noFill/>
          <a:ln/>
        </p:spPr>
        <p:txBody>
          <a:bodyPr wrap="none" lIns="0" tIns="0" rIns="0" bIns="0" rtlCol="0" anchor="t"/>
          <a:lstStyle/>
          <a:p>
            <a:pPr algn="l" indent="0" marL="0">
              <a:lnSpc>
                <a:spcPct val="104000"/>
              </a:lnSpc>
              <a:buNone/>
            </a:pPr>
            <a:r>
              <a:rPr lang="en-US" sz="900" b="1" spc="-28" kern="0" dirty="0">
                <a:solidFill>
                  <a:srgbClr val="272525"/>
                </a:solidFill>
                <a:latin typeface="Inter Bold" pitchFamily="34" charset="0"/>
                <a:ea typeface="Inter Bold" pitchFamily="34" charset="-122"/>
                <a:cs typeface="Inter Bold" pitchFamily="34" charset="-120"/>
              </a:rPr>
              <a:t>Outputs:</a:t>
            </a:r>
            <a:endParaRPr lang="en-US" sz="900" dirty="0"/>
          </a:p>
        </p:txBody>
      </p:sp>
      <p:sp>
        <p:nvSpPr>
          <p:cNvPr id="16" name="Text 12"/>
          <p:cNvSpPr/>
          <p:nvPr/>
        </p:nvSpPr>
        <p:spPr>
          <a:xfrm>
            <a:off x="6226615" y="2768203"/>
            <a:ext cx="5196452" cy="373162"/>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Versioned store (updated ring buffer)</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Last trusted fast-weight state</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Rollback state after breach</a:t>
            </a:r>
            <a:endParaRPr lang="en-US" sz="700" dirty="0"/>
          </a:p>
        </p:txBody>
      </p:sp>
      <p:sp>
        <p:nvSpPr>
          <p:cNvPr id="17" name="Text 13"/>
          <p:cNvSpPr/>
          <p:nvPr/>
        </p:nvSpPr>
        <p:spPr>
          <a:xfrm>
            <a:off x="661475" y="3319363"/>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Important Trade-Off:</a:t>
            </a:r>
            <a:endParaRPr lang="en-US" sz="1450" dirty="0"/>
          </a:p>
        </p:txBody>
      </p:sp>
      <p:sp>
        <p:nvSpPr>
          <p:cNvPr id="18" name="Text 14"/>
          <p:cNvSpPr/>
          <p:nvPr/>
        </p:nvSpPr>
        <p:spPr>
          <a:xfrm>
            <a:off x="661475" y="3668911"/>
            <a:ext cx="6429016" cy="269280"/>
          </a:xfrm>
          <a:prstGeom prst="rect">
            <a:avLst/>
          </a:prstGeom>
          <a:noFill/>
          <a:ln/>
        </p:spPr>
        <p:txBody>
          <a:bodyPr wrap="square" lIns="0" tIns="0" rIns="0" bIns="0" rtlCol="0" anchor="t"/>
          <a:lstStyle/>
          <a:p>
            <a:pPr algn="l" indent="0" marL="0">
              <a:lnSpc>
                <a:spcPct val="100000"/>
              </a:lnSpc>
              <a:spcAft>
                <a:spcPts val="300"/>
              </a:spcAft>
              <a:buNone/>
            </a:pPr>
            <a:r>
              <a:rPr lang="en-US" sz="700" spc="-15" kern="0" dirty="0">
                <a:solidFill>
                  <a:srgbClr val="272525"/>
                </a:solidFill>
                <a:latin typeface="Inter" pitchFamily="34" charset="0"/>
                <a:ea typeface="Inter" pitchFamily="34" charset="-122"/>
                <a:cs typeface="Inter" pitchFamily="34" charset="-120"/>
              </a:rPr>
              <a:t>Rollback is computationally constant time but not free in memory.</a:t>
            </a:r>
            <a:endParaRPr lang="en-US" sz="700" dirty="0"/>
          </a:p>
          <a:p>
            <a:pPr algn="l" indent="0" marL="0">
              <a:lnSpc>
                <a:spcPct val="100000"/>
              </a:lnSpc>
              <a:buNone/>
            </a:pPr>
            <a:r>
              <a:rPr lang="en-US" sz="700" b="1" spc="-15" kern="0" dirty="0">
                <a:solidFill>
                  <a:srgbClr val="272525"/>
                </a:solidFill>
                <a:latin typeface="Inter Bold" pitchFamily="34" charset="0"/>
                <a:ea typeface="Inter Bold" pitchFamily="34" charset="-122"/>
                <a:cs typeface="Inter Bold" pitchFamily="34" charset="-120"/>
              </a:rPr>
              <a:t>Checkpoint memory:</a:t>
            </a:r>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           </a:t>
            </a:r>
            <a:endParaRPr lang="en-US" sz="700" dirty="0"/>
          </a:p>
        </p:txBody>
      </p:sp>
      <p:sp>
        <p:nvSpPr>
          <p:cNvPr id="19" name="Text 15"/>
          <p:cNvSpPr/>
          <p:nvPr/>
        </p:nvSpPr>
        <p:spPr>
          <a:xfrm>
            <a:off x="661475" y="3980656"/>
            <a:ext cx="6429016" cy="243284"/>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A deeper buffer consumes more HBM and must cover detection latency</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Must balance between rollback capability and memory constraints</a:t>
            </a:r>
            <a:endParaRPr lang="en-US" sz="700" dirty="0"/>
          </a:p>
        </p:txBody>
      </p:sp>
      <p:pic>
        <p:nvPicPr>
          <p:cNvPr id="20" name="Image 2" descr="preencoded.png">    </p:cNvPr>
          <p:cNvPicPr>
            <a:picLocks noChangeAspect="1"/>
          </p:cNvPicPr>
          <p:nvPr/>
        </p:nvPicPr>
        <p:blipFill>
          <a:blip r:embed="rId5"/>
          <a:stretch>
            <a:fillRect/>
          </a:stretch>
        </p:blipFill>
        <p:spPr>
          <a:xfrm>
            <a:off x="7327419" y="3679527"/>
            <a:ext cx="4209151" cy="4209256"/>
          </a:xfrm>
          <a:prstGeom prst="rect">
            <a:avLst/>
          </a:prstGeom>
        </p:spPr>
      </p:pic>
      <p:sp>
        <p:nvSpPr>
          <p:cNvPr id="21" name="Text 16"/>
          <p:cNvSpPr/>
          <p:nvPr/>
        </p:nvSpPr>
        <p:spPr>
          <a:xfrm>
            <a:off x="661475" y="8012708"/>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Design Considerations:</a:t>
            </a:r>
            <a:endParaRPr lang="en-US" sz="1450" dirty="0"/>
          </a:p>
        </p:txBody>
      </p:sp>
      <p:sp>
        <p:nvSpPr>
          <p:cNvPr id="22" name="Text 17"/>
          <p:cNvSpPr/>
          <p:nvPr/>
        </p:nvSpPr>
        <p:spPr>
          <a:xfrm>
            <a:off x="661475" y="8319790"/>
            <a:ext cx="10868745" cy="373162"/>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Ring buffer depth k must be chosen to cover the expected detection latency</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Deeper buffers provide more rollback history but consume more GPU memory</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For billion-parameter models, checkpoint memory can compete with activation memory</a:t>
            </a:r>
            <a:endParaRPr lang="en-US" sz="700" dirty="0"/>
          </a:p>
        </p:txBody>
      </p:sp>
      <p:sp>
        <p:nvSpPr>
          <p:cNvPr id="23" name="Text 18"/>
          <p:cNvSpPr/>
          <p:nvPr/>
        </p:nvSpPr>
        <p:spPr>
          <a:xfrm>
            <a:off x="661475" y="8763794"/>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Implementation:</a:t>
            </a:r>
            <a:endParaRPr lang="en-US" sz="1450" dirty="0"/>
          </a:p>
        </p:txBody>
      </p:sp>
      <p:sp>
        <p:nvSpPr>
          <p:cNvPr id="24" name="Text 19"/>
          <p:cNvSpPr/>
          <p:nvPr/>
        </p:nvSpPr>
        <p:spPr>
          <a:xfrm>
            <a:off x="661475" y="9070876"/>
            <a:ext cx="11478330" cy="113407"/>
          </a:xfrm>
          <a:prstGeom prst="rect">
            <a:avLst/>
          </a:prstGeom>
          <a:noFill/>
          <a:ln/>
        </p:spPr>
        <p:txBody>
          <a:bodyPr wrap="none" lIns="0" tIns="37804" rIns="0" bIns="0" rtlCol="0" anchor="t"/>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src/trustgate/store/versioned.py</a:t>
            </a:r>
            <a:endParaRPr lang="en-US" sz="700" dirty="0"/>
          </a:p>
        </p:txBody>
      </p:sp>
      <p:sp>
        <p:nvSpPr>
          <p:cNvPr id="25" name="Text 20"/>
          <p:cNvSpPr/>
          <p:nvPr/>
        </p:nvSpPr>
        <p:spPr>
          <a:xfrm>
            <a:off x="356682" y="9237365"/>
            <a:ext cx="11478330" cy="90686"/>
          </a:xfrm>
          <a:prstGeom prst="rect">
            <a:avLst/>
          </a:prstGeom>
          <a:noFill/>
          <a:ln/>
        </p:spPr>
        <p:txBody>
          <a:bodyPr wrap="none" lIns="0" tIns="0" rIns="0" bIns="0" rtlCol="0" anchor="t"/>
          <a:lstStyle/>
          <a:p>
            <a:pPr algn="ctr" indent="0" marL="0">
              <a:lnSpc>
                <a:spcPct val="100000"/>
              </a:lnSpc>
              <a:buNone/>
            </a:pPr>
            <a:r>
              <a:rPr lang="en-US" sz="550" spc="-15"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529134"/>
            <a:ext cx="10868745" cy="378321"/>
          </a:xfrm>
          <a:prstGeom prst="rect">
            <a:avLst/>
          </a:prstGeom>
          <a:noFill/>
          <a:ln/>
        </p:spPr>
        <p:txBody>
          <a:bodyPr wrap="none" lIns="0" tIns="0" rIns="0" bIns="0" rtlCol="0" anchor="t"/>
          <a:lstStyle/>
          <a:p>
            <a:pPr algn="l" indent="0" marL="0">
              <a:lnSpc>
                <a:spcPct val="104000"/>
              </a:lnSpc>
              <a:buNone/>
            </a:pPr>
            <a:r>
              <a:rPr lang="en-US" sz="2350" b="1" spc="-72" kern="0" dirty="0">
                <a:solidFill>
                  <a:srgbClr val="000000"/>
                </a:solidFill>
                <a:latin typeface="Inter Bold" pitchFamily="34" charset="0"/>
                <a:ea typeface="Inter Bold" pitchFamily="34" charset="-122"/>
                <a:cs typeface="Inter Bold" pitchFamily="34" charset="-120"/>
              </a:rPr>
              <a:t>Stage 5: Auditability and Evaluation Framework</a:t>
            </a:r>
            <a:endParaRPr lang="en-US" sz="2350" dirty="0"/>
          </a:p>
        </p:txBody>
      </p:sp>
      <p:sp>
        <p:nvSpPr>
          <p:cNvPr id="3" name="Text 1"/>
          <p:cNvSpPr/>
          <p:nvPr/>
        </p:nvSpPr>
        <p:spPr>
          <a:xfrm>
            <a:off x="661475" y="1101229"/>
            <a:ext cx="5286739" cy="302716"/>
          </a:xfrm>
          <a:prstGeom prst="rect">
            <a:avLst/>
          </a:prstGeom>
          <a:noFill/>
          <a:ln/>
        </p:spPr>
        <p:txBody>
          <a:bodyPr wrap="none" lIns="0" tIns="0" rIns="0" bIns="0" rtlCol="0" anchor="t"/>
          <a:lstStyle/>
          <a:p>
            <a:pPr algn="l" indent="0" marL="0">
              <a:lnSpc>
                <a:spcPct val="104000"/>
              </a:lnSpc>
              <a:buNone/>
            </a:pPr>
            <a:r>
              <a:rPr lang="en-US" sz="1900" b="1" spc="-57" kern="0" dirty="0">
                <a:solidFill>
                  <a:srgbClr val="000000"/>
                </a:solidFill>
                <a:latin typeface="Inter Bold" pitchFamily="34" charset="0"/>
                <a:ea typeface="Inter Bold" pitchFamily="34" charset="-122"/>
                <a:cs typeface="Inter Bold" pitchFamily="34" charset="-120"/>
              </a:rPr>
              <a:t>Audit Path</a:t>
            </a:r>
            <a:endParaRPr lang="en-US" sz="1900" dirty="0"/>
          </a:p>
        </p:txBody>
      </p:sp>
      <p:sp>
        <p:nvSpPr>
          <p:cNvPr id="4" name="Text 2"/>
          <p:cNvSpPr/>
          <p:nvPr/>
        </p:nvSpPr>
        <p:spPr>
          <a:xfrm>
            <a:off x="661475" y="1434902"/>
            <a:ext cx="5286739" cy="227013"/>
          </a:xfrm>
          <a:prstGeom prst="rect">
            <a:avLst/>
          </a:prstGeom>
          <a:noFill/>
          <a:ln/>
        </p:spPr>
        <p:txBody>
          <a:bodyPr wrap="none" lIns="0" tIns="0" rIns="0" bIns="0" rtlCol="0" anchor="t"/>
          <a:lstStyle/>
          <a:p>
            <a:pPr algn="l" indent="0" marL="0">
              <a:lnSpc>
                <a:spcPct val="104000"/>
              </a:lnSpc>
              <a:buNone/>
            </a:pPr>
            <a:r>
              <a:rPr lang="en-US" sz="1400" b="1" spc="-43" kern="0" dirty="0">
                <a:solidFill>
                  <a:srgbClr val="000000"/>
                </a:solidFill>
                <a:latin typeface="Inter Bold" pitchFamily="34" charset="0"/>
                <a:ea typeface="Inter Bold" pitchFamily="34" charset="-122"/>
                <a:cs typeface="Inter Bold" pitchFamily="34" charset="-120"/>
              </a:rPr>
              <a:t>Metric Collection:</a:t>
            </a:r>
            <a:endParaRPr lang="en-US" sz="1400" dirty="0"/>
          </a:p>
        </p:txBody>
      </p:sp>
      <p:sp>
        <p:nvSpPr>
          <p:cNvPr id="5" name="Text 3"/>
          <p:cNvSpPr/>
          <p:nvPr/>
        </p:nvSpPr>
        <p:spPr>
          <a:xfrm>
            <a:off x="661475" y="1739404"/>
            <a:ext cx="5286739" cy="1680071"/>
          </a:xfrm>
          <a:prstGeom prst="rect">
            <a:avLst/>
          </a:prstGeom>
          <a:noFill/>
          <a:ln/>
        </p:spPr>
        <p:txBody>
          <a:bodyPr wrap="square" lIns="0" tIns="48436" rIns="0" bIns="0" rtlCol="0" anchor="t">
            <a:normAutofit/>
          </a:bodyPr>
          <a:lstStyle/>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JAX scan emits stacked metrics outside the traced path</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Python logging is not performed inside the JIT-compiled scan</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Metrics include:</a:t>
            </a:r>
            <a:endParaRPr lang="en-US" sz="950" dirty="0"/>
          </a:p>
          <a:p>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Accepted flag (per update)</a:t>
            </a:r>
            <a:endParaRPr lang="en-US" sz="950" dirty="0"/>
          </a:p>
          <a:p>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Drift delta (</a:t>
            </a:r>
            <a:pPr algn="l" lvl="1" marL="386080" indent="-193040">
              <a:lnSpc>
                <a:spcPct val="109000"/>
              </a:lnSpc>
              <a:buSzPct val="100000"/>
              <a:buChar char="◦"/>
            </a:pPr>
            <a:r>
              <a:rPr lang="en-US" sz="950" i="1" spc="-19" kern="0" dirty="0">
                <a:solidFill>
                  <a:srgbClr val="272525"/>
                </a:solidFill>
                <a:latin typeface="Inter" pitchFamily="34" charset="0"/>
                <a:ea typeface="Inter" pitchFamily="34" charset="-122"/>
                <a:cs typeface="Inter" pitchFamily="34" charset="-120"/>
              </a:rPr>
              <a:t>d_t</a:t>
            </a:r>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a:t>
            </a:r>
            <a:endParaRPr lang="en-US" sz="950" dirty="0"/>
          </a:p>
          <a:p>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Confidence score</a:t>
            </a:r>
            <a:endParaRPr lang="en-US" sz="950" dirty="0"/>
          </a:p>
          <a:p>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Update norm (</a:t>
            </a:r>
            <a:pPr algn="l" lvl="1" marL="386080" indent="-193040">
              <a:lnSpc>
                <a:spcPct val="109000"/>
              </a:lnSpc>
              <a:buSzPct val="100000"/>
              <a:buChar char="◦"/>
            </a:pPr>
            <a:r>
              <a:rPr lang="en-US" sz="950" i="1" spc="-19" kern="0" dirty="0">
                <a:solidFill>
                  <a:srgbClr val="272525"/>
                </a:solidFill>
                <a:latin typeface="Inter" pitchFamily="34" charset="0"/>
                <a:ea typeface="Inter" pitchFamily="34" charset="-122"/>
                <a:cs typeface="Inter" pitchFamily="34" charset="-120"/>
              </a:rPr>
              <a:t>||\Delta\theta_t||</a:t>
            </a:r>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a:t>
            </a:r>
            <a:endParaRPr lang="en-US" sz="950" dirty="0"/>
          </a:p>
          <a:p>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Anchor divergence (</a:t>
            </a:r>
            <a:pPr algn="l" lvl="1" marL="386080" indent="-193040">
              <a:lnSpc>
                <a:spcPct val="109000"/>
              </a:lnSpc>
              <a:buSzPct val="100000"/>
              <a:buChar char="◦"/>
            </a:pPr>
            <a:r>
              <a:rPr lang="en-US" sz="950" i="1" spc="-19" kern="0" dirty="0">
                <a:solidFill>
                  <a:srgbClr val="272525"/>
                </a:solidFill>
                <a:latin typeface="Inter" pitchFamily="34" charset="0"/>
                <a:ea typeface="Inter" pitchFamily="34" charset="-122"/>
                <a:cs typeface="Inter" pitchFamily="34" charset="-120"/>
              </a:rPr>
              <a:t>A_t</a:t>
            </a:r>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a:t>
            </a:r>
            <a:endParaRPr lang="en-US" sz="950" dirty="0"/>
          </a:p>
          <a:p>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Gradient-based score (</a:t>
            </a:r>
            <a:pPr algn="l" lvl="1" marL="386080" indent="-193040">
              <a:lnSpc>
                <a:spcPct val="109000"/>
              </a:lnSpc>
              <a:buSzPct val="100000"/>
              <a:buChar char="◦"/>
            </a:pPr>
            <a:r>
              <a:rPr lang="en-US" sz="950" i="1" spc="-19" kern="0" dirty="0">
                <a:solidFill>
                  <a:srgbClr val="272525"/>
                </a:solidFill>
                <a:latin typeface="Inter" pitchFamily="34" charset="0"/>
                <a:ea typeface="Inter" pitchFamily="34" charset="-122"/>
                <a:cs typeface="Inter" pitchFamily="34" charset="-120"/>
              </a:rPr>
              <a:t>B_t</a:t>
            </a:r>
            <a:pPr algn="l" lvl="1" marL="38608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a:t>
            </a:r>
            <a:endParaRPr lang="en-US" sz="950" dirty="0"/>
          </a:p>
        </p:txBody>
      </p:sp>
      <p:sp>
        <p:nvSpPr>
          <p:cNvPr id="6" name="Text 4"/>
          <p:cNvSpPr/>
          <p:nvPr/>
        </p:nvSpPr>
        <p:spPr>
          <a:xfrm>
            <a:off x="661475" y="3496965"/>
            <a:ext cx="5286739" cy="227013"/>
          </a:xfrm>
          <a:prstGeom prst="rect">
            <a:avLst/>
          </a:prstGeom>
          <a:noFill/>
          <a:ln/>
        </p:spPr>
        <p:txBody>
          <a:bodyPr wrap="none" lIns="0" tIns="0" rIns="0" bIns="0" rtlCol="0" anchor="t"/>
          <a:lstStyle/>
          <a:p>
            <a:pPr algn="l" indent="0" marL="0">
              <a:lnSpc>
                <a:spcPct val="104000"/>
              </a:lnSpc>
              <a:buNone/>
            </a:pPr>
            <a:r>
              <a:rPr lang="en-US" sz="1400" b="1" spc="-43" kern="0" dirty="0">
                <a:solidFill>
                  <a:srgbClr val="000000"/>
                </a:solidFill>
                <a:latin typeface="Inter Bold" pitchFamily="34" charset="0"/>
                <a:ea typeface="Inter Bold" pitchFamily="34" charset="-122"/>
                <a:cs typeface="Inter Bold" pitchFamily="34" charset="-120"/>
              </a:rPr>
              <a:t>Audit Log:</a:t>
            </a:r>
            <a:endParaRPr lang="en-US" sz="1400" dirty="0"/>
          </a:p>
        </p:txBody>
      </p:sp>
      <p:sp>
        <p:nvSpPr>
          <p:cNvPr id="7" name="Text 5"/>
          <p:cNvSpPr/>
          <p:nvPr/>
        </p:nvSpPr>
        <p:spPr>
          <a:xfrm>
            <a:off x="661475" y="3801467"/>
            <a:ext cx="5286739" cy="616049"/>
          </a:xfrm>
          <a:prstGeom prst="rect">
            <a:avLst/>
          </a:prstGeom>
          <a:noFill/>
          <a:ln/>
        </p:spPr>
        <p:txBody>
          <a:bodyPr wrap="square" lIns="0" tIns="0" rIns="0" bIns="0" rtlCol="0" anchor="t"/>
          <a:lstStyle/>
          <a:p>
            <a:pPr algn="l" indent="0" marL="0">
              <a:lnSpc>
                <a:spcPct val="109000"/>
              </a:lnSpc>
              <a:spcAft>
                <a:spcPts val="500"/>
              </a:spcAft>
              <a:buNone/>
            </a:pPr>
            <a:r>
              <a:rPr lang="en-US" sz="950" spc="-19" kern="0" dirty="0">
                <a:solidFill>
                  <a:srgbClr val="272525"/>
                </a:solidFill>
                <a:latin typeface="Inter" pitchFamily="34" charset="0"/>
                <a:ea typeface="Inter" pitchFamily="34" charset="-122"/>
                <a:cs typeface="Inter" pitchFamily="34" charset="-120"/>
              </a:rPr>
              <a:t>AuditLog writes append-only JSON Lines records</a:t>
            </a:r>
            <a:endParaRPr lang="en-US" sz="950" dirty="0"/>
          </a:p>
          <a:p>
            <a:pPr algn="l" indent="0" marL="0">
              <a:lnSpc>
                <a:spcPct val="109000"/>
              </a:lnSpc>
              <a:spcAft>
                <a:spcPts val="500"/>
              </a:spcAft>
              <a:buNone/>
            </a:pPr>
            <a:r>
              <a:rPr lang="en-US" sz="950" spc="-19" kern="0" dirty="0">
                <a:solidFill>
                  <a:srgbClr val="272525"/>
                </a:solidFill>
                <a:latin typeface="Inter" pitchFamily="34" charset="0"/>
                <a:ea typeface="Inter" pitchFamily="34" charset="-122"/>
                <a:cs typeface="Inter" pitchFamily="34" charset="-120"/>
              </a:rPr>
              <a:t>Records support reproducibility, incident investigation, and operating-point analysis</a:t>
            </a:r>
            <a:endParaRPr lang="en-US" sz="950" dirty="0"/>
          </a:p>
          <a:p>
            <a:pPr algn="l" indent="0" marL="0">
              <a:lnSpc>
                <a:spcPct val="109000"/>
              </a:lnSpc>
              <a:buNone/>
            </a:pPr>
            <a:r>
              <a:rPr lang="en-US" sz="950" spc="-19" kern="0" dirty="0">
                <a:solidFill>
                  <a:srgbClr val="272525"/>
                </a:solidFill>
                <a:latin typeface="Inter" pitchFamily="34" charset="0"/>
                <a:ea typeface="Inter" pitchFamily="34" charset="-122"/>
                <a:cs typeface="Inter" pitchFamily="34" charset="-120"/>
              </a:rPr>
              <a:t>Each record contains timestamp, update index, decision, metrics, and state</a:t>
            </a:r>
            <a:endParaRPr lang="en-US" sz="950" dirty="0"/>
          </a:p>
        </p:txBody>
      </p:sp>
      <p:sp>
        <p:nvSpPr>
          <p:cNvPr id="8" name="Text 6"/>
          <p:cNvSpPr/>
          <p:nvPr/>
        </p:nvSpPr>
        <p:spPr>
          <a:xfrm>
            <a:off x="6249831" y="1101229"/>
            <a:ext cx="5286739" cy="302716"/>
          </a:xfrm>
          <a:prstGeom prst="rect">
            <a:avLst/>
          </a:prstGeom>
          <a:noFill/>
          <a:ln/>
        </p:spPr>
        <p:txBody>
          <a:bodyPr wrap="none" lIns="0" tIns="0" rIns="0" bIns="0" rtlCol="0" anchor="t"/>
          <a:lstStyle/>
          <a:p>
            <a:pPr algn="l" indent="0" marL="0">
              <a:lnSpc>
                <a:spcPct val="104000"/>
              </a:lnSpc>
              <a:buNone/>
            </a:pPr>
            <a:r>
              <a:rPr lang="en-US" sz="1900" b="1" spc="-57" kern="0" dirty="0">
                <a:solidFill>
                  <a:srgbClr val="000000"/>
                </a:solidFill>
                <a:latin typeface="Inter Bold" pitchFamily="34" charset="0"/>
                <a:ea typeface="Inter Bold" pitchFamily="34" charset="-122"/>
                <a:cs typeface="Inter Bold" pitchFamily="34" charset="-120"/>
              </a:rPr>
              <a:t>Evaluation Path</a:t>
            </a:r>
            <a:endParaRPr lang="en-US" sz="1900" dirty="0"/>
          </a:p>
        </p:txBody>
      </p:sp>
      <p:sp>
        <p:nvSpPr>
          <p:cNvPr id="9" name="Text 7"/>
          <p:cNvSpPr/>
          <p:nvPr/>
        </p:nvSpPr>
        <p:spPr>
          <a:xfrm>
            <a:off x="6249831" y="1434902"/>
            <a:ext cx="5286739" cy="227013"/>
          </a:xfrm>
          <a:prstGeom prst="rect">
            <a:avLst/>
          </a:prstGeom>
          <a:noFill/>
          <a:ln/>
        </p:spPr>
        <p:txBody>
          <a:bodyPr wrap="none" lIns="0" tIns="0" rIns="0" bIns="0" rtlCol="0" anchor="t"/>
          <a:lstStyle/>
          <a:p>
            <a:pPr algn="l" indent="0" marL="0">
              <a:lnSpc>
                <a:spcPct val="104000"/>
              </a:lnSpc>
              <a:buNone/>
            </a:pPr>
            <a:r>
              <a:rPr lang="en-US" sz="1400" b="1" spc="-43" kern="0" dirty="0">
                <a:solidFill>
                  <a:srgbClr val="000000"/>
                </a:solidFill>
                <a:latin typeface="Inter Bold" pitchFamily="34" charset="0"/>
                <a:ea typeface="Inter Bold" pitchFamily="34" charset="-122"/>
                <a:cs typeface="Inter Bold" pitchFamily="34" charset="-120"/>
              </a:rPr>
              <a:t>Baseline Reproduction:</a:t>
            </a:r>
            <a:endParaRPr lang="en-US" sz="1400" dirty="0"/>
          </a:p>
        </p:txBody>
      </p:sp>
      <p:sp>
        <p:nvSpPr>
          <p:cNvPr id="10" name="Text 8"/>
          <p:cNvSpPr/>
          <p:nvPr/>
        </p:nvSpPr>
        <p:spPr>
          <a:xfrm>
            <a:off x="6249831" y="1739404"/>
            <a:ext cx="5286739" cy="530721"/>
          </a:xfrm>
          <a:prstGeom prst="rect">
            <a:avLst/>
          </a:prstGeom>
          <a:noFill/>
          <a:ln/>
        </p:spPr>
        <p:txBody>
          <a:bodyPr wrap="square" lIns="0" tIns="48436" rIns="0" bIns="0" rtlCol="0" anchor="t">
            <a:normAutofit/>
          </a:bodyPr>
          <a:lstStyle/>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Unmodified TTT-E2E model (no TrustGate)</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Same seed, token count, chunking, dtype, checkpoint, and evaluation split</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Five independent seeds for statistical significance</a:t>
            </a:r>
            <a:endParaRPr lang="en-US" sz="950" dirty="0"/>
          </a:p>
        </p:txBody>
      </p:sp>
      <p:sp>
        <p:nvSpPr>
          <p:cNvPr id="11" name="Text 9"/>
          <p:cNvSpPr/>
          <p:nvPr/>
        </p:nvSpPr>
        <p:spPr>
          <a:xfrm>
            <a:off x="6249831" y="2347615"/>
            <a:ext cx="5286739" cy="227013"/>
          </a:xfrm>
          <a:prstGeom prst="rect">
            <a:avLst/>
          </a:prstGeom>
          <a:noFill/>
          <a:ln/>
        </p:spPr>
        <p:txBody>
          <a:bodyPr wrap="none" lIns="0" tIns="0" rIns="0" bIns="0" rtlCol="0" anchor="t"/>
          <a:lstStyle/>
          <a:p>
            <a:pPr algn="l" indent="0" marL="0">
              <a:lnSpc>
                <a:spcPct val="104000"/>
              </a:lnSpc>
              <a:buNone/>
            </a:pPr>
            <a:r>
              <a:rPr lang="en-US" sz="1400" b="1" spc="-43" kern="0" dirty="0">
                <a:solidFill>
                  <a:srgbClr val="000000"/>
                </a:solidFill>
                <a:latin typeface="Inter Bold" pitchFamily="34" charset="0"/>
                <a:ea typeface="Inter Bold" pitchFamily="34" charset="-122"/>
                <a:cs typeface="Inter Bold" pitchFamily="34" charset="-120"/>
              </a:rPr>
              <a:t>Attack Evaluation:</a:t>
            </a:r>
            <a:endParaRPr lang="en-US" sz="1400" dirty="0"/>
          </a:p>
        </p:txBody>
      </p:sp>
      <p:sp>
        <p:nvSpPr>
          <p:cNvPr id="12" name="Text 10"/>
          <p:cNvSpPr/>
          <p:nvPr/>
        </p:nvSpPr>
        <p:spPr>
          <a:xfrm>
            <a:off x="6249831" y="2652117"/>
            <a:ext cx="5286739" cy="716657"/>
          </a:xfrm>
          <a:prstGeom prst="rect">
            <a:avLst/>
          </a:prstGeom>
          <a:noFill/>
          <a:ln/>
        </p:spPr>
        <p:txBody>
          <a:bodyPr wrap="square" lIns="0" tIns="48436" rIns="0" bIns="0" rtlCol="0" anchor="t">
            <a:normAutofit/>
          </a:bodyPr>
          <a:lstStyle/>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Poison versus length-matched benign control</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SELECT is the headline; PARAPHRASE and SOFT reported separately</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Fluency scored by GPT-2 small — validated by logit equivalence</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Difficulty-matched and contiguous arms reported, non-gating</a:t>
            </a:r>
            <a:endParaRPr lang="en-US" sz="950" dirty="0"/>
          </a:p>
        </p:txBody>
      </p:sp>
      <p:sp>
        <p:nvSpPr>
          <p:cNvPr id="13" name="Text 11"/>
          <p:cNvSpPr/>
          <p:nvPr/>
        </p:nvSpPr>
        <p:spPr>
          <a:xfrm>
            <a:off x="6249831" y="3446264"/>
            <a:ext cx="5286739" cy="227013"/>
          </a:xfrm>
          <a:prstGeom prst="rect">
            <a:avLst/>
          </a:prstGeom>
          <a:noFill/>
          <a:ln/>
        </p:spPr>
        <p:txBody>
          <a:bodyPr wrap="none" lIns="0" tIns="0" rIns="0" bIns="0" rtlCol="0" anchor="t"/>
          <a:lstStyle/>
          <a:p>
            <a:pPr algn="l" indent="0" marL="0">
              <a:lnSpc>
                <a:spcPct val="104000"/>
              </a:lnSpc>
              <a:buNone/>
            </a:pPr>
            <a:r>
              <a:rPr lang="en-US" sz="1400" b="1" spc="-43" kern="0" dirty="0">
                <a:solidFill>
                  <a:srgbClr val="000000"/>
                </a:solidFill>
                <a:latin typeface="Inter Bold" pitchFamily="34" charset="0"/>
                <a:ea typeface="Inter Bold" pitchFamily="34" charset="-122"/>
                <a:cs typeface="Inter Bold" pitchFamily="34" charset="-120"/>
              </a:rPr>
              <a:t>Pre-Registered Attack Criteria:</a:t>
            </a:r>
            <a:endParaRPr lang="en-US" sz="1400" dirty="0"/>
          </a:p>
        </p:txBody>
      </p:sp>
      <p:sp>
        <p:nvSpPr>
          <p:cNvPr id="14" name="Text 12"/>
          <p:cNvSpPr/>
          <p:nvPr/>
        </p:nvSpPr>
        <p:spPr>
          <a:xfrm>
            <a:off x="6249831" y="3750766"/>
            <a:ext cx="5286739" cy="530721"/>
          </a:xfrm>
          <a:prstGeom prst="rect">
            <a:avLst/>
          </a:prstGeom>
          <a:noFill/>
          <a:ln/>
        </p:spPr>
        <p:txBody>
          <a:bodyPr wrap="square" lIns="0" tIns="48436" rIns="0" bIns="0" rtlCol="0" anchor="t">
            <a:normAutofit/>
          </a:bodyPr>
          <a:lstStyle/>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Cohen's d \ge 0.8; relative benign degradation \ge 10%</a:t>
            </a:r>
            <a:pPr algn="l" marL="193040" indent="-193040">
              <a:lnSpc>
                <a:spcPct val="109000"/>
              </a:lnSpc>
              <a:buSzPct val="100000"/>
              <a:buChar char="•"/>
            </a:pPr>
            <a:pPr algn="l" marL="193040" indent="-193040">
              <a:lnSpc>
                <a:spcPct val="109000"/>
              </a:lnSpc>
              <a:buSzPct val="100000"/>
              <a:buChar char="•"/>
            </a:pP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Fluency ratio \le 1.5, gated on the MAX across the five seeds</a:t>
            </a:r>
            <a:pPr algn="l" marL="193040" indent="-193040">
              <a:lnSpc>
                <a:spcPct val="109000"/>
              </a:lnSpc>
              <a:buSzPct val="100000"/>
              <a:buChar char="•"/>
            </a:pPr>
            <a:pPr algn="l" marL="193040" indent="-193040">
              <a:lnSpc>
                <a:spcPct val="109000"/>
              </a:lnSpc>
              <a:buSzPct val="100000"/>
              <a:buChar char="•"/>
            </a:pP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Thresholds CI-pinned to the frozen document — a bar cannot move silently</a:t>
            </a:r>
            <a:pPr algn="l" marL="193040" indent="-193040">
              <a:lnSpc>
                <a:spcPct val="109000"/>
              </a:lnSpc>
              <a:buSzPct val="100000"/>
              <a:buChar char="•"/>
            </a:pPr>
            <a:pPr algn="l" marL="193040" indent="-193040">
              <a:lnSpc>
                <a:spcPct val="109000"/>
              </a:lnSpc>
              <a:buSzPct val="100000"/>
              <a:buChar char="•"/>
            </a:pPr>
            <a:endParaRPr lang="en-US" sz="950" dirty="0"/>
          </a:p>
        </p:txBody>
      </p:sp>
      <p:sp>
        <p:nvSpPr>
          <p:cNvPr id="15" name="Text 13"/>
          <p:cNvSpPr/>
          <p:nvPr/>
        </p:nvSpPr>
        <p:spPr>
          <a:xfrm>
            <a:off x="6249831" y="4351238"/>
            <a:ext cx="5896324" cy="158849"/>
          </a:xfrm>
          <a:prstGeom prst="rect">
            <a:avLst/>
          </a:prstGeom>
          <a:noFill/>
          <a:ln/>
        </p:spPr>
        <p:txBody>
          <a:bodyPr wrap="none" lIns="0" tIns="0" rIns="0" bIns="0" rtlCol="0" anchor="t"/>
          <a:lstStyle/>
          <a:p>
            <a:pPr algn="l" indent="0" marL="0">
              <a:lnSpc>
                <a:spcPct val="109000"/>
              </a:lnSpc>
              <a:buNone/>
            </a:pPr>
            <a:r>
              <a:rPr lang="en-US" sz="950" spc="-19" kern="0" dirty="0">
                <a:solidFill>
                  <a:srgbClr val="272525"/>
                </a:solidFill>
                <a:latin typeface="Inter" pitchFamily="34" charset="0"/>
                <a:ea typeface="Inter" pitchFamily="34" charset="-122"/>
                <a:cs typeface="Inter" pitchFamily="34" charset="-120"/>
              </a:rPr>
              <a:t>If any criterion fails: STOP or document a justified revision</a:t>
            </a:r>
            <a:endParaRPr lang="en-US" sz="950" dirty="0"/>
          </a:p>
        </p:txBody>
      </p:sp>
      <p:sp>
        <p:nvSpPr>
          <p:cNvPr id="16" name="Text 14"/>
          <p:cNvSpPr/>
          <p:nvPr/>
        </p:nvSpPr>
        <p:spPr>
          <a:xfrm>
            <a:off x="661475" y="4696123"/>
            <a:ext cx="10868745" cy="302716"/>
          </a:xfrm>
          <a:prstGeom prst="rect">
            <a:avLst/>
          </a:prstGeom>
          <a:noFill/>
          <a:ln/>
        </p:spPr>
        <p:txBody>
          <a:bodyPr wrap="none" lIns="0" tIns="0" rIns="0" bIns="0" rtlCol="0" anchor="t"/>
          <a:lstStyle/>
          <a:p>
            <a:pPr algn="l" indent="0" marL="0">
              <a:lnSpc>
                <a:spcPct val="104000"/>
              </a:lnSpc>
              <a:buNone/>
            </a:pPr>
            <a:r>
              <a:rPr lang="en-US" sz="1900" b="1" spc="-57" kern="0" dirty="0">
                <a:solidFill>
                  <a:srgbClr val="000000"/>
                </a:solidFill>
                <a:latin typeface="Inter Bold" pitchFamily="34" charset="0"/>
                <a:ea typeface="Inter Bold" pitchFamily="34" charset="-122"/>
                <a:cs typeface="Inter Bold" pitchFamily="34" charset="-120"/>
              </a:rPr>
              <a:t>Evaluation Metrics:</a:t>
            </a:r>
            <a:endParaRPr lang="en-US" sz="1900" dirty="0"/>
          </a:p>
        </p:txBody>
      </p:sp>
      <p:sp>
        <p:nvSpPr>
          <p:cNvPr id="17" name="Text 15"/>
          <p:cNvSpPr/>
          <p:nvPr/>
        </p:nvSpPr>
        <p:spPr>
          <a:xfrm>
            <a:off x="661475" y="5184874"/>
            <a:ext cx="5286739" cy="902593"/>
          </a:xfrm>
          <a:prstGeom prst="rect">
            <a:avLst/>
          </a:prstGeom>
          <a:noFill/>
          <a:ln/>
        </p:spPr>
        <p:txBody>
          <a:bodyPr wrap="square" lIns="0" tIns="48436" rIns="0" bIns="0" rtlCol="0" anchor="t">
            <a:normAutofit/>
          </a:bodyPr>
          <a:lstStyle/>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Corruption metric (attack success)</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Trigger attack success rate</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Clean regression (benign performance)</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Acceptance/rejection rate</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Rollback frequency</a:t>
            </a:r>
            <a:endParaRPr lang="en-US" sz="950" dirty="0"/>
          </a:p>
        </p:txBody>
      </p:sp>
      <p:sp>
        <p:nvSpPr>
          <p:cNvPr id="18" name="Text 16"/>
          <p:cNvSpPr/>
          <p:nvPr/>
        </p:nvSpPr>
        <p:spPr>
          <a:xfrm>
            <a:off x="6249831" y="5184874"/>
            <a:ext cx="5286739" cy="530721"/>
          </a:xfrm>
          <a:prstGeom prst="rect">
            <a:avLst/>
          </a:prstGeom>
          <a:noFill/>
          <a:ln/>
        </p:spPr>
        <p:txBody>
          <a:bodyPr wrap="square" lIns="0" tIns="48436" rIns="0" bIns="0" rtlCol="0" anchor="t">
            <a:normAutofit/>
          </a:bodyPr>
          <a:lstStyle/>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Gate overhead (latency, memory)</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Checkpoint memory consumption</a:t>
            </a:r>
            <a:endParaRPr lang="en-US" sz="950" dirty="0"/>
          </a:p>
          <a:p>
            <a:pPr algn="l" marL="193040" indent="-193040">
              <a:lnSpc>
                <a:spcPct val="109000"/>
              </a:lnSpc>
              <a:buSzPct val="100000"/>
              <a:buChar char="•"/>
            </a:pPr>
            <a:r>
              <a:rPr lang="en-US" sz="950" spc="-19" kern="0" dirty="0">
                <a:solidFill>
                  <a:srgbClr val="272525"/>
                </a:solidFill>
                <a:latin typeface="Inter" pitchFamily="34" charset="0"/>
                <a:ea typeface="Inter" pitchFamily="34" charset="-122"/>
                <a:cs typeface="Inter" pitchFamily="34" charset="-120"/>
              </a:rPr>
              <a:t>Audit completeness and reproducibility</a:t>
            </a:r>
            <a:endParaRPr lang="en-US" sz="950" dirty="0"/>
          </a:p>
        </p:txBody>
      </p:sp>
      <p:sp>
        <p:nvSpPr>
          <p:cNvPr id="19" name="Text 17"/>
          <p:cNvSpPr/>
          <p:nvPr/>
        </p:nvSpPr>
        <p:spPr>
          <a:xfrm>
            <a:off x="356682" y="6201767"/>
            <a:ext cx="11478330" cy="127099"/>
          </a:xfrm>
          <a:prstGeom prst="rect">
            <a:avLst/>
          </a:prstGeom>
          <a:noFill/>
          <a:ln/>
        </p:spPr>
        <p:txBody>
          <a:bodyPr wrap="none" lIns="0" tIns="0" rIns="0" bIns="0" rtlCol="0" anchor="t"/>
          <a:lstStyle/>
          <a:p>
            <a:pPr algn="ctr" indent="0" marL="0">
              <a:lnSpc>
                <a:spcPct val="109000"/>
              </a:lnSpc>
              <a:buNone/>
            </a:pPr>
            <a:r>
              <a:rPr lang="en-US" sz="750" spc="-19"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567432"/>
            <a:ext cx="10868745" cy="406003"/>
          </a:xfrm>
          <a:prstGeom prst="rect">
            <a:avLst/>
          </a:prstGeom>
          <a:noFill/>
          <a:ln/>
        </p:spPr>
        <p:txBody>
          <a:bodyPr wrap="none" lIns="0" tIns="0" rIns="0" bIns="0" rtlCol="0" anchor="t"/>
          <a:lstStyle/>
          <a:p>
            <a:pPr algn="l" indent="0" marL="0">
              <a:lnSpc>
                <a:spcPct val="104000"/>
              </a:lnSpc>
              <a:buNone/>
            </a:pPr>
            <a:r>
              <a:rPr lang="en-US" sz="2550" b="1" spc="-77" kern="0" dirty="0">
                <a:solidFill>
                  <a:srgbClr val="000000"/>
                </a:solidFill>
                <a:latin typeface="Inter Bold" pitchFamily="34" charset="0"/>
                <a:ea typeface="Inter Bold" pitchFamily="34" charset="-122"/>
                <a:cs typeface="Inter Bold" pitchFamily="34" charset="-120"/>
              </a:rPr>
              <a:t>Current Implementation Status: Phase 1 CPU Implementation Complete</a:t>
            </a:r>
            <a:endParaRPr lang="en-US" sz="25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1475" y="1152029"/>
          <a:ext cx="9143771" cy="914400"/>
        </p:xfrm>
        <a:graphic>
          <a:graphicData uri="http://schemas.openxmlformats.org/drawingml/2006/table">
            <a:tbl>
              <a:tblPr/>
              <a:tblGrid>
                <a:gridCol w="5434373"/>
                <a:gridCol w="5434373"/>
              </a:tblGrid>
              <a:tr h="366703">
                <a:tc>
                  <a:txBody>
                    <a:bodyPr/>
                    <a:lstStyle/>
                    <a:p>
                      <a:pPr indent="0" marL="0">
                        <a:buNone/>
                      </a:pPr>
                      <a:r>
                        <a:rPr lang="en-US" sz="1500" b="1" spc="-46" kern="0" dirty="0">
                          <a:solidFill>
                            <a:srgbClr val="272525"/>
                          </a:solidFill>
                          <a:latin typeface="Inter" pitchFamily="34" charset="0"/>
                          <a:ea typeface="Inter" pitchFamily="34" charset="-122"/>
                          <a:cs typeface="Inter" pitchFamily="34" charset="-120"/>
                        </a:rPr>
                        <a:t>Implemented and CPU-Tested (197 tests passing)</a:t>
                      </a:r>
                      <a:endParaRPr lang="en-US" sz="1500" dirty="0">
                        <a:latin typeface="Inter" charset="0"/>
                        <a:ea typeface="Inter" charset="0"/>
                        <a:cs typeface="Inter" charset="0"/>
                      </a:endParaRPr>
                    </a:p>
                  </a:txBody>
                  <a:tcPr marL="129950" marR="129950" marT="6350" marB="6350" anchor="ctr">
                    <a:lnL w="12700" cap="flat" cmpd="sng" algn="ctr">
                      <a:solidFill>
                        <a:srgbClr val="C0C1D7"/>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500" b="1" spc="-46" kern="0" dirty="0">
                          <a:solidFill>
                            <a:srgbClr val="272525"/>
                          </a:solidFill>
                          <a:latin typeface="Inter" pitchFamily="34" charset="0"/>
                          <a:ea typeface="Inter" pitchFamily="34" charset="-122"/>
                          <a:cs typeface="Inter" pitchFamily="34" charset="-120"/>
                        </a:rPr>
                        <a:t>Pending: model-gated or deliberately deferred</a:t>
                      </a:r>
                      <a:endParaRPr lang="en-US" sz="1500" dirty="0">
                        <a:latin typeface="Inter" charset="0"/>
                        <a:ea typeface="Inter" charset="0"/>
                        <a:cs typeface="Inter" charset="0"/>
                      </a:endParaRPr>
                    </a:p>
                  </a:txBody>
                  <a:tcPr marL="129950" marR="129950" marT="6350" marB="6350" anchor="ctr">
                    <a:lnL w="12700" cap="flat" cmpd="sng" algn="ctr">
                      <a:solidFill>
                        <a:srgbClr val="FFFFFF"/>
                      </a:solidFill>
                      <a:prstDash val="solid"/>
                      <a:round/>
                      <a:headEnd type="none" w="med" len="med"/>
                      <a:tailEnd type="none" w="med" len="med"/>
                    </a:lnL>
                    <a:lnR w="12700" cap="flat" cmpd="sng" algn="ctr">
                      <a:solidFill>
                        <a:srgbClr val="C0C1D7"/>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r>
              <a:tr h="1828800">
                <a:tc>
                  <a:txBody>
                    <a:bodyPr/>
                    <a:lstStyle/>
                    <a:p>
                      <a:pPr indent="0" marL="0">
                        <a:buNone/>
                      </a:pPr>
                      <a:r>
                        <a:rPr lang="en-US" sz="1000" spc="-20" kern="0" dirty="0">
                          <a:solidFill>
                            <a:srgbClr val="272525"/>
                          </a:solidFill>
                          <a:latin typeface="Inter" pitchFamily="34" charset="0"/>
                          <a:ea typeface="Inter" pitchFamily="34" charset="-122"/>
                          <a:cs typeface="Inter" pitchFamily="34" charset="-120"/>
                        </a:rPr>
                        <a:t>Pytree subtraction, addition, selection, global norm</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Update interceptor; pass-through and norm-threshold gates</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Latching drift accumulator; fixed-depth versioned store</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Fast-weight carry across chunks and sequences (ADR-006)</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Attack objectives: DEGRADE and TRIGGER, on the victim's own loss</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Token corpus and crafted-stream builders (ADR-007)</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Poison/control matching discipline — 13 asserted fields</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Spike orchestration, verdict report, harness CLI</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Independent fluency reference model and scorer</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Corruption metrics, clean regression, audit logging</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Continuous integration over the CPU suite</a:t>
                      </a:r>
                      <a:endParaRPr lang="en-US" sz="1000" dirty="0">
                        <a:latin typeface="Inter" charset="0"/>
                        <a:ea typeface="Inter" charset="0"/>
                        <a:cs typeface="Inter" charset="0"/>
                      </a:endParaRPr>
                    </a:p>
                  </a:txBody>
                  <a:tcPr marL="129950" marR="129950" marT="6350" marB="6350" anchor="ctr">
                    <a:lnL w="12700" cap="flat" cmpd="sng" algn="ctr">
                      <a:solidFill>
                        <a:srgbClr val="C0C1D7"/>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c>
                  <a:txBody>
                    <a:bodyPr/>
                    <a:lstStyle/>
                    <a:p>
                      <a:pPr indent="0" marL="0">
                        <a:buNone/>
                      </a:pPr>
                      <a:r>
                        <a:rPr lang="en-US" sz="1000" spc="-20" kern="0" dirty="0">
                          <a:solidFill>
                            <a:srgbClr val="272525"/>
                          </a:solidFill>
                          <a:latin typeface="Inter" pitchFamily="34" charset="0"/>
                          <a:ea typeface="Inter" pitchFamily="34" charset="-122"/>
                          <a:cs typeface="Inter" pitchFamily="34" charset="-120"/>
                        </a:rPr>
                        <a:t>Frozen-anchor consistency gate (Phase 2, by design)</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Rotating probe generation (Phase 2, by design)</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Uncertainty gate and decision policy (Phase 2, by design)</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Offline influence auditor (Phase 2, by design)</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MedBN-analogue robust aggregation baseline</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Binding the carry overlay to the real vendor model</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Adversarial stream search (craft_stream)</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TTT-E2E baseline reproduction — needs GPU and checkpoint</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Five-seed attack spike and the PROCEED/STOP verdict</a:t>
                      </a:r>
                      <a:endParaRPr lang="en-US" sz="1000" dirty="0">
                        <a:latin typeface="Inter" charset="0"/>
                        <a:ea typeface="Inter" charset="0"/>
                        <a:cs typeface="Inter" charset="0"/>
                      </a:endParaRPr>
                    </a:p>
                    <a:p>
                      <a:pPr indent="0" marL="0">
                        <a:buNone/>
                      </a:pPr>
                      <a:r>
                        <a:rPr lang="en-US" sz="1000" spc="-20" kern="0" dirty="0">
                          <a:solidFill>
                            <a:srgbClr val="272525"/>
                          </a:solidFill>
                          <a:latin typeface="Inter" pitchFamily="34" charset="0"/>
                          <a:ea typeface="Inter" pitchFamily="34" charset="-122"/>
                          <a:cs typeface="Inter" pitchFamily="34" charset="-120"/>
                        </a:rPr>
                        <a:t>Wiring the drift accumulator into the interceptor</a:t>
                      </a:r>
                      <a:endParaRPr lang="en-US" sz="1000" dirty="0">
                        <a:latin typeface="Inter" charset="0"/>
                        <a:ea typeface="Inter" charset="0"/>
                        <a:cs typeface="Inter" charset="0"/>
                      </a:endParaRPr>
                    </a:p>
                  </a:txBody>
                  <a:tcPr marL="129950" marR="129950" marT="6350" marB="6350" anchor="ctr">
                    <a:lnL w="12700" cap="flat" cmpd="sng" algn="ctr">
                      <a:solidFill>
                        <a:srgbClr val="FFFFFF"/>
                      </a:solidFill>
                      <a:prstDash val="solid"/>
                      <a:round/>
                      <a:headEnd type="none" w="med" len="med"/>
                      <a:tailEnd type="none" w="med" len="med"/>
                    </a:lnL>
                    <a:lnR w="12700" cap="flat" cmpd="sng" algn="ctr">
                      <a:solidFill>
                        <a:srgbClr val="C0C1D7"/>
                      </a:solidFill>
                      <a:prstDash val="solid"/>
                      <a:round/>
                      <a:headEnd type="none" w="med" len="med"/>
                      <a:tailEnd type="none" w="med" len="med"/>
                    </a:lnR>
                    <a:lnT w="12700" cap="flat" cmpd="sng" algn="ctr">
                      <a:solidFill>
                        <a:srgbClr val="C0C1D7"/>
                      </a:solidFill>
                      <a:prstDash val="solid"/>
                      <a:round/>
                      <a:headEnd type="none" w="med" len="med"/>
                      <a:tailEnd type="none" w="med" len="med"/>
                    </a:lnT>
                    <a:lnB w="12700" cap="flat" cmpd="sng" algn="ctr">
                      <a:solidFill>
                        <a:srgbClr val="C0C1D7"/>
                      </a:solidFill>
                      <a:prstDash val="solid"/>
                      <a:round/>
                      <a:headEnd type="none" w="med" len="med"/>
                      <a:tailEnd type="none" w="med" len="med"/>
                    </a:lnB>
                  </a:tcPr>
                </a:tc>
              </a:tr>
            </a:tbl>
          </a:graphicData>
        </a:graphic>
      </p:graphicFrame>
      <p:sp>
        <p:nvSpPr>
          <p:cNvPr id="4" name="Text 1"/>
          <p:cNvSpPr/>
          <p:nvPr/>
        </p:nvSpPr>
        <p:spPr>
          <a:xfrm>
            <a:off x="661475" y="3756918"/>
            <a:ext cx="10868745" cy="324941"/>
          </a:xfrm>
          <a:prstGeom prst="rect">
            <a:avLst/>
          </a:prstGeom>
          <a:noFill/>
          <a:ln/>
        </p:spPr>
        <p:txBody>
          <a:bodyPr wrap="none" lIns="0" tIns="0" rIns="0" bIns="0" rtlCol="0" anchor="t"/>
          <a:lstStyle/>
          <a:p>
            <a:pPr algn="l" indent="0" marL="0">
              <a:lnSpc>
                <a:spcPct val="104000"/>
              </a:lnSpc>
              <a:buNone/>
            </a:pPr>
            <a:r>
              <a:rPr lang="en-US" sz="2000" b="1" spc="-61" kern="0" dirty="0">
                <a:solidFill>
                  <a:srgbClr val="000000"/>
                </a:solidFill>
                <a:latin typeface="Inter Bold" pitchFamily="34" charset="0"/>
                <a:ea typeface="Inter Bold" pitchFamily="34" charset="-122"/>
                <a:cs typeface="Inter Bold" pitchFamily="34" charset="-120"/>
              </a:rPr>
              <a:t>Project Timeline:</a:t>
            </a:r>
            <a:endParaRPr lang="en-US" sz="2000" dirty="0"/>
          </a:p>
        </p:txBody>
      </p:sp>
      <p:sp>
        <p:nvSpPr>
          <p:cNvPr id="5" name="Text 2"/>
          <p:cNvSpPr/>
          <p:nvPr/>
        </p:nvSpPr>
        <p:spPr>
          <a:xfrm>
            <a:off x="661475" y="4215805"/>
            <a:ext cx="10868745" cy="588764"/>
          </a:xfrm>
          <a:prstGeom prst="rect">
            <a:avLst/>
          </a:prstGeom>
          <a:noFill/>
          <a:ln/>
        </p:spPr>
        <p:txBody>
          <a:bodyPr wrap="square" lIns="0" tIns="51980" rIns="0" bIns="0" rtlCol="0" anchor="t">
            <a:normAutofit/>
          </a:bodyPr>
          <a:lstStyle/>
          <a:p>
            <a:pPr algn="l" marL="203200" indent="-203200">
              <a:lnSpc>
                <a:spcPct val="113000"/>
              </a:lnSpc>
              <a:buSzPct val="100000"/>
              <a:buChar char="•"/>
            </a:pPr>
            <a:r>
              <a:rPr lang="en-US" sz="1000" spc="-20" kern="0" dirty="0">
                <a:solidFill>
                  <a:srgbClr val="272525"/>
                </a:solidFill>
                <a:latin typeface="Inter" pitchFamily="34" charset="0"/>
                <a:ea typeface="Inter" pitchFamily="34" charset="-122"/>
                <a:cs typeface="Inter" pitchFamily="34" charset="-120"/>
              </a:rPr>
              <a:t>Phase 0.4: desk preparation complete — eval command, pre-registered bar, cost model</a:t>
            </a:r>
            <a:endParaRPr lang="en-US" sz="1000" dirty="0"/>
          </a:p>
          <a:p>
            <a:pPr algn="l" marL="203200" indent="-203200">
              <a:lnSpc>
                <a:spcPct val="113000"/>
              </a:lnSpc>
              <a:buSzPct val="100000"/>
              <a:buChar char="•"/>
            </a:pPr>
            <a:r>
              <a:rPr lang="en-US" sz="1000" spc="-20" kern="0" dirty="0">
                <a:solidFill>
                  <a:srgbClr val="272525"/>
                </a:solidFill>
                <a:latin typeface="Inter" pitchFamily="34" charset="0"/>
                <a:ea typeface="Inter" pitchFamily="34" charset="-122"/>
                <a:cs typeface="Inter" pitchFamily="34" charset="-120"/>
              </a:rPr>
              <a:t>Phase 1 (CPU): complete — attack machinery, harness and instrument built and tested</a:t>
            </a:r>
            <a:endParaRPr lang="en-US" sz="1000" dirty="0"/>
          </a:p>
          <a:p>
            <a:pPr algn="l" marL="203200" indent="-203200">
              <a:lnSpc>
                <a:spcPct val="113000"/>
              </a:lnSpc>
              <a:buSzPct val="100000"/>
              <a:buChar char="•"/>
            </a:pPr>
            <a:r>
              <a:rPr lang="en-US" sz="1000" spc="-20" kern="0" dirty="0">
                <a:solidFill>
                  <a:srgbClr val="272525"/>
                </a:solidFill>
                <a:latin typeface="Inter" pitchFamily="34" charset="0"/>
                <a:ea typeface="Inter" pitchFamily="34" charset="-122"/>
                <a:cs typeface="Inter" pitchFamily="34" charset="-120"/>
              </a:rPr>
              <a:t>Phase 1 (GPU): blocked on a W&amp;B key and checkpoint · Phase 2: only if the spike says PROCEED</a:t>
            </a:r>
            <a:endParaRPr lang="en-US" sz="1000" dirty="0"/>
          </a:p>
        </p:txBody>
      </p:sp>
      <p:sp>
        <p:nvSpPr>
          <p:cNvPr id="6" name="Text 3"/>
          <p:cNvSpPr/>
          <p:nvPr/>
        </p:nvSpPr>
        <p:spPr>
          <a:xfrm>
            <a:off x="661475" y="4938514"/>
            <a:ext cx="10868745" cy="324941"/>
          </a:xfrm>
          <a:prstGeom prst="rect">
            <a:avLst/>
          </a:prstGeom>
          <a:noFill/>
          <a:ln/>
        </p:spPr>
        <p:txBody>
          <a:bodyPr wrap="none" lIns="0" tIns="0" rIns="0" bIns="0" rtlCol="0" anchor="t"/>
          <a:lstStyle/>
          <a:p>
            <a:pPr algn="l" indent="0" marL="0">
              <a:lnSpc>
                <a:spcPct val="104000"/>
              </a:lnSpc>
              <a:buNone/>
            </a:pPr>
            <a:r>
              <a:rPr lang="en-US" sz="2000" b="1" spc="-61" kern="0" dirty="0">
                <a:solidFill>
                  <a:srgbClr val="000000"/>
                </a:solidFill>
                <a:latin typeface="Inter Bold" pitchFamily="34" charset="0"/>
                <a:ea typeface="Inter Bold" pitchFamily="34" charset="-122"/>
                <a:cs typeface="Inter Bold" pitchFamily="34" charset="-120"/>
              </a:rPr>
              <a:t>Critical Disclaimer:</a:t>
            </a:r>
            <a:endParaRPr lang="en-US" sz="2000" dirty="0"/>
          </a:p>
        </p:txBody>
      </p:sp>
      <p:sp>
        <p:nvSpPr>
          <p:cNvPr id="7" name="Text 4"/>
          <p:cNvSpPr/>
          <p:nvPr/>
        </p:nvSpPr>
        <p:spPr>
          <a:xfrm>
            <a:off x="856336" y="5497909"/>
            <a:ext cx="11283469" cy="175419"/>
          </a:xfrm>
          <a:prstGeom prst="rect">
            <a:avLst/>
          </a:prstGeom>
          <a:noFill/>
          <a:ln/>
        </p:spPr>
        <p:txBody>
          <a:bodyPr wrap="none" lIns="0" tIns="0" rIns="0" bIns="0" rtlCol="0" anchor="t"/>
          <a:lstStyle/>
          <a:p>
            <a:pPr algn="l" indent="0" marL="0">
              <a:lnSpc>
                <a:spcPct val="113000"/>
              </a:lnSpc>
              <a:buNone/>
            </a:pPr>
            <a:r>
              <a:rPr lang="en-US" sz="1000" spc="-20" kern="0" dirty="0">
                <a:solidFill>
                  <a:srgbClr val="272525"/>
                </a:solidFill>
                <a:latin typeface="Inter" pitchFamily="34" charset="0"/>
                <a:ea typeface="Inter" pitchFamily="34" charset="-122"/>
                <a:cs typeface="Inter" pitchFamily="34" charset="-120"/>
              </a:rPr>
              <a:t>No completed model-backed attack or defense result is claimed in the current artifact.</a:t>
            </a:r>
            <a:endParaRPr lang="en-US" sz="1000" dirty="0"/>
          </a:p>
        </p:txBody>
      </p:sp>
      <p:sp>
        <p:nvSpPr>
          <p:cNvPr id="8" name="Shape 5"/>
          <p:cNvSpPr/>
          <p:nvPr/>
        </p:nvSpPr>
        <p:spPr>
          <a:xfrm>
            <a:off x="661475" y="5397401"/>
            <a:ext cx="19050" cy="376436"/>
          </a:xfrm>
          <a:prstGeom prst="roundRect">
            <a:avLst>
              <a:gd name="adj" fmla="val 49999"/>
            </a:avLst>
          </a:prstGeom>
          <a:solidFill>
            <a:srgbClr val="4950BC"/>
          </a:solidFill>
          <a:ln/>
        </p:spPr>
        <p:txBody>
          <a:bodyPr/>
          <a:p/>
        </p:txBody>
      </p:sp>
      <p:sp>
        <p:nvSpPr>
          <p:cNvPr id="9" name="Text 6"/>
          <p:cNvSpPr/>
          <p:nvPr/>
        </p:nvSpPr>
        <p:spPr>
          <a:xfrm>
            <a:off x="661475" y="5874345"/>
            <a:ext cx="11478330" cy="175419"/>
          </a:xfrm>
          <a:prstGeom prst="rect">
            <a:avLst/>
          </a:prstGeom>
          <a:noFill/>
          <a:ln/>
        </p:spPr>
        <p:txBody>
          <a:bodyPr wrap="none" lIns="0" tIns="0" rIns="0" bIns="0" rtlCol="0" anchor="t"/>
          <a:lstStyle/>
          <a:p>
            <a:pPr algn="l" indent="0" marL="0">
              <a:lnSpc>
                <a:spcPct val="113000"/>
              </a:lnSpc>
              <a:buNone/>
            </a:pPr>
            <a:r>
              <a:rPr lang="en-US" sz="1000" spc="-20" kern="0" dirty="0">
                <a:solidFill>
                  <a:srgbClr val="272525"/>
                </a:solidFill>
                <a:latin typeface="Inter" pitchFamily="34" charset="0"/>
                <a:ea typeface="Inter" pitchFamily="34" charset="-122"/>
                <a:cs typeface="Inter" pitchFamily="34" charset="-120"/>
              </a:rPr>
              <a:t>Runnable end to end on CPU and validated. Before any number: a W&amp;B key (the vendor authenticates before eval runs), then checkpoint access. Spend $0 of $325.</a:t>
            </a:r>
            <a:endParaRPr lang="en-US" sz="1000" dirty="0"/>
          </a:p>
        </p:txBody>
      </p:sp>
      <p:sp>
        <p:nvSpPr>
          <p:cNvPr id="10" name="Text 7"/>
          <p:cNvSpPr/>
          <p:nvPr/>
        </p:nvSpPr>
        <p:spPr>
          <a:xfrm>
            <a:off x="356682" y="6150273"/>
            <a:ext cx="11478330" cy="140295"/>
          </a:xfrm>
          <a:prstGeom prst="rect">
            <a:avLst/>
          </a:prstGeom>
          <a:noFill/>
          <a:ln/>
        </p:spPr>
        <p:txBody>
          <a:bodyPr wrap="none" lIns="0" tIns="0" rIns="0" bIns="0" rtlCol="0" anchor="t"/>
          <a:lstStyle/>
          <a:p>
            <a:pPr algn="ctr" indent="0" marL="0">
              <a:lnSpc>
                <a:spcPct val="112000"/>
              </a:lnSpc>
              <a:buNone/>
            </a:pPr>
            <a:r>
              <a:rPr lang="en-US" sz="800" spc="-20"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614958"/>
            <a:ext cx="10868745" cy="295275"/>
          </a:xfrm>
          <a:prstGeom prst="rect">
            <a:avLst/>
          </a:prstGeom>
          <a:noFill/>
          <a:ln/>
        </p:spPr>
        <p:txBody>
          <a:bodyPr wrap="none" lIns="0" tIns="0" rIns="0" bIns="0" rtlCol="0" anchor="t"/>
          <a:lstStyle/>
          <a:p>
            <a:pPr algn="ctr"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Limitations, Future Directions, and Final Remarks</a:t>
            </a:r>
            <a:endParaRPr lang="en-US" sz="1850" dirty="0"/>
          </a:p>
        </p:txBody>
      </p:sp>
      <p:sp>
        <p:nvSpPr>
          <p:cNvPr id="3" name="Text 1"/>
          <p:cNvSpPr/>
          <p:nvPr/>
        </p:nvSpPr>
        <p:spPr>
          <a:xfrm>
            <a:off x="661475" y="929084"/>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Limitations:</a:t>
            </a:r>
            <a:endParaRPr lang="en-US" sz="1450" dirty="0"/>
          </a:p>
        </p:txBody>
      </p:sp>
      <p:sp>
        <p:nvSpPr>
          <p:cNvPr id="4" name="Text 2"/>
          <p:cNvSpPr/>
          <p:nvPr/>
        </p:nvSpPr>
        <p:spPr>
          <a:xfrm>
            <a:off x="661475" y="1184176"/>
            <a:ext cx="10868745"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Technical Constraints:</a:t>
            </a:r>
            <a:endParaRPr lang="en-US" sz="1100" dirty="0"/>
          </a:p>
        </p:txBody>
      </p:sp>
      <p:sp>
        <p:nvSpPr>
          <p:cNvPr id="5" name="Text 3"/>
          <p:cNvSpPr/>
          <p:nvPr/>
        </p:nvSpPr>
        <p:spPr>
          <a:xfrm>
            <a:off x="661475" y="1432223"/>
            <a:ext cx="10868745" cy="762794"/>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Core gate signals and model-backed experiments are not yet implemented</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Checkpoint and GPU access are required for end-to-end validation</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The vendor integration is coupled to a pinned commit and monkeypatch call-site shape</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Anchor probe size, rotation schedule, and divergence measure remain open design choices</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Extra anchor passes may challenge the approximately 10% overhead target</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Checkpoint memory can compete with activation memory for billion-parameter models</a:t>
            </a:r>
            <a:endParaRPr lang="en-US" sz="700" dirty="0"/>
          </a:p>
        </p:txBody>
      </p:sp>
      <p:sp>
        <p:nvSpPr>
          <p:cNvPr id="6" name="Text 4"/>
          <p:cNvSpPr/>
          <p:nvPr/>
        </p:nvSpPr>
        <p:spPr>
          <a:xfrm>
            <a:off x="661475" y="2265859"/>
            <a:ext cx="10868745"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Behavioral and Threat Model Limitations:</a:t>
            </a:r>
            <a:endParaRPr lang="en-US" sz="1100" dirty="0"/>
          </a:p>
        </p:txBody>
      </p:sp>
      <p:sp>
        <p:nvSpPr>
          <p:cNvPr id="7" name="Text 5"/>
          <p:cNvSpPr/>
          <p:nvPr/>
        </p:nvSpPr>
        <p:spPr>
          <a:xfrm>
            <a:off x="661475" y="2513905"/>
            <a:ext cx="10868745" cy="632916"/>
          </a:xfrm>
          <a:prstGeom prst="rect">
            <a:avLst/>
          </a:prstGeom>
          <a:noFill/>
          <a:ln/>
        </p:spPr>
        <p:txBody>
          <a:bodyPr wrap="square" lIns="0" tIns="37804" rIns="0" bIns="0" rtlCol="0" anchor="t">
            <a:normAutofit/>
          </a:bodyPr>
          <a:lstStyle/>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A behavioral gate can produce false rejects or accepts; the uncertainty signal may miss slow, low-variance poisoning</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The threat model assumes the fast-weight update path is exposed to an untrusted stream</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The MedBN prior-art comparison still requires a formal line-level review</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Perplexity rewards repetition (1.90 vs 19.98 for fluent prose), so the fluency bar cannot catch a repetitive stream — span reuse is reported separately</a:t>
            </a:r>
            <a:endParaRPr lang="en-US" sz="700" dirty="0"/>
          </a:p>
          <a:p>
            <a:pPr algn="l" marL="142240" indent="-142240">
              <a:lnSpc>
                <a:spcPct val="100000"/>
              </a:lnSpc>
              <a:buSzPct val="100000"/>
              <a:buChar char="•"/>
            </a:pPr>
            <a:r>
              <a:rPr lang="en-US" sz="700" spc="-15" kern="0" dirty="0">
                <a:solidFill>
                  <a:srgbClr val="272525"/>
                </a:solidFill>
                <a:latin typeface="Inter" pitchFamily="34" charset="0"/>
                <a:ea typeface="Inter" pitchFamily="34" charset="-122"/>
                <a:cs typeface="Inter" pitchFamily="34" charset="-120"/>
              </a:rPr>
              <a:t>Repository public by decision (2026-08-01); absolute-novelty jurisdictions forfeit, US filing deadline ~2027-08-01</a:t>
            </a:r>
            <a:endParaRPr lang="en-US" sz="700" dirty="0"/>
          </a:p>
        </p:txBody>
      </p:sp>
      <p:sp>
        <p:nvSpPr>
          <p:cNvPr id="8" name="Text 6"/>
          <p:cNvSpPr/>
          <p:nvPr/>
        </p:nvSpPr>
        <p:spPr>
          <a:xfrm>
            <a:off x="661475" y="3217664"/>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Future Scope:</a:t>
            </a:r>
            <a:endParaRPr lang="en-US" sz="1450" dirty="0"/>
          </a:p>
        </p:txBody>
      </p:sp>
      <p:sp>
        <p:nvSpPr>
          <p:cNvPr id="9" name="Text 7"/>
          <p:cNvSpPr/>
          <p:nvPr/>
        </p:nvSpPr>
        <p:spPr>
          <a:xfrm>
            <a:off x="661475" y="3472755"/>
            <a:ext cx="10868745"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Immediate Next Steps:</a:t>
            </a:r>
            <a:endParaRPr lang="en-US" sz="1100" dirty="0"/>
          </a:p>
        </p:txBody>
      </p:sp>
      <p:sp>
        <p:nvSpPr>
          <p:cNvPr id="10" name="Text 8"/>
          <p:cNvSpPr/>
          <p:nvPr/>
        </p:nvSpPr>
        <p:spPr>
          <a:xfrm>
            <a:off x="661475" y="3720802"/>
            <a:ext cx="10868745" cy="1282303"/>
          </a:xfrm>
          <a:prstGeom prst="rect">
            <a:avLst/>
          </a:prstGeom>
          <a:noFill/>
          <a:ln/>
        </p:spPr>
        <p:txBody>
          <a:bodyPr wrap="square" lIns="0" tIns="0" rIns="0" bIns="0" rtlCol="0" anchor="t">
            <a:normAutofit/>
          </a:bodyPr>
          <a:lstStyle/>
          <a:p>
            <a:pPr algn="l" marL="142240" indent="-142240">
              <a:lnSpc>
                <a:spcPct val="100000"/>
              </a:lnSpc>
              <a:buSzPct val="100000"/>
              <a:buFont typeface="+mj-lt"/>
              <a:buAutoNum type="arabicPeriod" startAt="1"/>
            </a:pPr>
            <a:r>
              <a:rPr lang="en-US" sz="700" spc="-15" kern="0" dirty="0">
                <a:solidFill>
                  <a:srgbClr val="272525"/>
                </a:solidFill>
                <a:latin typeface="Inter" pitchFamily="34" charset="0"/>
                <a:ea typeface="Inter" pitchFamily="34" charset="-122"/>
                <a:cs typeface="Inter" pitchFamily="34" charset="-120"/>
              </a:rPr>
              <a:t>Procure a Weights &amp; Biases entity, project and API key — the one hard blocker, and a purchase rather than a task</a:t>
            </a:r>
            <a:endParaRPr lang="en-US" sz="700" dirty="0"/>
          </a:p>
          <a:p>
            <a:pPr algn="l" marL="142240" indent="-142240">
              <a:lnSpc>
                <a:spcPct val="100000"/>
              </a:lnSpc>
              <a:buSzPct val="100000"/>
              <a:buFont typeface="+mj-lt"/>
              <a:buAutoNum type="arabicPeriod" startAt="2"/>
            </a:pPr>
            <a:r>
              <a:rPr lang="en-US" sz="700" spc="-15" kern="0" dirty="0">
                <a:solidFill>
                  <a:srgbClr val="272525"/>
                </a:solidFill>
                <a:latin typeface="Inter" pitchFamily="34" charset="0"/>
                <a:ea typeface="Inter" pitchFamily="34" charset="-122"/>
                <a:cs typeface="Inter" pitchFamily="34" charset="-120"/>
              </a:rPr>
              <a:t>Bind the carry overlay to the real vendor model and implement benign evaluation</a:t>
            </a:r>
            <a:endParaRPr lang="en-US" sz="700" dirty="0"/>
          </a:p>
          <a:p>
            <a:pPr algn="l" marL="142240" indent="-142240">
              <a:lnSpc>
                <a:spcPct val="100000"/>
              </a:lnSpc>
              <a:buSzPct val="100000"/>
              <a:buFont typeface="+mj-lt"/>
              <a:buAutoNum type="arabicPeriod" startAt="3"/>
            </a:pPr>
            <a:r>
              <a:rPr lang="en-US" sz="700" spc="-15" kern="0" dirty="0">
                <a:solidFill>
                  <a:srgbClr val="272525"/>
                </a:solidFill>
                <a:latin typeface="Inter" pitchFamily="34" charset="0"/>
                <a:ea typeface="Inter" pitchFamily="34" charset="-122"/>
                <a:cs typeface="Inter" pitchFamily="34" charset="-120"/>
              </a:rPr>
              <a:t>Reproduce the 1B DCLM+Books @8K TTT-E2E baseline against the pre-registered bracket</a:t>
            </a:r>
            <a:endParaRPr lang="en-US" sz="700" dirty="0"/>
          </a:p>
          <a:p>
            <a:pPr algn="l" marL="142240" indent="-142240">
              <a:lnSpc>
                <a:spcPct val="100000"/>
              </a:lnSpc>
              <a:buSzPct val="100000"/>
              <a:buFont typeface="+mj-lt"/>
              <a:buAutoNum type="arabicPeriod" startAt="4"/>
            </a:pPr>
            <a:r>
              <a:rPr lang="en-US" sz="700" spc="-15" kern="0" dirty="0">
                <a:solidFill>
                  <a:srgbClr val="272525"/>
                </a:solidFill>
                <a:latin typeface="Inter" pitchFamily="34" charset="0"/>
                <a:ea typeface="Inter" pitchFamily="34" charset="-122"/>
                <a:cs typeface="Inter" pitchFamily="34" charset="-120"/>
              </a:rPr>
              <a:t>Run the pre-registered five-seed SELECT attack spike and record the PROCEED/STOP verdict</a:t>
            </a:r>
            <a:endParaRPr lang="en-US" sz="700" dirty="0"/>
          </a:p>
          <a:p>
            <a:pPr algn="l" marL="142240" indent="-142240">
              <a:lnSpc>
                <a:spcPct val="100000"/>
              </a:lnSpc>
              <a:buSzPct val="100000"/>
              <a:buFont typeface="+mj-lt"/>
              <a:buAutoNum type="arabicPeriod" startAt="5"/>
            </a:pPr>
            <a:r>
              <a:rPr lang="en-US" sz="700" spc="-15" kern="0" dirty="0">
                <a:solidFill>
                  <a:srgbClr val="272525"/>
                </a:solidFill>
                <a:latin typeface="Inter" pitchFamily="34" charset="0"/>
                <a:ea typeface="Inter" pitchFamily="34" charset="-122"/>
                <a:cs typeface="Inter" pitchFamily="34" charset="-120"/>
              </a:rPr>
              <a:t>Implement anchor consistency, rotating probes, uncertainty scoring and policy combination — only if the verdict is PROCEED</a:t>
            </a:r>
            <a:endParaRPr lang="en-US" sz="700" dirty="0"/>
          </a:p>
          <a:p>
            <a:pPr algn="l" marL="142240" indent="-142240">
              <a:lnSpc>
                <a:spcPct val="100000"/>
              </a:lnSpc>
              <a:buSzPct val="100000"/>
              <a:buFont typeface="+mj-lt"/>
              <a:buAutoNum type="arabicPeriod" startAt="6"/>
            </a:pPr>
            <a:r>
              <a:rPr lang="en-US" sz="700" spc="-15" kern="0" dirty="0">
                <a:solidFill>
                  <a:srgbClr val="272525"/>
                </a:solidFill>
                <a:latin typeface="Inter" pitchFamily="34" charset="0"/>
                <a:ea typeface="Inter" pitchFamily="34" charset="-122"/>
                <a:cs typeface="Inter" pitchFamily="34" charset="-120"/>
              </a:rPr>
              <a:t>Wire the drift accumulator and versioned store into the interceptor</a:t>
            </a:r>
            <a:endParaRPr lang="en-US" sz="700" dirty="0"/>
          </a:p>
          <a:p>
            <a:pPr algn="l" marL="142240" indent="-142240">
              <a:lnSpc>
                <a:spcPct val="100000"/>
              </a:lnSpc>
              <a:buSzPct val="100000"/>
              <a:buFont typeface="+mj-lt"/>
              <a:buAutoNum type="arabicPeriod" startAt="7"/>
            </a:pPr>
            <a:r>
              <a:rPr lang="en-US" sz="700" spc="-15" kern="0" dirty="0">
                <a:solidFill>
                  <a:srgbClr val="272525"/>
                </a:solidFill>
                <a:latin typeface="Inter" pitchFamily="34" charset="0"/>
                <a:ea typeface="Inter" pitchFamily="34" charset="-122"/>
                <a:cs typeface="Inter" pitchFamily="34" charset="-120"/>
              </a:rPr>
              <a:t>Build and tune the MedBN-analogue robust-gradient baseline</a:t>
            </a:r>
            <a:endParaRPr lang="en-US" sz="700" dirty="0"/>
          </a:p>
          <a:p>
            <a:pPr algn="l" marL="142240" indent="-142240">
              <a:lnSpc>
                <a:spcPct val="100000"/>
              </a:lnSpc>
              <a:buSzPct val="100000"/>
              <a:buFont typeface="+mj-lt"/>
              <a:buAutoNum type="arabicPeriod" startAt="8"/>
            </a:pPr>
            <a:r>
              <a:rPr lang="en-US" sz="700" spc="-15" kern="0" dirty="0">
                <a:solidFill>
                  <a:srgbClr val="272525"/>
                </a:solidFill>
                <a:latin typeface="Inter" pitchFamily="34" charset="0"/>
                <a:ea typeface="Inter" pitchFamily="34" charset="-122"/>
                <a:cs typeface="Inter" pitchFamily="34" charset="-120"/>
              </a:rPr>
              <a:t>Measure ROC/operating points, clean utility, overhead, memory and rollback</a:t>
            </a:r>
            <a:endParaRPr lang="en-US" sz="700" dirty="0"/>
          </a:p>
          <a:p>
            <a:pPr algn="l" marL="142240" indent="-142240">
              <a:lnSpc>
                <a:spcPct val="100000"/>
              </a:lnSpc>
              <a:buSzPct val="100000"/>
              <a:buFont typeface="+mj-lt"/>
              <a:buAutoNum type="arabicPeriod" startAt="9"/>
            </a:pPr>
            <a:r>
              <a:rPr lang="en-US" sz="700" spc="-15" kern="0" dirty="0">
                <a:solidFill>
                  <a:srgbClr val="272525"/>
                </a:solidFill>
                <a:latin typeface="Inter" pitchFamily="34" charset="0"/>
                <a:ea typeface="Inter" pitchFamily="34" charset="-122"/>
                <a:cs typeface="Inter" pitchFamily="34" charset="-120"/>
              </a:rPr>
              <a:t>Test adaptive attackers, longer streams, and 3B or larger models</a:t>
            </a:r>
            <a:endParaRPr lang="en-US" sz="700" dirty="0"/>
          </a:p>
          <a:p>
            <a:pPr algn="l" marL="142240" indent="-142240">
              <a:lnSpc>
                <a:spcPct val="100000"/>
              </a:lnSpc>
              <a:buSzPct val="100000"/>
              <a:buFont typeface="+mj-lt"/>
              <a:buAutoNum type="arabicPeriod" startAt="10"/>
            </a:pPr>
            <a:r>
              <a:rPr lang="en-US" sz="700" spc="-15" kern="0" dirty="0">
                <a:solidFill>
                  <a:srgbClr val="272525"/>
                </a:solidFill>
                <a:latin typeface="Inter" pitchFamily="34" charset="0"/>
                <a:ea typeface="Inter" pitchFamily="34" charset="-122"/>
                <a:cs typeface="Inter" pitchFamily="34" charset="-120"/>
              </a:rPr>
              <a:t>Formalize the bounded-drift proof; complete the prior-art and legal review</a:t>
            </a:r>
            <a:endParaRPr lang="en-US" sz="700" dirty="0"/>
          </a:p>
        </p:txBody>
      </p:sp>
      <p:sp>
        <p:nvSpPr>
          <p:cNvPr id="11" name="Text 9"/>
          <p:cNvSpPr/>
          <p:nvPr/>
        </p:nvSpPr>
        <p:spPr>
          <a:xfrm>
            <a:off x="661475" y="5073948"/>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Final Conclusion:</a:t>
            </a:r>
            <a:endParaRPr lang="en-US" sz="1450" dirty="0"/>
          </a:p>
        </p:txBody>
      </p:sp>
      <p:sp>
        <p:nvSpPr>
          <p:cNvPr id="12" name="Text 10"/>
          <p:cNvSpPr/>
          <p:nvPr/>
        </p:nvSpPr>
        <p:spPr>
          <a:xfrm>
            <a:off x="661475" y="5381030"/>
            <a:ext cx="10868745" cy="226814"/>
          </a:xfrm>
          <a:prstGeom prst="rect">
            <a:avLst/>
          </a:prstGeom>
          <a:noFill/>
          <a:ln/>
        </p:spPr>
        <p:txBody>
          <a:bodyPr wrap="square" lIns="0" tIns="0" rIns="0" bIns="0" rtlCol="0" anchor="t">
            <a:normAutofit/>
          </a:bodyPr>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"TTT-E2E improves long-context modeling by allowing models to learn while serving. The same write path creates a security risk. TrustGate addresses it by validating fast-weight commits, bounding cumulative drift, retaining trusted versions and enabling rollback. The experiment that decides whether the threat is real is now built and validated on CPU; the measurement itself is the next decisive step."</a:t>
            </a:r>
            <a:endParaRPr lang="en-US" sz="700" dirty="0"/>
          </a:p>
        </p:txBody>
      </p:sp>
      <p:sp>
        <p:nvSpPr>
          <p:cNvPr id="13" name="Text 11"/>
          <p:cNvSpPr/>
          <p:nvPr/>
        </p:nvSpPr>
        <p:spPr>
          <a:xfrm>
            <a:off x="661475" y="5678686"/>
            <a:ext cx="10868745" cy="236240"/>
          </a:xfrm>
          <a:prstGeom prst="rect">
            <a:avLst/>
          </a:prstGeom>
          <a:noFill/>
          <a:ln/>
        </p:spPr>
        <p:txBody>
          <a:bodyPr wrap="none" lIns="0" tIns="0" rIns="0" bIns="0" rtlCol="0" anchor="t"/>
          <a:lstStyle/>
          <a:p>
            <a:pPr algn="l" indent="0" marL="0">
              <a:lnSpc>
                <a:spcPct val="104000"/>
              </a:lnSpc>
              <a:buNone/>
            </a:pPr>
            <a:r>
              <a:rPr lang="en-US" sz="1450" b="1" spc="-45" kern="0" dirty="0">
                <a:solidFill>
                  <a:srgbClr val="000000"/>
                </a:solidFill>
                <a:latin typeface="Inter Bold" pitchFamily="34" charset="0"/>
                <a:ea typeface="Inter Bold" pitchFamily="34" charset="-122"/>
                <a:cs typeface="Inter Bold" pitchFamily="34" charset="-120"/>
              </a:rPr>
              <a:t>Technical Result Status:</a:t>
            </a:r>
            <a:endParaRPr lang="en-US" sz="1450" dirty="0"/>
          </a:p>
        </p:txBody>
      </p:sp>
      <p:sp>
        <p:nvSpPr>
          <p:cNvPr id="14" name="Text 12"/>
          <p:cNvSpPr/>
          <p:nvPr/>
        </p:nvSpPr>
        <p:spPr>
          <a:xfrm>
            <a:off x="661475" y="5985768"/>
            <a:ext cx="11478330" cy="113407"/>
          </a:xfrm>
          <a:prstGeom prst="rect">
            <a:avLst/>
          </a:prstGeom>
          <a:noFill/>
          <a:ln/>
        </p:spPr>
        <p:txBody>
          <a:bodyPr wrap="none" lIns="0" tIns="0" rIns="0" bIns="0" rtlCol="0" anchor="t"/>
          <a:lstStyle/>
          <a:p>
            <a:pPr algn="l" indent="0" marL="0">
              <a:lnSpc>
                <a:spcPct val="100000"/>
              </a:lnSpc>
              <a:buNone/>
            </a:pPr>
            <a:r>
              <a:rPr lang="en-US" sz="700" spc="-15" kern="0" dirty="0">
                <a:solidFill>
                  <a:srgbClr val="272525"/>
                </a:solidFill>
                <a:latin typeface="Inter" pitchFamily="34" charset="0"/>
                <a:ea typeface="Inter" pitchFamily="34" charset="-122"/>
                <a:cs typeface="Inter" pitchFamily="34" charset="-120"/>
              </a:rPr>
              <a:t>"Phase 1 implementation complete and validated on CPU (197 tests). No model-backed attack or defense result is claimed; no measurement has been taken; spend to date $0 of a $325 cap."</a:t>
            </a:r>
            <a:endParaRPr lang="en-US" sz="700" dirty="0"/>
          </a:p>
        </p:txBody>
      </p:sp>
      <p:sp>
        <p:nvSpPr>
          <p:cNvPr id="15" name="Text 13"/>
          <p:cNvSpPr/>
          <p:nvPr/>
        </p:nvSpPr>
        <p:spPr>
          <a:xfrm>
            <a:off x="356682" y="6152257"/>
            <a:ext cx="11478330" cy="90686"/>
          </a:xfrm>
          <a:prstGeom prst="rect">
            <a:avLst/>
          </a:prstGeom>
          <a:noFill/>
          <a:ln/>
        </p:spPr>
        <p:txBody>
          <a:bodyPr wrap="none" lIns="0" tIns="0" rIns="0" bIns="0" rtlCol="0" anchor="t"/>
          <a:lstStyle/>
          <a:p>
            <a:pPr algn="ctr" indent="0" marL="0">
              <a:lnSpc>
                <a:spcPct val="100000"/>
              </a:lnSpc>
              <a:buNone/>
            </a:pPr>
            <a:r>
              <a:rPr lang="en-US" sz="550" spc="-15" kern="0" dirty="0">
                <a:solidFill>
                  <a:srgbClr val="272525"/>
                </a:solidFill>
                <a:latin typeface="Inter" pitchFamily="34" charset="0"/>
                <a:ea typeface="Inter" pitchFamily="34" charset="-122"/>
                <a:cs typeface="Inter" pitchFamily="34" charset="-120"/>
              </a:rPr>
              <a:t>PUBLIC RESEARCH REPOSITORY SINCE 2026-08-01  ·  US FILING DEADLINE ~2027-08-01  ·  SEE DISCLOSURE.md</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2026-08-28T02:56:40Z</dcterms:created>
  <dcterms:modified xsi:type="dcterms:W3CDTF">2026-08-28T02:56:40Z</dcterms:modified>
</cp:coreProperties>
</file>