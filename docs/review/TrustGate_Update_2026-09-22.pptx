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0">
                <a:solidFill>
                  <a:srgbClr val="5F6B7A"/>
                </a:solidFill>
                <a:latin typeface="Times New Roman"/>
              </a:rPr>
              <a:t>Size of the effect (higher means a stronger attack)</a:t>
            </a:r>
          </a:p>
        </c:rich>
      </c:tx>
      <c:layout/>
      <c:overlay val="0"/>
    </c:title>
    <c:autoTitleDeleted val="0"/>
    <c:plotArea>
      <c:barChart>
        <c:barDir val="bar"/>
        <c:grouping val="clustered"/>
        <c:ser>
          <c:idx val="0"/>
          <c:order val="0"/>
          <c:tx>
            <c:strRef>
              <c:f>Sheet1!$B$1</c:f>
              <c:strCache>
                <c:ptCount val="1"/>
                <c:pt idx="0">
                  <c:v>Effect size</c:v>
                </c:pt>
              </c:strCache>
            </c:strRef>
          </c:tx>
          <c:dPt>
            <c:idx val="0"/>
            <c:spPr>
              <a:solidFill>
                <a:srgbClr val="9AA3AE"/>
              </a:solidFill>
            </c:spPr>
          </c:dPt>
          <c:dPt>
            <c:idx val="1"/>
            <c:spPr>
              <a:solidFill>
                <a:srgbClr val="C9D6E8"/>
              </a:solidFill>
            </c:spPr>
          </c:dPt>
          <c:dPt>
            <c:idx val="2"/>
            <c:spPr>
              <a:solidFill>
                <a:srgbClr val="1B2A41"/>
              </a:solidFill>
            </c:spPr>
          </c:dPt>
          <c:cat>
            <c:strRef>
              <c:f>Sheet1!$A$2:$A$4</c:f>
              <c:strCache>
                <c:ptCount val="3"/>
                <c:pt idx="0">
                  <c:v>Required to pass</c:v>
                </c:pt>
                <c:pt idx="1">
                  <c:v>Normal variation, no attacker</c:v>
                </c:pt>
                <c:pt idx="2">
                  <c:v>The attack</c:v>
                </c:pt>
              </c:strCache>
            </c:strRef>
          </c:cat>
          <c:val>
            <c:numRef>
              <c:f>Sheet1!$B$2:$B$4</c:f>
              <c:numCache>
                <c:formatCode>General</c:formatCode>
                <c:ptCount val="3"/>
                <c:pt idx="0">
                  <c:v>0.8</c:v>
                </c:pt>
                <c:pt idx="1">
                  <c:v>0.23</c:v>
                </c:pt>
                <c:pt idx="2">
                  <c:v>0.12</c:v>
                </c:pt>
              </c:numCache>
            </c:numRef>
          </c:val>
        </c:ser>
        <c:dLbls>
          <c:numFmt formatCode="0.00" sourceLinked="0"/>
          <c:txPr>
            <a:bodyPr/>
            <a:lstStyle/>
            <a:p>
              <a:pPr>
                <a:defRPr sz="1500" b="1">
                  <a:latin typeface="Times New Roman"/>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500">
                <a:latin typeface="Times New Roman"/>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500">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progress update. The short version: the tools are built and tested, the decisive test has not run yet, and today I will explain what we are testing, what we have learned so far, and a change of plan that makes the test affordable.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for the audience: ordinary models do not change after they are built. This one does, a little, every time it reads. That is a feature, and also a new kind of exposure.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places this attack next to two familiar ones. The difference is the last row: the text itself is harmless, so tools that screen text have nothing to flag.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fix the rules first: once you have seen results, it is very tempting to move the line. Writing it down beforehand, in a file whose history anyone can check, removes that temptation. The naturalness test is judged by GPT-2, a separate model, never by the model under attack.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here. The gate is built and tested. The cap on total change was part of the original design, but the model's code has no place to keep the running total, so it is not enforced and we do not present it as working.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negative result is still a result. If the attack does not work, that is worth knowing and worth publishing, and it means nobody needs to build this defence.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 size 0.122; the no-attacker noise floor was 0.225; damage 0.044% against 10%. The stand-in genuinely learned while reading, so this is a real negative result on the stand-in, not a broken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the chart: each dot is one run with no attacker. The dashed lines are the pass line of 0.8 in either direction. Dots in the grey zones are false alarms. The bold line is the attack's result from the previous slide, sitting in the middle of the noise.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time the real model's learning-while-reading was run on real hardware rather than a stand-in. The first point is 11.886 against a prediction of 11.915 worked out from the model's design. It uses random weights, so it confirms the plumbing, not any attack.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design, same training recipe, released by the same authors; only the size differs. The switch was written into the pre-registration on 22 September with the reasons, before any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strict option, chosen on purpose. The alternative was to treat a failure at 125 million as a reason to try the larger model. That would leave a door open to keep trying until something passes, which is exactly what fixing rules in advance is meant to prevent.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change the rules. The memory question is being answered with free tests before anyone spends anything.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one to three make sure the answer can be trusted. Step four gives the answer. Step five only happens if step four passes.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these from the project folder in Git Bash. Demo 1 prints a final block with 'Cohen's d' and 'noise floor (d)': point at both. Demo 2 prints ten PASSED lines. Demo 3 prints one line per dated change to the rules; it shows today's revision only once it is committed.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731520" y="2011680"/>
            <a:ext cx="10728655" cy="1645920"/>
          </a:xfrm>
          <a:prstGeom prst="rect">
            <a:avLst/>
          </a:prstGeom>
          <a:noFill/>
        </p:spPr>
        <p:txBody>
          <a:bodyPr wrap="square" anchor="t" lIns="0" rIns="0" tIns="0" bIns="0">
            <a:spAutoFit/>
          </a:bodyPr>
          <a:lstStyle/>
          <a:p>
            <a:pPr algn="l">
              <a:spcAft>
                <a:spcPts val="1000"/>
              </a:spcAft>
            </a:pPr>
            <a:r>
              <a:rPr sz="4000" b="1" i="0">
                <a:solidFill>
                  <a:srgbClr val="FFFFFF"/>
                </a:solidFill>
                <a:latin typeface="Times New Roman"/>
              </a:rPr>
              <a:t>Trust-Gated Updates for Models That Learn While They Read</a:t>
            </a:r>
          </a:p>
        </p:txBody>
      </p:sp>
      <p:sp>
        <p:nvSpPr>
          <p:cNvPr id="3" name="TextBox 2"/>
          <p:cNvSpPr txBox="1"/>
          <p:nvPr/>
        </p:nvSpPr>
        <p:spPr>
          <a:xfrm>
            <a:off x="731520" y="3657600"/>
            <a:ext cx="10728655" cy="457200"/>
          </a:xfrm>
          <a:prstGeom prst="rect">
            <a:avLst/>
          </a:prstGeom>
          <a:noFill/>
        </p:spPr>
        <p:txBody>
          <a:bodyPr wrap="square" anchor="t" lIns="0" rIns="0" tIns="0" bIns="0">
            <a:spAutoFit/>
          </a:bodyPr>
          <a:lstStyle/>
          <a:p>
            <a:pPr algn="l">
              <a:spcAft>
                <a:spcPts val="1000"/>
              </a:spcAft>
            </a:pPr>
            <a:r>
              <a:rPr sz="2200" b="0" i="0">
                <a:solidFill>
                  <a:srgbClr val="C9D6E8"/>
                </a:solidFill>
                <a:latin typeface="Times New Roman"/>
              </a:rPr>
              <a:t>Project update  ·  22 September 2026</a:t>
            </a:r>
          </a:p>
        </p:txBody>
      </p:sp>
      <p:sp>
        <p:nvSpPr>
          <p:cNvPr id="4" name="TextBox 3"/>
          <p:cNvSpPr txBox="1"/>
          <p:nvPr/>
        </p:nvSpPr>
        <p:spPr>
          <a:xfrm>
            <a:off x="731520" y="4206240"/>
            <a:ext cx="10728655" cy="457200"/>
          </a:xfrm>
          <a:prstGeom prst="rect">
            <a:avLst/>
          </a:prstGeom>
          <a:noFill/>
        </p:spPr>
        <p:txBody>
          <a:bodyPr wrap="square" anchor="t" lIns="0" rIns="0" tIns="0" bIns="0">
            <a:spAutoFit/>
          </a:bodyPr>
          <a:lstStyle/>
          <a:p>
            <a:pPr algn="l">
              <a:spcAft>
                <a:spcPts val="1000"/>
              </a:spcAft>
            </a:pPr>
            <a:r>
              <a:rPr sz="1800" b="0" i="0">
                <a:solidFill>
                  <a:srgbClr val="C9D6E8"/>
                </a:solidFill>
                <a:latin typeface="Times New Roman"/>
              </a:rPr>
              <a:t>Manas Maahir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The idea in one minute</a:t>
            </a:r>
          </a:p>
        </p:txBody>
      </p:sp>
      <p:sp>
        <p:nvSpPr>
          <p:cNvPr id="3" name="TextBox 2"/>
          <p:cNvSpPr txBox="1"/>
          <p:nvPr/>
        </p:nvSpPr>
        <p:spPr>
          <a:xfrm>
            <a:off x="731520" y="1463040"/>
            <a:ext cx="10728655" cy="2377440"/>
          </a:xfrm>
          <a:prstGeom prst="rect">
            <a:avLst/>
          </a:prstGeom>
          <a:noFill/>
        </p:spPr>
        <p:txBody>
          <a:bodyPr wrap="square" anchor="t" lIns="0" rIns="0" tIns="0" bIns="0">
            <a:spAutoFit/>
          </a:bodyPr>
          <a:lstStyle/>
          <a:p>
            <a:pPr algn="l">
              <a:spcAft>
                <a:spcPts val="1400"/>
              </a:spcAft>
            </a:pPr>
            <a:r>
              <a:rPr sz="1900" b="0" i="0">
                <a:solidFill>
                  <a:srgbClr val="222222"/>
                </a:solidFill>
                <a:latin typeface="Times New Roman"/>
              </a:rPr>
              <a:t>Most language models are fixed once they are built. A newer design, called TTT-E2E, keeps adjusting a small part of itself while it reads. This is what lets it handle very long documents cheaply.</a:t>
            </a:r>
          </a:p>
          <a:p>
            <a:pPr algn="l">
              <a:spcAft>
                <a:spcPts val="1400"/>
              </a:spcAft>
            </a:pPr>
            <a:r>
              <a:rPr sz="1900" b="0" i="0">
                <a:solidFill>
                  <a:srgbClr val="222222"/>
                </a:solidFill>
                <a:latin typeface="Times New Roman"/>
              </a:rPr>
              <a:t>The part that changes is called the fast weights. Think of it as short-term memory that the model rewrites as it goes.</a:t>
            </a:r>
          </a:p>
          <a:p>
            <a:pPr algn="l">
              <a:spcAft>
                <a:spcPts val="1400"/>
              </a:spcAft>
            </a:pPr>
            <a:r>
              <a:rPr sz="1900" b="0" i="0">
                <a:solidFill>
                  <a:srgbClr val="222222"/>
                </a:solidFill>
                <a:latin typeface="Times New Roman"/>
              </a:rPr>
              <a:t>That raises a new question: if a model learns from whatever it reads, can someone steer what it learns just by choosing what it reads?</a:t>
            </a:r>
          </a:p>
        </p:txBody>
      </p:sp>
      <p:sp>
        <p:nvSpPr>
          <p:cNvPr id="4" name="Rounded Rectangle 3"/>
          <p:cNvSpPr/>
          <p:nvPr/>
        </p:nvSpPr>
        <p:spPr>
          <a:xfrm>
            <a:off x="731520" y="4617720"/>
            <a:ext cx="2926080" cy="960120"/>
          </a:xfrm>
          <a:prstGeom prst="roundRect">
            <a:avLst>
              <a:gd name="adj" fmla="val 12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0" i="0">
                <a:solidFill>
                  <a:srgbClr val="222222"/>
                </a:solidFill>
                <a:latin typeface="Times New Roman"/>
              </a:rPr>
              <a:t>Text the model reads</a:t>
            </a:r>
          </a:p>
        </p:txBody>
      </p:sp>
      <p:sp>
        <p:nvSpPr>
          <p:cNvPr id="5" name="Right Arrow 4"/>
          <p:cNvSpPr/>
          <p:nvPr/>
        </p:nvSpPr>
        <p:spPr>
          <a:xfrm>
            <a:off x="3794760" y="4956048"/>
            <a:ext cx="411480" cy="292608"/>
          </a:xfrm>
          <a:prstGeom prst="right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43400" y="4617720"/>
            <a:ext cx="3291840" cy="960120"/>
          </a:xfrm>
          <a:prstGeom prst="roundRect">
            <a:avLst>
              <a:gd name="adj" fmla="val 12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0" i="0">
                <a:solidFill>
                  <a:srgbClr val="222222"/>
                </a:solidFill>
                <a:latin typeface="Times New Roman"/>
              </a:rPr>
              <a:t>The model adjusts</a:t>
            </a:r>
          </a:p>
          <a:p>
            <a:pPr algn="ctr"/>
            <a:r>
              <a:rPr sz="1700" b="0" i="0">
                <a:solidFill>
                  <a:srgbClr val="222222"/>
                </a:solidFill>
                <a:latin typeface="Times New Roman"/>
              </a:rPr>
              <a:t>its fast weights</a:t>
            </a:r>
          </a:p>
        </p:txBody>
      </p:sp>
      <p:sp>
        <p:nvSpPr>
          <p:cNvPr id="7" name="Right Arrow 6"/>
          <p:cNvSpPr/>
          <p:nvPr/>
        </p:nvSpPr>
        <p:spPr>
          <a:xfrm>
            <a:off x="7772400" y="4956048"/>
            <a:ext cx="411480" cy="292608"/>
          </a:xfrm>
          <a:prstGeom prst="right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321040" y="4617720"/>
            <a:ext cx="3108960" cy="960120"/>
          </a:xfrm>
          <a:prstGeom prst="roundRect">
            <a:avLst>
              <a:gd name="adj" fmla="val 12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0" i="0">
                <a:solidFill>
                  <a:srgbClr val="222222"/>
                </a:solidFill>
                <a:latin typeface="Times New Roman"/>
              </a:rPr>
              <a:t>Its later answers</a:t>
            </a:r>
          </a:p>
          <a:p>
            <a:pPr algn="ctr"/>
            <a:r>
              <a:rPr sz="1700" b="0" i="0">
                <a:solidFill>
                  <a:srgbClr val="222222"/>
                </a:solidFill>
                <a:latin typeface="Times New Roman"/>
              </a:rPr>
              <a:t>change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The risk we are testing</a:t>
            </a:r>
          </a:p>
        </p:txBody>
      </p:sp>
      <p:sp>
        <p:nvSpPr>
          <p:cNvPr id="3" name="TextBox 2"/>
          <p:cNvSpPr txBox="1"/>
          <p:nvPr/>
        </p:nvSpPr>
        <p:spPr>
          <a:xfrm>
            <a:off x="731520" y="1417320"/>
            <a:ext cx="10728655" cy="128016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The attacker never touches the model. They only choose which ordinary, harmless sentences it reads, and in what order. If that is enough to make the model worse, the damage would be quiet and gradual, with no single suspicious input to catch.</a:t>
            </a:r>
          </a:p>
        </p:txBody>
      </p:sp>
      <p:graphicFrame>
        <p:nvGraphicFramePr>
          <p:cNvPr id="4" name="Table 3"/>
          <p:cNvGraphicFramePr>
            <a:graphicFrameLocks noGrp="1"/>
          </p:cNvGraphicFramePr>
          <p:nvPr/>
        </p:nvGraphicFramePr>
        <p:xfrm>
          <a:off x="731520" y="2788920"/>
          <a:ext cx="10725912" cy="2633472"/>
        </p:xfrm>
        <a:graphic>
          <a:graphicData uri="http://schemas.openxmlformats.org/drawingml/2006/table">
            <a:tbl>
              <a:tblPr firstRow="1" bandRow="1">
                <a:tableStyleId>{5C22544A-7EE6-4342-B048-85BDC9FD1C3A}</a:tableStyleId>
              </a:tblPr>
              <a:tblGrid>
                <a:gridCol w="2651760"/>
                <a:gridCol w="2651760"/>
                <a:gridCol w="2377440"/>
                <a:gridCol w="3044952"/>
              </a:tblGrid>
              <a:tr h="658368">
                <a:tc>
                  <a:txBody>
                    <a:bodyPr wrap="square"/>
                    <a:lstStyle/>
                    <a:p>
                      <a:r>
                        <a:rPr sz="1500" b="1" i="0">
                          <a:solidFill>
                            <a:srgbClr val="FFFFFF"/>
                          </a:solidFill>
                          <a:latin typeface="Times New Roman"/>
                        </a:rPr>
                        <a:t/>
                      </a:r>
                    </a:p>
                  </a:txBody>
                  <a:tcPr anchor="ctr" marL="109728" marR="109728">
                    <a:solidFill>
                      <a:srgbClr val="1B2A41"/>
                    </a:solidFill>
                  </a:tcPr>
                </a:tc>
                <a:tc>
                  <a:txBody>
                    <a:bodyPr wrap="square"/>
                    <a:lstStyle/>
                    <a:p>
                      <a:r>
                        <a:rPr sz="1500" b="1" i="0">
                          <a:solidFill>
                            <a:srgbClr val="FFFFFF"/>
                          </a:solidFill>
                          <a:latin typeface="Times New Roman"/>
                        </a:rPr>
                        <a:t>Poisoned training data</a:t>
                      </a:r>
                    </a:p>
                  </a:txBody>
                  <a:tcPr anchor="ctr" marL="109728" marR="109728">
                    <a:solidFill>
                      <a:srgbClr val="1B2A41"/>
                    </a:solidFill>
                  </a:tcPr>
                </a:tc>
                <a:tc>
                  <a:txBody>
                    <a:bodyPr wrap="square"/>
                    <a:lstStyle/>
                    <a:p>
                      <a:r>
                        <a:rPr sz="1500" b="1" i="0">
                          <a:solidFill>
                            <a:srgbClr val="FFFFFF"/>
                          </a:solidFill>
                          <a:latin typeface="Times New Roman"/>
                        </a:rPr>
                        <a:t>Harmful prompts</a:t>
                      </a:r>
                    </a:p>
                  </a:txBody>
                  <a:tcPr anchor="ctr" marL="109728" marR="109728">
                    <a:solidFill>
                      <a:srgbClr val="1B2A41"/>
                    </a:solidFill>
                  </a:tcPr>
                </a:tc>
                <a:tc>
                  <a:txBody>
                    <a:bodyPr wrap="square"/>
                    <a:lstStyle/>
                    <a:p>
                      <a:r>
                        <a:rPr sz="1500" b="1" i="0">
                          <a:solidFill>
                            <a:srgbClr val="FFFFFF"/>
                          </a:solidFill>
                          <a:latin typeface="Times New Roman"/>
                        </a:rPr>
                        <a:t>This attack</a:t>
                      </a:r>
                    </a:p>
                  </a:txBody>
                  <a:tcPr anchor="ctr" marL="109728" marR="109728">
                    <a:solidFill>
                      <a:srgbClr val="1B2A41"/>
                    </a:solidFill>
                  </a:tcPr>
                </a:tc>
              </a:tr>
              <a:tr h="658368">
                <a:tc>
                  <a:txBody>
                    <a:bodyPr wrap="square"/>
                    <a:lstStyle/>
                    <a:p>
                      <a:r>
                        <a:rPr sz="1500" b="1" i="0">
                          <a:solidFill>
                            <a:srgbClr val="222222"/>
                          </a:solidFill>
                          <a:latin typeface="Times New Roman"/>
                        </a:rPr>
                        <a:t>When it acts</a:t>
                      </a:r>
                    </a:p>
                  </a:txBody>
                  <a:tcPr anchor="ctr" marL="109728" marR="109728">
                    <a:solidFill>
                      <a:srgbClr val="FFFFFF"/>
                    </a:solidFill>
                  </a:tcPr>
                </a:tc>
                <a:tc>
                  <a:txBody>
                    <a:bodyPr wrap="square"/>
                    <a:lstStyle/>
                    <a:p>
                      <a:r>
                        <a:rPr sz="1500" b="0" i="0">
                          <a:solidFill>
                            <a:srgbClr val="222222"/>
                          </a:solidFill>
                          <a:latin typeface="Times New Roman"/>
                        </a:rPr>
                        <a:t>Before the model is released</a:t>
                      </a:r>
                    </a:p>
                  </a:txBody>
                  <a:tcPr anchor="ctr" marL="109728" marR="109728">
                    <a:solidFill>
                      <a:srgbClr val="FFFFFF"/>
                    </a:solidFill>
                  </a:tcPr>
                </a:tc>
                <a:tc>
                  <a:txBody>
                    <a:bodyPr wrap="square"/>
                    <a:lstStyle/>
                    <a:p>
                      <a:r>
                        <a:rPr sz="1500" b="0" i="0">
                          <a:solidFill>
                            <a:srgbClr val="222222"/>
                          </a:solidFill>
                          <a:latin typeface="Times New Roman"/>
                        </a:rPr>
                        <a:t>When a question is asked</a:t>
                      </a:r>
                    </a:p>
                  </a:txBody>
                  <a:tcPr anchor="ctr" marL="109728" marR="109728">
                    <a:solidFill>
                      <a:srgbClr val="FFFFFF"/>
                    </a:solidFill>
                  </a:tcPr>
                </a:tc>
                <a:tc>
                  <a:txBody>
                    <a:bodyPr wrap="square"/>
                    <a:lstStyle/>
                    <a:p>
                      <a:r>
                        <a:rPr sz="1500" b="0" i="0">
                          <a:solidFill>
                            <a:srgbClr val="222222"/>
                          </a:solidFill>
                          <a:latin typeface="Times New Roman"/>
                        </a:rPr>
                        <a:t>While the model reads, after release</a:t>
                      </a:r>
                    </a:p>
                  </a:txBody>
                  <a:tcPr anchor="ctr" marL="109728" marR="109728">
                    <a:solidFill>
                      <a:srgbClr val="FFFFFF"/>
                    </a:solidFill>
                  </a:tcPr>
                </a:tc>
              </a:tr>
              <a:tr h="658368">
                <a:tc>
                  <a:txBody>
                    <a:bodyPr wrap="square"/>
                    <a:lstStyle/>
                    <a:p>
                      <a:r>
                        <a:rPr sz="1500" b="1" i="0">
                          <a:solidFill>
                            <a:srgbClr val="222222"/>
                          </a:solidFill>
                          <a:latin typeface="Times New Roman"/>
                        </a:rPr>
                        <a:t>What the attacker controls</a:t>
                      </a:r>
                    </a:p>
                  </a:txBody>
                  <a:tcPr anchor="ctr" marL="109728" marR="109728">
                    <a:solidFill>
                      <a:srgbClr val="EEF1F5"/>
                    </a:solidFill>
                  </a:tcPr>
                </a:tc>
                <a:tc>
                  <a:txBody>
                    <a:bodyPr wrap="square"/>
                    <a:lstStyle/>
                    <a:p>
                      <a:r>
                        <a:rPr sz="1500" b="0" i="0">
                          <a:solidFill>
                            <a:srgbClr val="222222"/>
                          </a:solidFill>
                          <a:latin typeface="Times New Roman"/>
                        </a:rPr>
                        <a:t>Part of the training data</a:t>
                      </a:r>
                    </a:p>
                  </a:txBody>
                  <a:tcPr anchor="ctr" marL="109728" marR="109728">
                    <a:solidFill>
                      <a:srgbClr val="EEF1F5"/>
                    </a:solidFill>
                  </a:tcPr>
                </a:tc>
                <a:tc>
                  <a:txBody>
                    <a:bodyPr wrap="square"/>
                    <a:lstStyle/>
                    <a:p>
                      <a:r>
                        <a:rPr sz="1500" b="0" i="0">
                          <a:solidFill>
                            <a:srgbClr val="222222"/>
                          </a:solidFill>
                          <a:latin typeface="Times New Roman"/>
                        </a:rPr>
                        <a:t>The question itself</a:t>
                      </a:r>
                    </a:p>
                  </a:txBody>
                  <a:tcPr anchor="ctr" marL="109728" marR="109728">
                    <a:solidFill>
                      <a:srgbClr val="EEF1F5"/>
                    </a:solidFill>
                  </a:tcPr>
                </a:tc>
                <a:tc>
                  <a:txBody>
                    <a:bodyPr wrap="square"/>
                    <a:lstStyle/>
                    <a:p>
                      <a:r>
                        <a:rPr sz="1500" b="0" i="0">
                          <a:solidFill>
                            <a:srgbClr val="222222"/>
                          </a:solidFill>
                          <a:latin typeface="Times New Roman"/>
                        </a:rPr>
                        <a:t>Only the choice and order of normal text</a:t>
                      </a:r>
                    </a:p>
                  </a:txBody>
                  <a:tcPr anchor="ctr" marL="109728" marR="109728">
                    <a:solidFill>
                      <a:srgbClr val="EEF1F5"/>
                    </a:solidFill>
                  </a:tcPr>
                </a:tc>
              </a:tr>
              <a:tr h="658368">
                <a:tc>
                  <a:txBody>
                    <a:bodyPr wrap="square"/>
                    <a:lstStyle/>
                    <a:p>
                      <a:r>
                        <a:rPr sz="1500" b="1" i="0">
                          <a:solidFill>
                            <a:srgbClr val="222222"/>
                          </a:solidFill>
                          <a:latin typeface="Times New Roman"/>
                        </a:rPr>
                        <a:t>Does the text look unusual?</a:t>
                      </a:r>
                    </a:p>
                  </a:txBody>
                  <a:tcPr anchor="ctr" marL="109728" marR="109728">
                    <a:solidFill>
                      <a:srgbClr val="FFFFFF"/>
                    </a:solidFill>
                  </a:tcPr>
                </a:tc>
                <a:tc>
                  <a:txBody>
                    <a:bodyPr wrap="square"/>
                    <a:lstStyle/>
                    <a:p>
                      <a:r>
                        <a:rPr sz="1500" b="0" i="0">
                          <a:solidFill>
                            <a:srgbClr val="222222"/>
                          </a:solidFill>
                          <a:latin typeface="Times New Roman"/>
                        </a:rPr>
                        <a:t>Often not</a:t>
                      </a:r>
                    </a:p>
                  </a:txBody>
                  <a:tcPr anchor="ctr" marL="109728" marR="109728">
                    <a:solidFill>
                      <a:srgbClr val="FFFFFF"/>
                    </a:solidFill>
                  </a:tcPr>
                </a:tc>
                <a:tc>
                  <a:txBody>
                    <a:bodyPr wrap="square"/>
                    <a:lstStyle/>
                    <a:p>
                      <a:r>
                        <a:rPr sz="1500" b="0" i="0">
                          <a:solidFill>
                            <a:srgbClr val="222222"/>
                          </a:solidFill>
                          <a:latin typeface="Times New Roman"/>
                        </a:rPr>
                        <a:t>Usually yes</a:t>
                      </a:r>
                    </a:p>
                  </a:txBody>
                  <a:tcPr anchor="ctr" marL="109728" marR="109728">
                    <a:solidFill>
                      <a:srgbClr val="FFFFFF"/>
                    </a:solidFill>
                  </a:tcPr>
                </a:tc>
                <a:tc>
                  <a:txBody>
                    <a:bodyPr wrap="square"/>
                    <a:lstStyle/>
                    <a:p>
                      <a:r>
                        <a:rPr sz="1500" b="0" i="0">
                          <a:solidFill>
                            <a:srgbClr val="222222"/>
                          </a:solidFill>
                          <a:latin typeface="Times New Roman"/>
                        </a:rPr>
                        <a:t>No, by design</a:t>
                      </a:r>
                    </a:p>
                  </a:txBody>
                  <a:tcPr anchor="ctr" marL="109728" marR="109728">
                    <a:solidFill>
                      <a:srgbClr val="FFFFFF"/>
                    </a:solidFill>
                  </a:tcPr>
                </a:tc>
              </a:tr>
            </a:tbl>
          </a:graphicData>
        </a:graphic>
      </p:graphicFrame>
      <p:sp>
        <p:nvSpPr>
          <p:cNvPr id="5" name="TextBox 4"/>
          <p:cNvSpPr txBox="1"/>
          <p:nvPr/>
        </p:nvSpPr>
        <p:spPr>
          <a:xfrm>
            <a:off x="731520" y="6172200"/>
            <a:ext cx="10728655" cy="365760"/>
          </a:xfrm>
          <a:prstGeom prst="rect">
            <a:avLst/>
          </a:prstGeom>
          <a:noFill/>
        </p:spPr>
        <p:txBody>
          <a:bodyPr wrap="square" anchor="t" lIns="0" rIns="0" tIns="0" bIns="0">
            <a:spAutoFit/>
          </a:bodyPr>
          <a:lstStyle/>
          <a:p>
            <a:pPr algn="l">
              <a:spcAft>
                <a:spcPts val="1000"/>
              </a:spcAft>
            </a:pPr>
            <a:r>
              <a:rPr sz="1300" b="0" i="0">
                <a:solidFill>
                  <a:srgbClr val="5F6B7A"/>
                </a:solidFill>
                <a:latin typeface="Times New Roman"/>
              </a:rPr>
              <a:t>The last column is what makes this new: content filters look for harmful text, and here there is none.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How we decide whether the attack is real</a:t>
            </a:r>
          </a:p>
        </p:txBody>
      </p:sp>
      <p:sp>
        <p:nvSpPr>
          <p:cNvPr id="3" name="TextBox 2"/>
          <p:cNvSpPr txBox="1"/>
          <p:nvPr/>
        </p:nvSpPr>
        <p:spPr>
          <a:xfrm>
            <a:off x="731520" y="1417320"/>
            <a:ext cx="10728655" cy="91440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The pass rules were written down and committed on 28 July 2026, before any attack code existed. They cannot be adjusted after the results are in.</a:t>
            </a:r>
          </a:p>
        </p:txBody>
      </p:sp>
      <p:graphicFrame>
        <p:nvGraphicFramePr>
          <p:cNvPr id="4" name="Table 3"/>
          <p:cNvGraphicFramePr>
            <a:graphicFrameLocks noGrp="1"/>
          </p:cNvGraphicFramePr>
          <p:nvPr/>
        </p:nvGraphicFramePr>
        <p:xfrm>
          <a:off x="731520" y="2377440"/>
          <a:ext cx="10725912" cy="2926080"/>
        </p:xfrm>
        <a:graphic>
          <a:graphicData uri="http://schemas.openxmlformats.org/drawingml/2006/table">
            <a:tbl>
              <a:tblPr firstRow="1" bandRow="1">
                <a:tableStyleId>{5C22544A-7EE6-4342-B048-85BDC9FD1C3A}</a:tableStyleId>
              </a:tblPr>
              <a:tblGrid>
                <a:gridCol w="2377440"/>
                <a:gridCol w="6035040"/>
                <a:gridCol w="2313432"/>
              </a:tblGrid>
              <a:tr h="731520">
                <a:tc>
                  <a:txBody>
                    <a:bodyPr wrap="square"/>
                    <a:lstStyle/>
                    <a:p>
                      <a:r>
                        <a:rPr sz="1600" b="1" i="0">
                          <a:solidFill>
                            <a:srgbClr val="FFFFFF"/>
                          </a:solidFill>
                          <a:latin typeface="Times New Roman"/>
                        </a:rPr>
                        <a:t>Test</a:t>
                      </a:r>
                    </a:p>
                  </a:txBody>
                  <a:tcPr anchor="ctr" marL="109728" marR="109728">
                    <a:solidFill>
                      <a:srgbClr val="1B2A41"/>
                    </a:solidFill>
                  </a:tcPr>
                </a:tc>
                <a:tc>
                  <a:txBody>
                    <a:bodyPr wrap="square"/>
                    <a:lstStyle/>
                    <a:p>
                      <a:r>
                        <a:rPr sz="1600" b="1" i="0">
                          <a:solidFill>
                            <a:srgbClr val="FFFFFF"/>
                          </a:solidFill>
                          <a:latin typeface="Times New Roman"/>
                        </a:rPr>
                        <a:t>In plain words</a:t>
                      </a:r>
                    </a:p>
                  </a:txBody>
                  <a:tcPr anchor="ctr" marL="109728" marR="109728">
                    <a:solidFill>
                      <a:srgbClr val="1B2A41"/>
                    </a:solidFill>
                  </a:tcPr>
                </a:tc>
                <a:tc>
                  <a:txBody>
                    <a:bodyPr wrap="square"/>
                    <a:lstStyle/>
                    <a:p>
                      <a:r>
                        <a:rPr sz="1600" b="1" i="0">
                          <a:solidFill>
                            <a:srgbClr val="FFFFFF"/>
                          </a:solidFill>
                          <a:latin typeface="Times New Roman"/>
                        </a:rPr>
                        <a:t>Must reach</a:t>
                      </a:r>
                    </a:p>
                  </a:txBody>
                  <a:tcPr anchor="ctr" marL="109728" marR="109728">
                    <a:solidFill>
                      <a:srgbClr val="1B2A41"/>
                    </a:solidFill>
                  </a:tcPr>
                </a:tc>
              </a:tr>
              <a:tr h="731520">
                <a:tc>
                  <a:txBody>
                    <a:bodyPr wrap="square"/>
                    <a:lstStyle/>
                    <a:p>
                      <a:r>
                        <a:rPr sz="1600" b="1" i="0">
                          <a:solidFill>
                            <a:srgbClr val="222222"/>
                          </a:solidFill>
                          <a:latin typeface="Times New Roman"/>
                        </a:rPr>
                        <a:t>Size of the effect</a:t>
                      </a:r>
                    </a:p>
                  </a:txBody>
                  <a:tcPr anchor="ctr" marL="109728" marR="109728">
                    <a:solidFill>
                      <a:srgbClr val="FFFFFF"/>
                    </a:solidFill>
                  </a:tcPr>
                </a:tc>
                <a:tc>
                  <a:txBody>
                    <a:bodyPr wrap="square"/>
                    <a:lstStyle/>
                    <a:p>
                      <a:r>
                        <a:rPr sz="1600" b="0" i="0">
                          <a:solidFill>
                            <a:srgbClr val="222222"/>
                          </a:solidFill>
                          <a:latin typeface="Times New Roman"/>
                        </a:rPr>
                        <a:t>Is the damage clearly larger than normal run-to-run variation?</a:t>
                      </a:r>
                    </a:p>
                  </a:txBody>
                  <a:tcPr anchor="ctr" marL="109728" marR="109728">
                    <a:solidFill>
                      <a:srgbClr val="FFFFFF"/>
                    </a:solidFill>
                  </a:tcPr>
                </a:tc>
                <a:tc>
                  <a:txBody>
                    <a:bodyPr wrap="square"/>
                    <a:lstStyle/>
                    <a:p>
                      <a:r>
                        <a:rPr sz="1600" b="0" i="0">
                          <a:solidFill>
                            <a:srgbClr val="222222"/>
                          </a:solidFill>
                          <a:latin typeface="Times New Roman"/>
                        </a:rPr>
                        <a:t>0.8 or more</a:t>
                      </a:r>
                    </a:p>
                  </a:txBody>
                  <a:tcPr anchor="ctr" marL="109728" marR="109728">
                    <a:solidFill>
                      <a:srgbClr val="FFFFFF"/>
                    </a:solidFill>
                  </a:tcPr>
                </a:tc>
              </a:tr>
              <a:tr h="731520">
                <a:tc>
                  <a:txBody>
                    <a:bodyPr wrap="square"/>
                    <a:lstStyle/>
                    <a:p>
                      <a:r>
                        <a:rPr sz="1600" b="1" i="0">
                          <a:solidFill>
                            <a:srgbClr val="222222"/>
                          </a:solidFill>
                          <a:latin typeface="Times New Roman"/>
                        </a:rPr>
                        <a:t>Amount of damage</a:t>
                      </a:r>
                    </a:p>
                  </a:txBody>
                  <a:tcPr anchor="ctr" marL="109728" marR="109728">
                    <a:solidFill>
                      <a:srgbClr val="EEF1F5"/>
                    </a:solidFill>
                  </a:tcPr>
                </a:tc>
                <a:tc>
                  <a:txBody>
                    <a:bodyPr wrap="square"/>
                    <a:lstStyle/>
                    <a:p>
                      <a:r>
                        <a:rPr sz="1600" b="0" i="0">
                          <a:solidFill>
                            <a:srgbClr val="222222"/>
                          </a:solidFill>
                          <a:latin typeface="Times New Roman"/>
                        </a:rPr>
                        <a:t>How much worse does the model get on ordinary text?</a:t>
                      </a:r>
                    </a:p>
                  </a:txBody>
                  <a:tcPr anchor="ctr" marL="109728" marR="109728">
                    <a:solidFill>
                      <a:srgbClr val="EEF1F5"/>
                    </a:solidFill>
                  </a:tcPr>
                </a:tc>
                <a:tc>
                  <a:txBody>
                    <a:bodyPr wrap="square"/>
                    <a:lstStyle/>
                    <a:p>
                      <a:r>
                        <a:rPr sz="1600" b="0" i="0">
                          <a:solidFill>
                            <a:srgbClr val="222222"/>
                          </a:solidFill>
                          <a:latin typeface="Times New Roman"/>
                        </a:rPr>
                        <a:t>10% or more</a:t>
                      </a:r>
                    </a:p>
                  </a:txBody>
                  <a:tcPr anchor="ctr" marL="109728" marR="109728">
                    <a:solidFill>
                      <a:srgbClr val="EEF1F5"/>
                    </a:solidFill>
                  </a:tcPr>
                </a:tc>
              </a:tr>
              <a:tr h="731520">
                <a:tc>
                  <a:txBody>
                    <a:bodyPr wrap="square"/>
                    <a:lstStyle/>
                    <a:p>
                      <a:r>
                        <a:rPr sz="1600" b="1" i="0">
                          <a:solidFill>
                            <a:srgbClr val="222222"/>
                          </a:solidFill>
                          <a:latin typeface="Times New Roman"/>
                        </a:rPr>
                        <a:t>Naturalness</a:t>
                      </a:r>
                    </a:p>
                  </a:txBody>
                  <a:tcPr anchor="ctr" marL="109728" marR="109728">
                    <a:solidFill>
                      <a:srgbClr val="FFFFFF"/>
                    </a:solidFill>
                  </a:tcPr>
                </a:tc>
                <a:tc>
                  <a:txBody>
                    <a:bodyPr wrap="square"/>
                    <a:lstStyle/>
                    <a:p>
                      <a:r>
                        <a:rPr sz="1600" b="0" i="0">
                          <a:solidFill>
                            <a:srgbClr val="222222"/>
                          </a:solidFill>
                          <a:latin typeface="Times New Roman"/>
                        </a:rPr>
                        <a:t>Does the attack text read like normal text, judged by a separate model?</a:t>
                      </a:r>
                    </a:p>
                  </a:txBody>
                  <a:tcPr anchor="ctr" marL="109728" marR="109728">
                    <a:solidFill>
                      <a:srgbClr val="FFFFFF"/>
                    </a:solidFill>
                  </a:tcPr>
                </a:tc>
                <a:tc>
                  <a:txBody>
                    <a:bodyPr wrap="square"/>
                    <a:lstStyle/>
                    <a:p>
                      <a:r>
                        <a:rPr sz="1600" b="0" i="0">
                          <a:solidFill>
                            <a:srgbClr val="222222"/>
                          </a:solidFill>
                          <a:latin typeface="Times New Roman"/>
                        </a:rPr>
                        <a:t>At most 1.5× less natural</a:t>
                      </a:r>
                    </a:p>
                  </a:txBody>
                  <a:tcPr anchor="ctr" marL="109728" marR="109728">
                    <a:solidFill>
                      <a:srgbClr val="FFFFFF"/>
                    </a:solidFill>
                  </a:tcPr>
                </a:tc>
              </a:tr>
            </a:tbl>
          </a:graphicData>
        </a:graphic>
      </p:graphicFrame>
      <p:sp>
        <p:nvSpPr>
          <p:cNvPr id="5" name="TextBox 4"/>
          <p:cNvSpPr txBox="1"/>
          <p:nvPr/>
        </p:nvSpPr>
        <p:spPr>
          <a:xfrm>
            <a:off x="731520" y="5532120"/>
            <a:ext cx="10728655" cy="548640"/>
          </a:xfrm>
          <a:prstGeom prst="rect">
            <a:avLst/>
          </a:prstGeom>
          <a:noFill/>
        </p:spPr>
        <p:txBody>
          <a:bodyPr wrap="square" anchor="t" lIns="0" rIns="0" tIns="0" bIns="0">
            <a:spAutoFit/>
          </a:bodyPr>
          <a:lstStyle/>
          <a:p>
            <a:pPr algn="l">
              <a:spcAft>
                <a:spcPts val="1000"/>
              </a:spcAft>
            </a:pPr>
            <a:r>
              <a:rPr sz="1800" b="1" i="0">
                <a:solidFill>
                  <a:srgbClr val="1B2A41"/>
                </a:solidFill>
                <a:latin typeface="Times New Roman"/>
              </a:rPr>
              <a:t>All three must pass. If any one fails, the honest answer is “no attack”, and we say so.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The proposed defence: a trust gate</a:t>
            </a:r>
          </a:p>
        </p:txBody>
      </p:sp>
      <p:sp>
        <p:nvSpPr>
          <p:cNvPr id="3" name="TextBox 2"/>
          <p:cNvSpPr txBox="1"/>
          <p:nvPr/>
        </p:nvSpPr>
        <p:spPr>
          <a:xfrm>
            <a:off x="731520" y="1417320"/>
            <a:ext cx="10728655" cy="137160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Before the model accepts each change to its fast weights, a gate checks it. The check asks one question: would this change pull the model's answers away from those of a frozen, trusted copy of itself, on a few test passages the attacker cannot see? If so, the change is refused.</a:t>
            </a:r>
          </a:p>
        </p:txBody>
      </p:sp>
      <p:sp>
        <p:nvSpPr>
          <p:cNvPr id="4" name="Rounded Rectangle 3"/>
          <p:cNvSpPr/>
          <p:nvPr/>
        </p:nvSpPr>
        <p:spPr>
          <a:xfrm>
            <a:off x="731520" y="3566160"/>
            <a:ext cx="2651760" cy="1005840"/>
          </a:xfrm>
          <a:prstGeom prst="roundRect">
            <a:avLst>
              <a:gd name="adj" fmla="val 12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0" i="0">
                <a:solidFill>
                  <a:srgbClr val="222222"/>
                </a:solidFill>
                <a:latin typeface="Times New Roman"/>
              </a:rPr>
              <a:t>A proposed change</a:t>
            </a:r>
          </a:p>
          <a:p>
            <a:pPr algn="ctr"/>
            <a:r>
              <a:rPr sz="1600" b="0" i="0">
                <a:solidFill>
                  <a:srgbClr val="222222"/>
                </a:solidFill>
                <a:latin typeface="Times New Roman"/>
              </a:rPr>
              <a:t>to the fast weights</a:t>
            </a:r>
          </a:p>
        </p:txBody>
      </p:sp>
      <p:sp>
        <p:nvSpPr>
          <p:cNvPr id="5" name="Right Arrow 4"/>
          <p:cNvSpPr/>
          <p:nvPr/>
        </p:nvSpPr>
        <p:spPr>
          <a:xfrm>
            <a:off x="3520439" y="3922776"/>
            <a:ext cx="411480" cy="292608"/>
          </a:xfrm>
          <a:prstGeom prst="right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69080" y="3246120"/>
            <a:ext cx="3840480" cy="1645920"/>
          </a:xfrm>
          <a:prstGeom prst="roundRect">
            <a:avLst>
              <a:gd name="adj" fmla="val 12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1" i="0">
                <a:solidFill>
                  <a:srgbClr val="FFFFFF"/>
                </a:solidFill>
                <a:latin typeface="Times New Roman"/>
              </a:rPr>
              <a:t>Trust gate</a:t>
            </a:r>
          </a:p>
          <a:p>
            <a:pPr algn="ctr"/>
            <a:r>
              <a:rPr sz="1600" b="0" i="0">
                <a:solidFill>
                  <a:srgbClr val="FFFFFF"/>
                </a:solidFill>
                <a:latin typeface="Times New Roman"/>
              </a:rPr>
              <a:t>compares answers with the</a:t>
            </a:r>
          </a:p>
          <a:p>
            <a:pPr algn="ctr"/>
            <a:r>
              <a:rPr sz="1600" b="0" i="0">
                <a:solidFill>
                  <a:srgbClr val="FFFFFF"/>
                </a:solidFill>
                <a:latin typeface="Times New Roman"/>
              </a:rPr>
              <a:t>trusted copy on hidden passages</a:t>
            </a:r>
          </a:p>
        </p:txBody>
      </p:sp>
      <p:sp>
        <p:nvSpPr>
          <p:cNvPr id="7" name="Right Arrow 6"/>
          <p:cNvSpPr/>
          <p:nvPr/>
        </p:nvSpPr>
        <p:spPr>
          <a:xfrm>
            <a:off x="8046720" y="3520439"/>
            <a:ext cx="411480" cy="292608"/>
          </a:xfrm>
          <a:prstGeom prst="right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8046720" y="4325112"/>
            <a:ext cx="411480" cy="292608"/>
          </a:xfrm>
          <a:prstGeom prst="right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95360" y="3200400"/>
            <a:ext cx="2834640" cy="731520"/>
          </a:xfrm>
          <a:prstGeom prst="roundRect">
            <a:avLst>
              <a:gd name="adj" fmla="val 12000"/>
            </a:avLst>
          </a:prstGeom>
          <a:solidFill>
            <a:srgbClr val="2E6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0" i="0">
                <a:solidFill>
                  <a:srgbClr val="FFFFFF"/>
                </a:solidFill>
                <a:latin typeface="Times New Roman"/>
              </a:rPr>
              <a:t>Close enough: accept</a:t>
            </a:r>
          </a:p>
        </p:txBody>
      </p:sp>
      <p:sp>
        <p:nvSpPr>
          <p:cNvPr id="10" name="Rounded Rectangle 9"/>
          <p:cNvSpPr/>
          <p:nvPr/>
        </p:nvSpPr>
        <p:spPr>
          <a:xfrm>
            <a:off x="8595360" y="4206240"/>
            <a:ext cx="2834640" cy="731520"/>
          </a:xfrm>
          <a:prstGeom prst="roundRect">
            <a:avLst>
              <a:gd name="adj" fmla="val 12000"/>
            </a:avLst>
          </a:prstGeom>
          <a:solidFill>
            <a:srgbClr val="A83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0" i="0">
                <a:solidFill>
                  <a:srgbClr val="FFFFFF"/>
                </a:solidFill>
                <a:latin typeface="Times New Roman"/>
              </a:rPr>
              <a:t>Too far: refuse</a:t>
            </a:r>
          </a:p>
        </p:txBody>
      </p:sp>
      <p:sp>
        <p:nvSpPr>
          <p:cNvPr id="11" name="TextBox 10"/>
          <p:cNvSpPr txBox="1"/>
          <p:nvPr/>
        </p:nvSpPr>
        <p:spPr>
          <a:xfrm>
            <a:off x="731520" y="5577840"/>
            <a:ext cx="10728655" cy="365760"/>
          </a:xfrm>
          <a:prstGeom prst="rect">
            <a:avLst/>
          </a:prstGeom>
          <a:noFill/>
        </p:spPr>
        <p:txBody>
          <a:bodyPr wrap="square" anchor="t" lIns="0" rIns="0" tIns="0" bIns="0">
            <a:spAutoFit/>
          </a:bodyPr>
          <a:lstStyle/>
          <a:p>
            <a:pPr algn="l">
              <a:spcAft>
                <a:spcPts val="1000"/>
              </a:spcAft>
            </a:pPr>
            <a:r>
              <a:rPr sz="1300" b="0" i="0">
                <a:solidFill>
                  <a:srgbClr val="5F6B7A"/>
                </a:solidFill>
                <a:latin typeface="Times New Roman"/>
              </a:rPr>
              <a:t>A second safeguard, a hard cap on total change, is designed but cannot yet be switched on inside the model's code. We do not claim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Attack first, defence second</a:t>
            </a:r>
          </a:p>
        </p:txBody>
      </p:sp>
      <p:sp>
        <p:nvSpPr>
          <p:cNvPr id="3" name="TextBox 2"/>
          <p:cNvSpPr txBox="1"/>
          <p:nvPr/>
        </p:nvSpPr>
        <p:spPr>
          <a:xfrm>
            <a:off x="731520" y="1417320"/>
            <a:ext cx="10728655" cy="1737360"/>
          </a:xfrm>
          <a:prstGeom prst="rect">
            <a:avLst/>
          </a:prstGeom>
          <a:noFill/>
        </p:spPr>
        <p:txBody>
          <a:bodyPr wrap="square" anchor="t" lIns="0" rIns="0" tIns="0" bIns="0">
            <a:spAutoFit/>
          </a:bodyPr>
          <a:lstStyle/>
          <a:p>
            <a:pPr algn="l">
              <a:spcAft>
                <a:spcPts val="1200"/>
              </a:spcAft>
            </a:pPr>
            <a:r>
              <a:rPr sz="1900" b="0" i="0">
                <a:solidFill>
                  <a:srgbClr val="222222"/>
                </a:solidFill>
                <a:latin typeface="Times New Roman"/>
              </a:rPr>
              <a:t>A defence against an attack nobody has shown to work would be wasted effort, so the attack is tested first.</a:t>
            </a:r>
          </a:p>
          <a:p>
            <a:pPr algn="l">
              <a:spcAft>
                <a:spcPts val="1200"/>
              </a:spcAft>
            </a:pPr>
            <a:r>
              <a:rPr sz="1900" b="0" i="0">
                <a:solidFill>
                  <a:srgbClr val="222222"/>
                </a:solidFill>
                <a:latin typeface="Times New Roman"/>
              </a:rPr>
              <a:t>To avoid paying for a second test session, the defence was built alongside it. That was a deliberate choice, recorded on 20 September. It does not change the pass rules.</a:t>
            </a:r>
          </a:p>
        </p:txBody>
      </p:sp>
      <p:sp>
        <p:nvSpPr>
          <p:cNvPr id="4" name="Rounded Rectangle 3"/>
          <p:cNvSpPr/>
          <p:nvPr/>
        </p:nvSpPr>
        <p:spPr>
          <a:xfrm>
            <a:off x="731520" y="4160520"/>
            <a:ext cx="2560320" cy="914400"/>
          </a:xfrm>
          <a:prstGeom prst="roundRect">
            <a:avLst>
              <a:gd name="adj" fmla="val 12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0" i="0">
                <a:solidFill>
                  <a:srgbClr val="222222"/>
                </a:solidFill>
                <a:latin typeface="Times New Roman"/>
              </a:rPr>
              <a:t>Run the attack test</a:t>
            </a:r>
          </a:p>
        </p:txBody>
      </p:sp>
      <p:sp>
        <p:nvSpPr>
          <p:cNvPr id="5" name="Right Arrow 4"/>
          <p:cNvSpPr/>
          <p:nvPr/>
        </p:nvSpPr>
        <p:spPr>
          <a:xfrm>
            <a:off x="3429000" y="4471416"/>
            <a:ext cx="411480" cy="292608"/>
          </a:xfrm>
          <a:prstGeom prst="right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977639" y="4023359"/>
            <a:ext cx="2743200" cy="1188720"/>
          </a:xfrm>
          <a:prstGeom prst="roundRect">
            <a:avLst>
              <a:gd name="adj" fmla="val 12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700" b="1" i="0">
                <a:solidFill>
                  <a:srgbClr val="FFFFFF"/>
                </a:solidFill>
                <a:latin typeface="Times New Roman"/>
              </a:rPr>
              <a:t>Do all three</a:t>
            </a:r>
          </a:p>
          <a:p>
            <a:pPr algn="ctr"/>
            <a:r>
              <a:rPr sz="1700" b="0" i="0">
                <a:solidFill>
                  <a:srgbClr val="FFFFFF"/>
                </a:solidFill>
                <a:latin typeface="Times New Roman"/>
              </a:rPr>
              <a:t>rules pass?</a:t>
            </a:r>
          </a:p>
        </p:txBody>
      </p:sp>
      <p:sp>
        <p:nvSpPr>
          <p:cNvPr id="7" name="Right Arrow 6"/>
          <p:cNvSpPr/>
          <p:nvPr/>
        </p:nvSpPr>
        <p:spPr>
          <a:xfrm>
            <a:off x="6858000" y="3931920"/>
            <a:ext cx="411480" cy="292608"/>
          </a:xfrm>
          <a:prstGeom prst="right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6858000" y="5029200"/>
            <a:ext cx="411480" cy="292608"/>
          </a:xfrm>
          <a:prstGeom prst="right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06640" y="3611879"/>
            <a:ext cx="4023360" cy="868680"/>
          </a:xfrm>
          <a:prstGeom prst="roundRect">
            <a:avLst>
              <a:gd name="adj" fmla="val 12000"/>
            </a:avLst>
          </a:prstGeom>
          <a:solidFill>
            <a:srgbClr val="2E6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0" i="0">
                <a:solidFill>
                  <a:srgbClr val="FFFFFF"/>
                </a:solidFill>
                <a:latin typeface="Times New Roman"/>
              </a:rPr>
              <a:t>Yes: measure how well the gate protects, and what it costs</a:t>
            </a:r>
          </a:p>
        </p:txBody>
      </p:sp>
      <p:sp>
        <p:nvSpPr>
          <p:cNvPr id="10" name="Rounded Rectangle 9"/>
          <p:cNvSpPr/>
          <p:nvPr/>
        </p:nvSpPr>
        <p:spPr>
          <a:xfrm>
            <a:off x="7406640" y="4754879"/>
            <a:ext cx="4023360" cy="868680"/>
          </a:xfrm>
          <a:prstGeom prst="roundRect">
            <a:avLst>
              <a:gd name="adj" fmla="val 12000"/>
            </a:avLst>
          </a:prstGeom>
          <a:solidFill>
            <a:srgbClr val="A832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0" i="0">
                <a:solidFill>
                  <a:srgbClr val="FFFFFF"/>
                </a:solidFill>
                <a:latin typeface="Times New Roman"/>
              </a:rPr>
              <a:t>No: stop, and publish the negative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Practice run on a small stand-in model</a:t>
            </a:r>
          </a:p>
        </p:txBody>
      </p:sp>
      <p:sp>
        <p:nvSpPr>
          <p:cNvPr id="3" name="TextBox 2"/>
          <p:cNvSpPr txBox="1"/>
          <p:nvPr/>
        </p:nvSpPr>
        <p:spPr>
          <a:xfrm>
            <a:off x="731520" y="1417320"/>
            <a:ext cx="10728655" cy="1463040"/>
          </a:xfrm>
          <a:prstGeom prst="rect">
            <a:avLst/>
          </a:prstGeom>
          <a:noFill/>
        </p:spPr>
        <p:txBody>
          <a:bodyPr wrap="square" anchor="t" lIns="0" rIns="0" tIns="0" bIns="0">
            <a:spAutoFit/>
          </a:bodyPr>
          <a:lstStyle/>
          <a:p>
            <a:pPr algn="l">
              <a:spcAft>
                <a:spcPts val="1200"/>
              </a:spcAft>
            </a:pPr>
            <a:r>
              <a:rPr sz="1900" b="0" i="0">
                <a:solidFill>
                  <a:srgbClr val="222222"/>
                </a:solidFill>
                <a:latin typeface="Times New Roman"/>
              </a:rPr>
              <a:t>Before paying for hardware, the whole experiment was run on a tiny model built the same way: about 100,000 adjustable settings instead of hundreds of millions. The attacker could only reorder real, harmless sentences.</a:t>
            </a:r>
          </a:p>
          <a:p>
            <a:pPr algn="l">
              <a:spcAft>
                <a:spcPts val="1200"/>
              </a:spcAft>
            </a:pPr>
            <a:r>
              <a:rPr sz="1900" b="1" i="0">
                <a:solidFill>
                  <a:srgbClr val="1B2A41"/>
                </a:solidFill>
                <a:latin typeface="Times New Roman"/>
              </a:rPr>
              <a:t>Result: no measurable attack. The model got 0.04% worse, against the 10% required.</a:t>
            </a:r>
          </a:p>
        </p:txBody>
      </p:sp>
      <p:graphicFrame>
        <p:nvGraphicFramePr>
          <p:cNvPr id="4" name="Chart 3"/>
          <p:cNvGraphicFramePr>
            <a:graphicFrameLocks noGrp="1"/>
          </p:cNvGraphicFramePr>
          <p:nvPr/>
        </p:nvGraphicFramePr>
        <p:xfrm>
          <a:off x="731520" y="3246120"/>
          <a:ext cx="10728655" cy="2651760"/>
        </p:xfrm>
        <a:graphic>
          <a:graphicData uri="http://schemas.openxmlformats.org/drawingml/2006/chart">
            <c:chart xmlns:c="http://schemas.openxmlformats.org/drawingml/2006/chart" r:id="rId2"/>
          </a:graphicData>
        </a:graphic>
      </p:graphicFrame>
      <p:sp>
        <p:nvSpPr>
          <p:cNvPr id="5" name="TextBox 4"/>
          <p:cNvSpPr txBox="1"/>
          <p:nvPr/>
        </p:nvSpPr>
        <p:spPr>
          <a:xfrm>
            <a:off x="731520" y="6035040"/>
            <a:ext cx="10728655" cy="365760"/>
          </a:xfrm>
          <a:prstGeom prst="rect">
            <a:avLst/>
          </a:prstGeom>
          <a:noFill/>
        </p:spPr>
        <p:txBody>
          <a:bodyPr wrap="square" anchor="t" lIns="0" rIns="0" tIns="0" bIns="0">
            <a:spAutoFit/>
          </a:bodyPr>
          <a:lstStyle/>
          <a:p>
            <a:pPr algn="l">
              <a:spcAft>
                <a:spcPts val="1000"/>
              </a:spcAft>
            </a:pPr>
            <a:r>
              <a:rPr sz="1300" b="0" i="0">
                <a:solidFill>
                  <a:srgbClr val="5F6B7A"/>
                </a:solidFill>
                <a:latin typeface="Times New Roman"/>
              </a:rPr>
              <a:t>The attack's effect was smaller than the normal wobble between repeat runs. This says nothing yet about the real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Checking the measuring tool itself</a:t>
            </a:r>
          </a:p>
        </p:txBody>
      </p:sp>
      <p:sp>
        <p:nvSpPr>
          <p:cNvPr id="3" name="TextBox 2"/>
          <p:cNvSpPr txBox="1"/>
          <p:nvPr/>
        </p:nvSpPr>
        <p:spPr>
          <a:xfrm>
            <a:off x="731520" y="1417320"/>
            <a:ext cx="10728655" cy="118872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We ran the measurement 20 times with no attacker at all, where the right answer is zero. Three of the 20 still crossed the pass line: a 15% false-alarm rate.</a:t>
            </a:r>
          </a:p>
        </p:txBody>
      </p:sp>
      <p:pic>
        <p:nvPicPr>
          <p:cNvPr id="4" name="Picture 3" descr="null_distribution.png"/>
          <p:cNvPicPr>
            <a:picLocks noChangeAspect="1"/>
          </p:cNvPicPr>
          <p:nvPr/>
        </p:nvPicPr>
        <p:blipFill>
          <a:blip r:embed="rId2"/>
          <a:stretch>
            <a:fillRect/>
          </a:stretch>
        </p:blipFill>
        <p:spPr>
          <a:xfrm>
            <a:off x="1097280" y="2468880"/>
            <a:ext cx="9997135" cy="2835726"/>
          </a:xfrm>
          <a:prstGeom prst="rect">
            <a:avLst/>
          </a:prstGeom>
        </p:spPr>
      </p:pic>
      <p:sp>
        <p:nvSpPr>
          <p:cNvPr id="5" name="TextBox 4"/>
          <p:cNvSpPr txBox="1"/>
          <p:nvPr/>
        </p:nvSpPr>
        <p:spPr>
          <a:xfrm>
            <a:off x="731520" y="5623560"/>
            <a:ext cx="10728655" cy="822960"/>
          </a:xfrm>
          <a:prstGeom prst="rect">
            <a:avLst/>
          </a:prstGeom>
          <a:noFill/>
        </p:spPr>
        <p:txBody>
          <a:bodyPr wrap="square" anchor="t" lIns="0" rIns="0" tIns="0" bIns="0">
            <a:spAutoFit/>
          </a:bodyPr>
          <a:lstStyle/>
          <a:p>
            <a:pPr algn="l">
              <a:spcAft>
                <a:spcPts val="1000"/>
              </a:spcAft>
            </a:pPr>
            <a:r>
              <a:rPr sz="1700" b="0" i="0">
                <a:solidFill>
                  <a:srgbClr val="5F6B7A"/>
                </a:solidFill>
                <a:latin typeface="Times New Roman"/>
              </a:rPr>
              <a:t>So one pass on its own is not proof. The rule was left exactly as written; the real result will be read with this rate in mind.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The real model runs on our code</a:t>
            </a:r>
          </a:p>
        </p:txBody>
      </p:sp>
      <p:sp>
        <p:nvSpPr>
          <p:cNvPr id="3" name="TextBox 2"/>
          <p:cNvSpPr txBox="1"/>
          <p:nvPr/>
        </p:nvSpPr>
        <p:spPr>
          <a:xfrm>
            <a:off x="731520" y="1417320"/>
            <a:ext cx="10728655" cy="137160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A small, untrained copy of the real model, driven by our code on a home graphics card. Each point is one section of text; lower means better predictions.</a:t>
            </a:r>
          </a:p>
        </p:txBody>
      </p:sp>
      <p:pic>
        <p:nvPicPr>
          <p:cNvPr id="4" name="Picture 3" descr="inner_loop_curve.png"/>
          <p:cNvPicPr>
            <a:picLocks noChangeAspect="1"/>
          </p:cNvPicPr>
          <p:nvPr/>
        </p:nvPicPr>
        <p:blipFill>
          <a:blip r:embed="rId2"/>
          <a:stretch>
            <a:fillRect/>
          </a:stretch>
        </p:blipFill>
        <p:spPr>
          <a:xfrm>
            <a:off x="731520" y="2331720"/>
            <a:ext cx="10728655" cy="3094804"/>
          </a:xfrm>
          <a:prstGeom prst="rect">
            <a:avLst/>
          </a:prstGeom>
        </p:spPr>
      </p:pic>
      <p:sp>
        <p:nvSpPr>
          <p:cNvPr id="5" name="TextBox 4"/>
          <p:cNvSpPr txBox="1"/>
          <p:nvPr/>
        </p:nvSpPr>
        <p:spPr>
          <a:xfrm>
            <a:off x="731520" y="5440680"/>
            <a:ext cx="10728655" cy="914400"/>
          </a:xfrm>
          <a:prstGeom prst="rect">
            <a:avLst/>
          </a:prstGeom>
          <a:noFill/>
        </p:spPr>
        <p:txBody>
          <a:bodyPr wrap="square" anchor="t" lIns="0" rIns="0" tIns="0" bIns="0">
            <a:spAutoFit/>
          </a:bodyPr>
          <a:lstStyle/>
          <a:p>
            <a:pPr algn="l">
              <a:spcAft>
                <a:spcPts val="1000"/>
              </a:spcAft>
            </a:pPr>
            <a:r>
              <a:rPr sz="1700" b="0" i="0">
                <a:solidFill>
                  <a:srgbClr val="5F6B7A"/>
                </a:solidFill>
                <a:latin typeface="Times New Roman"/>
              </a:rPr>
              <a:t>The starting error matched the value we predicted in advance to within 0.03, and fell by 2.0 as the model read. The model is learning while it reads, as designed.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A change of plan: a smaller real model</a:t>
            </a:r>
          </a:p>
        </p:txBody>
      </p:sp>
      <p:sp>
        <p:nvSpPr>
          <p:cNvPr id="3" name="TextBox 2"/>
          <p:cNvSpPr txBox="1"/>
          <p:nvPr/>
        </p:nvSpPr>
        <p:spPr>
          <a:xfrm>
            <a:off x="731520" y="1417320"/>
            <a:ext cx="10728655" cy="118872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The full-size model needs a rented data-centre GPU. Our cloud quota request was refused, and the one provider we could pay required a large advance deposit. So we will run the same tests on the smallest official version of the same model.</a:t>
            </a:r>
          </a:p>
        </p:txBody>
      </p:sp>
      <p:graphicFrame>
        <p:nvGraphicFramePr>
          <p:cNvPr id="4" name="Table 3"/>
          <p:cNvGraphicFramePr>
            <a:graphicFrameLocks noGrp="1"/>
          </p:cNvGraphicFramePr>
          <p:nvPr/>
        </p:nvGraphicFramePr>
        <p:xfrm>
          <a:off x="731520" y="2834640"/>
          <a:ext cx="10725912" cy="2834640"/>
        </p:xfrm>
        <a:graphic>
          <a:graphicData uri="http://schemas.openxmlformats.org/drawingml/2006/table">
            <a:tbl>
              <a:tblPr firstRow="1" bandRow="1">
                <a:tableStyleId>{5C22544A-7EE6-4342-B048-85BDC9FD1C3A}</a:tableStyleId>
              </a:tblPr>
              <a:tblGrid>
                <a:gridCol w="2377440"/>
                <a:gridCol w="4114800"/>
                <a:gridCol w="4233672"/>
              </a:tblGrid>
              <a:tr h="566928">
                <a:tc>
                  <a:txBody>
                    <a:bodyPr wrap="square"/>
                    <a:lstStyle/>
                    <a:p>
                      <a:r>
                        <a:rPr sz="1600" b="1" i="0">
                          <a:solidFill>
                            <a:srgbClr val="FFFFFF"/>
                          </a:solidFill>
                          <a:latin typeface="Times New Roman"/>
                        </a:rPr>
                        <a:t/>
                      </a:r>
                    </a:p>
                  </a:txBody>
                  <a:tcPr anchor="ctr" marL="109728" marR="109728">
                    <a:solidFill>
                      <a:srgbClr val="1B2A41"/>
                    </a:solidFill>
                  </a:tcPr>
                </a:tc>
                <a:tc>
                  <a:txBody>
                    <a:bodyPr wrap="square"/>
                    <a:lstStyle/>
                    <a:p>
                      <a:r>
                        <a:rPr sz="1600" b="1" i="0">
                          <a:solidFill>
                            <a:srgbClr val="FFFFFF"/>
                          </a:solidFill>
                          <a:latin typeface="Times New Roman"/>
                        </a:rPr>
                        <a:t>Original plan</a:t>
                      </a:r>
                    </a:p>
                  </a:txBody>
                  <a:tcPr anchor="ctr" marL="109728" marR="109728">
                    <a:solidFill>
                      <a:srgbClr val="1B2A41"/>
                    </a:solidFill>
                  </a:tcPr>
                </a:tc>
                <a:tc>
                  <a:txBody>
                    <a:bodyPr wrap="square"/>
                    <a:lstStyle/>
                    <a:p>
                      <a:r>
                        <a:rPr sz="1600" b="1" i="0">
                          <a:solidFill>
                            <a:srgbClr val="FFFFFF"/>
                          </a:solidFill>
                          <a:latin typeface="Times New Roman"/>
                        </a:rPr>
                        <a:t>New plan</a:t>
                      </a:r>
                    </a:p>
                  </a:txBody>
                  <a:tcPr anchor="ctr" marL="109728" marR="109728">
                    <a:solidFill>
                      <a:srgbClr val="1B2A41"/>
                    </a:solidFill>
                  </a:tcPr>
                </a:tc>
              </a:tr>
              <a:tr h="566928">
                <a:tc>
                  <a:txBody>
                    <a:bodyPr wrap="square"/>
                    <a:lstStyle/>
                    <a:p>
                      <a:r>
                        <a:rPr sz="1600" b="1" i="0">
                          <a:solidFill>
                            <a:srgbClr val="222222"/>
                          </a:solidFill>
                          <a:latin typeface="Times New Roman"/>
                        </a:rPr>
                        <a:t>Model</a:t>
                      </a:r>
                    </a:p>
                  </a:txBody>
                  <a:tcPr anchor="ctr" marL="109728" marR="109728">
                    <a:solidFill>
                      <a:srgbClr val="FFFFFF"/>
                    </a:solidFill>
                  </a:tcPr>
                </a:tc>
                <a:tc>
                  <a:txBody>
                    <a:bodyPr wrap="square"/>
                    <a:lstStyle/>
                    <a:p>
                      <a:r>
                        <a:rPr sz="1600" b="0" i="0">
                          <a:solidFill>
                            <a:srgbClr val="222222"/>
                          </a:solidFill>
                          <a:latin typeface="Times New Roman"/>
                        </a:rPr>
                        <a:t>TTT-E2E, about 1 billion settings</a:t>
                      </a:r>
                    </a:p>
                  </a:txBody>
                  <a:tcPr anchor="ctr" marL="109728" marR="109728">
                    <a:solidFill>
                      <a:srgbClr val="FFFFFF"/>
                    </a:solidFill>
                  </a:tcPr>
                </a:tc>
                <a:tc>
                  <a:txBody>
                    <a:bodyPr wrap="square"/>
                    <a:lstStyle/>
                    <a:p>
                      <a:r>
                        <a:rPr sz="1600" b="0" i="0">
                          <a:solidFill>
                            <a:srgbClr val="222222"/>
                          </a:solidFill>
                          <a:latin typeface="Times New Roman"/>
                        </a:rPr>
                        <a:t>TTT-E2E, 125 million settings, same recipe</a:t>
                      </a:r>
                    </a:p>
                  </a:txBody>
                  <a:tcPr anchor="ctr" marL="109728" marR="109728">
                    <a:solidFill>
                      <a:srgbClr val="FFFFFF"/>
                    </a:solidFill>
                  </a:tcPr>
                </a:tc>
              </a:tr>
              <a:tr h="566928">
                <a:tc>
                  <a:txBody>
                    <a:bodyPr wrap="square"/>
                    <a:lstStyle/>
                    <a:p>
                      <a:r>
                        <a:rPr sz="1600" b="1" i="0">
                          <a:solidFill>
                            <a:srgbClr val="222222"/>
                          </a:solidFill>
                          <a:latin typeface="Times New Roman"/>
                        </a:rPr>
                        <a:t>Hardware</a:t>
                      </a:r>
                    </a:p>
                  </a:txBody>
                  <a:tcPr anchor="ctr" marL="109728" marR="109728">
                    <a:solidFill>
                      <a:srgbClr val="EEF1F5"/>
                    </a:solidFill>
                  </a:tcPr>
                </a:tc>
                <a:tc>
                  <a:txBody>
                    <a:bodyPr wrap="square"/>
                    <a:lstStyle/>
                    <a:p>
                      <a:r>
                        <a:rPr sz="1600" b="0" i="0">
                          <a:solidFill>
                            <a:srgbClr val="222222"/>
                          </a:solidFill>
                          <a:latin typeface="Times New Roman"/>
                        </a:rPr>
                        <a:t>Rented 80 GB data-centre GPU</a:t>
                      </a:r>
                    </a:p>
                  </a:txBody>
                  <a:tcPr anchor="ctr" marL="109728" marR="109728">
                    <a:solidFill>
                      <a:srgbClr val="EEF1F5"/>
                    </a:solidFill>
                  </a:tcPr>
                </a:tc>
                <a:tc>
                  <a:txBody>
                    <a:bodyPr wrap="square"/>
                    <a:lstStyle/>
                    <a:p>
                      <a:r>
                        <a:rPr sz="1600" b="0" i="0">
                          <a:solidFill>
                            <a:srgbClr val="222222"/>
                          </a:solidFill>
                          <a:latin typeface="Times New Roman"/>
                        </a:rPr>
                        <a:t>Own laptop GPU, or a free Kaggle GPU</a:t>
                      </a:r>
                    </a:p>
                  </a:txBody>
                  <a:tcPr anchor="ctr" marL="109728" marR="109728">
                    <a:solidFill>
                      <a:srgbClr val="EEF1F5"/>
                    </a:solidFill>
                  </a:tcPr>
                </a:tc>
              </a:tr>
              <a:tr h="566928">
                <a:tc>
                  <a:txBody>
                    <a:bodyPr wrap="square"/>
                    <a:lstStyle/>
                    <a:p>
                      <a:r>
                        <a:rPr sz="1600" b="1" i="0">
                          <a:solidFill>
                            <a:srgbClr val="222222"/>
                          </a:solidFill>
                          <a:latin typeface="Times New Roman"/>
                        </a:rPr>
                        <a:t>Cost per session</a:t>
                      </a:r>
                    </a:p>
                  </a:txBody>
                  <a:tcPr anchor="ctr" marL="109728" marR="109728">
                    <a:solidFill>
                      <a:srgbClr val="FFFFFF"/>
                    </a:solidFill>
                  </a:tcPr>
                </a:tc>
                <a:tc>
                  <a:txBody>
                    <a:bodyPr wrap="square"/>
                    <a:lstStyle/>
                    <a:p>
                      <a:r>
                        <a:rPr sz="1600" b="0" i="0">
                          <a:solidFill>
                            <a:srgbClr val="222222"/>
                          </a:solidFill>
                          <a:latin typeface="Times New Roman"/>
                        </a:rPr>
                        <a:t>About ₹1,400 to ₹1,800</a:t>
                      </a:r>
                    </a:p>
                  </a:txBody>
                  <a:tcPr anchor="ctr" marL="109728" marR="109728">
                    <a:solidFill>
                      <a:srgbClr val="FFFFFF"/>
                    </a:solidFill>
                  </a:tcPr>
                </a:tc>
                <a:tc>
                  <a:txBody>
                    <a:bodyPr wrap="square"/>
                    <a:lstStyle/>
                    <a:p>
                      <a:r>
                        <a:rPr sz="1600" b="0" i="0">
                          <a:solidFill>
                            <a:srgbClr val="222222"/>
                          </a:solidFill>
                          <a:latin typeface="Times New Roman"/>
                        </a:rPr>
                        <a:t>About ₹15, for downloading the model</a:t>
                      </a:r>
                    </a:p>
                  </a:txBody>
                  <a:tcPr anchor="ctr" marL="109728" marR="109728">
                    <a:solidFill>
                      <a:srgbClr val="FFFFFF"/>
                    </a:solidFill>
                  </a:tcPr>
                </a:tc>
              </a:tr>
              <a:tr h="566928">
                <a:tc>
                  <a:txBody>
                    <a:bodyPr wrap="square"/>
                    <a:lstStyle/>
                    <a:p>
                      <a:r>
                        <a:rPr sz="1600" b="1" i="0">
                          <a:solidFill>
                            <a:srgbClr val="222222"/>
                          </a:solidFill>
                          <a:latin typeface="Times New Roman"/>
                        </a:rPr>
                        <a:t>Status</a:t>
                      </a:r>
                    </a:p>
                  </a:txBody>
                  <a:tcPr anchor="ctr" marL="109728" marR="109728">
                    <a:solidFill>
                      <a:srgbClr val="EEF1F5"/>
                    </a:solidFill>
                  </a:tcPr>
                </a:tc>
                <a:tc>
                  <a:txBody>
                    <a:bodyPr wrap="square"/>
                    <a:lstStyle/>
                    <a:p>
                      <a:r>
                        <a:rPr sz="1600" b="0" i="0">
                          <a:solidFill>
                            <a:srgbClr val="222222"/>
                          </a:solidFill>
                          <a:latin typeface="Times New Roman"/>
                        </a:rPr>
                        <a:t>Blocked: no card available on terms we could meet</a:t>
                      </a:r>
                    </a:p>
                  </a:txBody>
                  <a:tcPr anchor="ctr" marL="109728" marR="109728">
                    <a:solidFill>
                      <a:srgbClr val="EEF1F5"/>
                    </a:solidFill>
                  </a:tcPr>
                </a:tc>
                <a:tc>
                  <a:txBody>
                    <a:bodyPr wrap="square"/>
                    <a:lstStyle/>
                    <a:p>
                      <a:r>
                        <a:rPr sz="1600" b="0" i="0">
                          <a:solidFill>
                            <a:srgbClr val="222222"/>
                          </a:solidFill>
                          <a:latin typeface="Times New Roman"/>
                        </a:rPr>
                        <a:t>Being prepared now</a:t>
                      </a:r>
                    </a:p>
                  </a:txBody>
                  <a:tcPr anchor="ctr" marL="109728" marR="109728">
                    <a:solidFill>
                      <a:srgbClr val="EEF1F5"/>
                    </a:solidFill>
                  </a:tcPr>
                </a:tc>
              </a:tr>
            </a:tbl>
          </a:graphicData>
        </a:graphic>
      </p:graphicFrame>
      <p:sp>
        <p:nvSpPr>
          <p:cNvPr id="5" name="TextBox 4"/>
          <p:cNvSpPr txBox="1"/>
          <p:nvPr/>
        </p:nvSpPr>
        <p:spPr>
          <a:xfrm>
            <a:off x="731520" y="5897880"/>
            <a:ext cx="10728655" cy="365760"/>
          </a:xfrm>
          <a:prstGeom prst="rect">
            <a:avLst/>
          </a:prstGeom>
          <a:noFill/>
        </p:spPr>
        <p:txBody>
          <a:bodyPr wrap="square" anchor="t" lIns="0" rIns="0" tIns="0" bIns="0">
            <a:spAutoFit/>
          </a:bodyPr>
          <a:lstStyle/>
          <a:p>
            <a:pPr algn="l">
              <a:spcAft>
                <a:spcPts val="1000"/>
              </a:spcAft>
            </a:pPr>
            <a:r>
              <a:rPr sz="1300" b="0" i="0">
                <a:solidFill>
                  <a:srgbClr val="5F6B7A"/>
                </a:solidFill>
                <a:latin typeface="Times New Roman"/>
              </a:rPr>
              <a:t>The pass rules are unchanged. The switch is recorded, with its date and reasons, in the project's pre-registration.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What each outcome will mean, decided now</a:t>
            </a:r>
          </a:p>
        </p:txBody>
      </p:sp>
      <p:sp>
        <p:nvSpPr>
          <p:cNvPr id="3" name="TextBox 2"/>
          <p:cNvSpPr txBox="1"/>
          <p:nvPr/>
        </p:nvSpPr>
        <p:spPr>
          <a:xfrm>
            <a:off x="731520" y="1417320"/>
            <a:ext cx="10728655" cy="91440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Deciding this before the test prevents us from explaining away an answer we do not like.</a:t>
            </a:r>
          </a:p>
        </p:txBody>
      </p:sp>
      <p:graphicFrame>
        <p:nvGraphicFramePr>
          <p:cNvPr id="4" name="Table 3"/>
          <p:cNvGraphicFramePr>
            <a:graphicFrameLocks noGrp="1"/>
          </p:cNvGraphicFramePr>
          <p:nvPr/>
        </p:nvGraphicFramePr>
        <p:xfrm>
          <a:off x="731520" y="2286000"/>
          <a:ext cx="10725912" cy="2880360"/>
        </p:xfrm>
        <a:graphic>
          <a:graphicData uri="http://schemas.openxmlformats.org/drawingml/2006/table">
            <a:tbl>
              <a:tblPr firstRow="1" bandRow="1">
                <a:tableStyleId>{5C22544A-7EE6-4342-B048-85BDC9FD1C3A}</a:tableStyleId>
              </a:tblPr>
              <a:tblGrid>
                <a:gridCol w="2743200"/>
                <a:gridCol w="7982712"/>
              </a:tblGrid>
              <a:tr h="960120">
                <a:tc>
                  <a:txBody>
                    <a:bodyPr wrap="square"/>
                    <a:lstStyle/>
                    <a:p>
                      <a:r>
                        <a:rPr sz="1700" b="1" i="0">
                          <a:solidFill>
                            <a:srgbClr val="FFFFFF"/>
                          </a:solidFill>
                          <a:latin typeface="Times New Roman"/>
                        </a:rPr>
                        <a:t>Outcome</a:t>
                      </a:r>
                    </a:p>
                  </a:txBody>
                  <a:tcPr anchor="ctr" marL="109728" marR="109728">
                    <a:solidFill>
                      <a:srgbClr val="1B2A41"/>
                    </a:solidFill>
                  </a:tcPr>
                </a:tc>
                <a:tc>
                  <a:txBody>
                    <a:bodyPr wrap="square"/>
                    <a:lstStyle/>
                    <a:p>
                      <a:r>
                        <a:rPr sz="1700" b="1" i="0">
                          <a:solidFill>
                            <a:srgbClr val="FFFFFF"/>
                          </a:solidFill>
                          <a:latin typeface="Times New Roman"/>
                        </a:rPr>
                        <a:t>What we will say and do</a:t>
                      </a:r>
                    </a:p>
                  </a:txBody>
                  <a:tcPr anchor="ctr" marL="109728" marR="109728">
                    <a:solidFill>
                      <a:srgbClr val="1B2A41"/>
                    </a:solidFill>
                  </a:tcPr>
                </a:tc>
              </a:tr>
              <a:tr h="960120">
                <a:tc>
                  <a:txBody>
                    <a:bodyPr wrap="square"/>
                    <a:lstStyle/>
                    <a:p>
                      <a:r>
                        <a:rPr sz="1700" b="1" i="0">
                          <a:solidFill>
                            <a:srgbClr val="222222"/>
                          </a:solidFill>
                          <a:latin typeface="Times New Roman"/>
                        </a:rPr>
                        <a:t>All three rules pass</a:t>
                      </a:r>
                    </a:p>
                  </a:txBody>
                  <a:tcPr anchor="ctr" marL="109728" marR="109728">
                    <a:solidFill>
                      <a:srgbClr val="FFFFFF"/>
                    </a:solidFill>
                  </a:tcPr>
                </a:tc>
                <a:tc>
                  <a:txBody>
                    <a:bodyPr wrap="square"/>
                    <a:lstStyle/>
                    <a:p>
                      <a:r>
                        <a:rPr sz="1700" b="0" i="0">
                          <a:solidFill>
                            <a:srgbClr val="222222"/>
                          </a:solidFill>
                          <a:latin typeface="Times New Roman"/>
                        </a:rPr>
                        <a:t>The attack is real on a released TTT-E2E model. We then measure the trust gate. We make no claim about larger models.</a:t>
                      </a:r>
                    </a:p>
                  </a:txBody>
                  <a:tcPr anchor="ctr" marL="109728" marR="109728">
                    <a:solidFill>
                      <a:srgbClr val="FFFFFF"/>
                    </a:solidFill>
                  </a:tcPr>
                </a:tc>
              </a:tr>
              <a:tr h="960120">
                <a:tc>
                  <a:txBody>
                    <a:bodyPr wrap="square"/>
                    <a:lstStyle/>
                    <a:p>
                      <a:r>
                        <a:rPr sz="1700" b="1" i="0">
                          <a:solidFill>
                            <a:srgbClr val="222222"/>
                          </a:solidFill>
                          <a:latin typeface="Times New Roman"/>
                        </a:rPr>
                        <a:t>Any rule fails</a:t>
                      </a:r>
                    </a:p>
                  </a:txBody>
                  <a:tcPr anchor="ctr" marL="109728" marR="109728">
                    <a:solidFill>
                      <a:srgbClr val="EEF1F5"/>
                    </a:solidFill>
                  </a:tcPr>
                </a:tc>
                <a:tc>
                  <a:txBody>
                    <a:bodyPr wrap="square"/>
                    <a:lstStyle/>
                    <a:p>
                      <a:r>
                        <a:rPr sz="1700" b="0" i="0">
                          <a:solidFill>
                            <a:srgbClr val="222222"/>
                          </a:solidFill>
                          <a:latin typeface="Times New Roman"/>
                        </a:rPr>
                        <a:t>The project stops and publishes the negative result. We will not retry on a larger model to rescue it.</a:t>
                      </a:r>
                    </a:p>
                  </a:txBody>
                  <a:tcPr anchor="ctr" marL="109728" marR="109728">
                    <a:solidFill>
                      <a:srgbClr val="EEF1F5"/>
                    </a:solidFill>
                  </a:tcPr>
                </a:tc>
              </a:tr>
            </a:tbl>
          </a:graphicData>
        </a:graphic>
      </p:graphicFrame>
      <p:sp>
        <p:nvSpPr>
          <p:cNvPr id="5" name="TextBox 4"/>
          <p:cNvSpPr txBox="1"/>
          <p:nvPr/>
        </p:nvSpPr>
        <p:spPr>
          <a:xfrm>
            <a:off x="731520" y="5897880"/>
            <a:ext cx="10728655" cy="365760"/>
          </a:xfrm>
          <a:prstGeom prst="rect">
            <a:avLst/>
          </a:prstGeom>
          <a:noFill/>
        </p:spPr>
        <p:txBody>
          <a:bodyPr wrap="square" anchor="t" lIns="0" rIns="0" tIns="0" bIns="0">
            <a:spAutoFit/>
          </a:bodyPr>
          <a:lstStyle/>
          <a:p>
            <a:pPr algn="l">
              <a:spcAft>
                <a:spcPts val="1000"/>
              </a:spcAft>
            </a:pPr>
            <a:r>
              <a:rPr sz="1300" b="0" i="0">
                <a:solidFill>
                  <a:srgbClr val="5F6B7A"/>
                </a:solidFill>
                <a:latin typeface="Times New Roman"/>
              </a:rPr>
              <a:t>A smaller model could behave differently from a larger one. We accept that a “no” at this size may not hold at every size, and chose to stop on it anyway.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Risks and open questions</a:t>
            </a:r>
          </a:p>
        </p:txBody>
      </p:sp>
      <p:sp>
        <p:nvSpPr>
          <p:cNvPr id="3" name="Oval 2"/>
          <p:cNvSpPr/>
          <p:nvPr/>
        </p:nvSpPr>
        <p:spPr>
          <a:xfrm>
            <a:off x="731520" y="1572768"/>
            <a:ext cx="457200" cy="45720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rPr>
              <a:t>1</a:t>
            </a:r>
          </a:p>
        </p:txBody>
      </p:sp>
      <p:sp>
        <p:nvSpPr>
          <p:cNvPr id="4" name="TextBox 3"/>
          <p:cNvSpPr txBox="1"/>
          <p:nvPr/>
        </p:nvSpPr>
        <p:spPr>
          <a:xfrm>
            <a:off x="1463040" y="1554480"/>
            <a:ext cx="9997135" cy="914400"/>
          </a:xfrm>
          <a:prstGeom prst="rect">
            <a:avLst/>
          </a:prstGeom>
          <a:noFill/>
        </p:spPr>
        <p:txBody>
          <a:bodyPr wrap="square" anchor="t" lIns="0" rIns="0" tIns="0" bIns="0">
            <a:spAutoFit/>
          </a:bodyPr>
          <a:lstStyle/>
          <a:p>
            <a:pPr algn="l">
              <a:spcAft>
                <a:spcPts val="1000"/>
              </a:spcAft>
            </a:pPr>
            <a:r>
              <a:rPr sz="1800" b="0" i="0">
                <a:solidFill>
                  <a:srgbClr val="222222"/>
                </a:solidFill>
                <a:latin typeface="Times New Roman"/>
              </a:rPr>
              <a:t/>
            </a:r>
            <a:r>
              <a:rPr sz="1800" b="1" i="0">
                <a:solidFill>
                  <a:srgbClr val="1B2A41"/>
                </a:solidFill>
                <a:latin typeface="Times New Roman"/>
              </a:rPr>
              <a:t>Memory. </a:t>
            </a:r>
            <a:r>
              <a:rPr sz="1800" b="0" i="0">
                <a:solidFill>
                  <a:srgbClr val="222222"/>
                </a:solidFill>
                <a:latin typeface="Times New Roman"/>
              </a:rPr>
              <a:t>An earlier test on the laptop ran out of graphics memory. Free tests this week will show whether it copes; a free 16 GB Kaggle GPU is the backup.</a:t>
            </a:r>
          </a:p>
        </p:txBody>
      </p:sp>
      <p:sp>
        <p:nvSpPr>
          <p:cNvPr id="5" name="Oval 4"/>
          <p:cNvSpPr/>
          <p:nvPr/>
        </p:nvSpPr>
        <p:spPr>
          <a:xfrm>
            <a:off x="731520" y="2670048"/>
            <a:ext cx="457200" cy="45720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rPr>
              <a:t>2</a:t>
            </a:r>
          </a:p>
        </p:txBody>
      </p:sp>
      <p:sp>
        <p:nvSpPr>
          <p:cNvPr id="6" name="TextBox 5"/>
          <p:cNvSpPr txBox="1"/>
          <p:nvPr/>
        </p:nvSpPr>
        <p:spPr>
          <a:xfrm>
            <a:off x="1463040" y="2651760"/>
            <a:ext cx="9997135" cy="914400"/>
          </a:xfrm>
          <a:prstGeom prst="rect">
            <a:avLst/>
          </a:prstGeom>
          <a:noFill/>
        </p:spPr>
        <p:txBody>
          <a:bodyPr wrap="square" anchor="t" lIns="0" rIns="0" tIns="0" bIns="0">
            <a:spAutoFit/>
          </a:bodyPr>
          <a:lstStyle/>
          <a:p>
            <a:pPr algn="l">
              <a:spcAft>
                <a:spcPts val="1000"/>
              </a:spcAft>
            </a:pPr>
            <a:r>
              <a:rPr sz="1800" b="0" i="0">
                <a:solidFill>
                  <a:srgbClr val="222222"/>
                </a:solidFill>
                <a:latin typeface="Times New Roman"/>
              </a:rPr>
              <a:t/>
            </a:r>
            <a:r>
              <a:rPr sz="1800" b="1" i="0">
                <a:solidFill>
                  <a:srgbClr val="1B2A41"/>
                </a:solidFill>
                <a:latin typeface="Times New Roman"/>
              </a:rPr>
              <a:t>Data access. </a:t>
            </a:r>
            <a:r>
              <a:rPr sz="1800" b="0" i="0">
                <a:solidFill>
                  <a:srgbClr val="222222"/>
                </a:solidFill>
                <a:latin typeface="Times New Roman"/>
              </a:rPr>
              <a:t>The model files sit in a paid cloud bucket. A teammate will download them, about ₹15, and share the files. No passwords or keys change hands.</a:t>
            </a:r>
          </a:p>
        </p:txBody>
      </p:sp>
      <p:sp>
        <p:nvSpPr>
          <p:cNvPr id="7" name="Oval 6"/>
          <p:cNvSpPr/>
          <p:nvPr/>
        </p:nvSpPr>
        <p:spPr>
          <a:xfrm>
            <a:off x="731520" y="3767327"/>
            <a:ext cx="457200" cy="45720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rPr>
              <a:t>3</a:t>
            </a:r>
          </a:p>
        </p:txBody>
      </p:sp>
      <p:sp>
        <p:nvSpPr>
          <p:cNvPr id="8" name="TextBox 7"/>
          <p:cNvSpPr txBox="1"/>
          <p:nvPr/>
        </p:nvSpPr>
        <p:spPr>
          <a:xfrm>
            <a:off x="1463040" y="3749039"/>
            <a:ext cx="9997135" cy="914400"/>
          </a:xfrm>
          <a:prstGeom prst="rect">
            <a:avLst/>
          </a:prstGeom>
          <a:noFill/>
        </p:spPr>
        <p:txBody>
          <a:bodyPr wrap="square" anchor="t" lIns="0" rIns="0" tIns="0" bIns="0">
            <a:spAutoFit/>
          </a:bodyPr>
          <a:lstStyle/>
          <a:p>
            <a:pPr algn="l">
              <a:spcAft>
                <a:spcPts val="1000"/>
              </a:spcAft>
            </a:pPr>
            <a:r>
              <a:rPr sz="1800" b="0" i="0">
                <a:solidFill>
                  <a:srgbClr val="222222"/>
                </a:solidFill>
                <a:latin typeface="Times New Roman"/>
              </a:rPr>
              <a:t/>
            </a:r>
            <a:r>
              <a:rPr sz="1800" b="1" i="0">
                <a:solidFill>
                  <a:srgbClr val="1B2A41"/>
                </a:solidFill>
                <a:latin typeface="Times New Roman"/>
              </a:rPr>
              <a:t>Scale. </a:t>
            </a:r>
            <a:r>
              <a:rPr sz="1800" b="0" i="0">
                <a:solidFill>
                  <a:srgbClr val="222222"/>
                </a:solidFill>
                <a:latin typeface="Times New Roman"/>
              </a:rPr>
              <a:t>A result on the small model may not carry over to larger ones, in either direction.</a:t>
            </a:r>
          </a:p>
        </p:txBody>
      </p:sp>
      <p:sp>
        <p:nvSpPr>
          <p:cNvPr id="9" name="Oval 8"/>
          <p:cNvSpPr/>
          <p:nvPr/>
        </p:nvSpPr>
        <p:spPr>
          <a:xfrm>
            <a:off x="731520" y="4864607"/>
            <a:ext cx="457200" cy="45720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rPr>
              <a:t>4</a:t>
            </a:r>
          </a:p>
        </p:txBody>
      </p:sp>
      <p:sp>
        <p:nvSpPr>
          <p:cNvPr id="10" name="TextBox 9"/>
          <p:cNvSpPr txBox="1"/>
          <p:nvPr/>
        </p:nvSpPr>
        <p:spPr>
          <a:xfrm>
            <a:off x="1463040" y="4846320"/>
            <a:ext cx="9997135" cy="914400"/>
          </a:xfrm>
          <a:prstGeom prst="rect">
            <a:avLst/>
          </a:prstGeom>
          <a:noFill/>
        </p:spPr>
        <p:txBody>
          <a:bodyPr wrap="square" anchor="t" lIns="0" rIns="0" tIns="0" bIns="0">
            <a:spAutoFit/>
          </a:bodyPr>
          <a:lstStyle/>
          <a:p>
            <a:pPr algn="l">
              <a:spcAft>
                <a:spcPts val="1000"/>
              </a:spcAft>
            </a:pPr>
            <a:r>
              <a:rPr sz="1800" b="0" i="0">
                <a:solidFill>
                  <a:srgbClr val="222222"/>
                </a:solidFill>
                <a:latin typeface="Times New Roman"/>
              </a:rPr>
              <a:t/>
            </a:r>
            <a:r>
              <a:rPr sz="1800" b="1" i="0">
                <a:solidFill>
                  <a:srgbClr val="1B2A41"/>
                </a:solidFill>
                <a:latin typeface="Times New Roman"/>
              </a:rPr>
              <a:t>False alarms. </a:t>
            </a:r>
            <a:r>
              <a:rPr sz="1800" b="0" i="0">
                <a:solidFill>
                  <a:srgbClr val="222222"/>
                </a:solidFill>
                <a:latin typeface="Times New Roman"/>
              </a:rPr>
              <a:t>With five repeats, the measurement crosses the effect line by chance about 15% of the time, so a narrow pass must be read cautiously.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Next steps</a:t>
            </a:r>
          </a:p>
        </p:txBody>
      </p:sp>
      <p:sp>
        <p:nvSpPr>
          <p:cNvPr id="3" name="Oval 2"/>
          <p:cNvSpPr/>
          <p:nvPr/>
        </p:nvSpPr>
        <p:spPr>
          <a:xfrm>
            <a:off x="731520" y="1554480"/>
            <a:ext cx="457200" cy="45720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rPr>
              <a:t>1</a:t>
            </a:r>
          </a:p>
        </p:txBody>
      </p:sp>
      <p:sp>
        <p:nvSpPr>
          <p:cNvPr id="4" name="TextBox 3"/>
          <p:cNvSpPr txBox="1"/>
          <p:nvPr/>
        </p:nvSpPr>
        <p:spPr>
          <a:xfrm>
            <a:off x="1463040" y="1609344"/>
            <a:ext cx="9997135" cy="54864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Run free memory tests on the laptop and on Kaggle.</a:t>
            </a:r>
          </a:p>
        </p:txBody>
      </p:sp>
      <p:sp>
        <p:nvSpPr>
          <p:cNvPr id="5" name="Down Arrow 4"/>
          <p:cNvSpPr/>
          <p:nvPr/>
        </p:nvSpPr>
        <p:spPr>
          <a:xfrm>
            <a:off x="859536" y="2057400"/>
            <a:ext cx="201168" cy="365760"/>
          </a:xfrm>
          <a:prstGeom prst="down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450591"/>
            <a:ext cx="457200" cy="45720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rPr>
              <a:t>2</a:t>
            </a:r>
          </a:p>
        </p:txBody>
      </p:sp>
      <p:sp>
        <p:nvSpPr>
          <p:cNvPr id="7" name="TextBox 6"/>
          <p:cNvSpPr txBox="1"/>
          <p:nvPr/>
        </p:nvSpPr>
        <p:spPr>
          <a:xfrm>
            <a:off x="1463040" y="2505456"/>
            <a:ext cx="9997135" cy="54864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A teammate downloads the model and the text data, and shares them.</a:t>
            </a:r>
          </a:p>
        </p:txBody>
      </p:sp>
      <p:sp>
        <p:nvSpPr>
          <p:cNvPr id="8" name="Down Arrow 7"/>
          <p:cNvSpPr/>
          <p:nvPr/>
        </p:nvSpPr>
        <p:spPr>
          <a:xfrm>
            <a:off x="859536" y="2953511"/>
            <a:ext cx="201168" cy="365760"/>
          </a:xfrm>
          <a:prstGeom prst="down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3346703"/>
            <a:ext cx="457200" cy="45720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rPr>
              <a:t>3</a:t>
            </a:r>
          </a:p>
        </p:txBody>
      </p:sp>
      <p:sp>
        <p:nvSpPr>
          <p:cNvPr id="10" name="TextBox 9"/>
          <p:cNvSpPr txBox="1"/>
          <p:nvPr/>
        </p:nvSpPr>
        <p:spPr>
          <a:xfrm>
            <a:off x="1463040" y="3401568"/>
            <a:ext cx="9997135" cy="54864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Baseline check: confirm the model behaves correctly on real text.</a:t>
            </a:r>
          </a:p>
        </p:txBody>
      </p:sp>
      <p:sp>
        <p:nvSpPr>
          <p:cNvPr id="11" name="Down Arrow 10"/>
          <p:cNvSpPr/>
          <p:nvPr/>
        </p:nvSpPr>
        <p:spPr>
          <a:xfrm>
            <a:off x="859536" y="3849624"/>
            <a:ext cx="201168" cy="365760"/>
          </a:xfrm>
          <a:prstGeom prst="down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4242816"/>
            <a:ext cx="457200" cy="457200"/>
          </a:xfrm>
          <a:prstGeom prst="ellipse">
            <a:avLst/>
          </a:prstGeom>
          <a:solidFill>
            <a:srgbClr val="A832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rPr>
              <a:t>4</a:t>
            </a:r>
          </a:p>
        </p:txBody>
      </p:sp>
      <p:sp>
        <p:nvSpPr>
          <p:cNvPr id="13" name="TextBox 12"/>
          <p:cNvSpPr txBox="1"/>
          <p:nvPr/>
        </p:nvSpPr>
        <p:spPr>
          <a:xfrm>
            <a:off x="1463040" y="4297679"/>
            <a:ext cx="9997135" cy="54864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The decisive attack test: five repeats, judged by the rules fixed in advance.</a:t>
            </a:r>
          </a:p>
        </p:txBody>
      </p:sp>
      <p:sp>
        <p:nvSpPr>
          <p:cNvPr id="14" name="Down Arrow 13"/>
          <p:cNvSpPr/>
          <p:nvPr/>
        </p:nvSpPr>
        <p:spPr>
          <a:xfrm>
            <a:off x="859536" y="4745736"/>
            <a:ext cx="201168" cy="365760"/>
          </a:xfrm>
          <a:prstGeom prst="downArrow">
            <a:avLst/>
          </a:prstGeom>
          <a:solidFill>
            <a:srgbClr val="9AA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5138927"/>
            <a:ext cx="457200" cy="457200"/>
          </a:xfrm>
          <a:prstGeom prst="ellipse">
            <a:avLst/>
          </a:prstGeom>
          <a:solidFill>
            <a:srgbClr val="2E6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Times New Roman"/>
              </a:rPr>
              <a:t>5</a:t>
            </a:r>
          </a:p>
        </p:txBody>
      </p:sp>
      <p:sp>
        <p:nvSpPr>
          <p:cNvPr id="16" name="TextBox 15"/>
          <p:cNvSpPr txBox="1"/>
          <p:nvPr/>
        </p:nvSpPr>
        <p:spPr>
          <a:xfrm>
            <a:off x="1463040" y="5193791"/>
            <a:ext cx="9997135" cy="548640"/>
          </a:xfrm>
          <a:prstGeom prst="rect">
            <a:avLst/>
          </a:prstGeom>
          <a:noFill/>
        </p:spPr>
        <p:txBody>
          <a:bodyPr wrap="square" anchor="t" lIns="0" rIns="0" tIns="0" bIns="0">
            <a:spAutoFit/>
          </a:bodyPr>
          <a:lstStyle/>
          <a:p>
            <a:pPr algn="l">
              <a:spcAft>
                <a:spcPts val="1000"/>
              </a:spcAft>
            </a:pPr>
            <a:r>
              <a:rPr sz="1900" b="0" i="0">
                <a:solidFill>
                  <a:srgbClr val="222222"/>
                </a:solidFill>
                <a:latin typeface="Times New Roman"/>
              </a:rPr>
              <a:t>If it passes: measure how well the trust gate protects, and how much it slows the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Live demonstration</a:t>
            </a:r>
          </a:p>
        </p:txBody>
      </p:sp>
      <p:sp>
        <p:nvSpPr>
          <p:cNvPr id="3" name="TextBox 2"/>
          <p:cNvSpPr txBox="1"/>
          <p:nvPr/>
        </p:nvSpPr>
        <p:spPr>
          <a:xfrm>
            <a:off x="731520" y="1417320"/>
            <a:ext cx="10728655" cy="411480"/>
          </a:xfrm>
          <a:prstGeom prst="rect">
            <a:avLst/>
          </a:prstGeom>
          <a:noFill/>
        </p:spPr>
        <p:txBody>
          <a:bodyPr wrap="square" anchor="t" lIns="0" rIns="0" tIns="0" bIns="0">
            <a:spAutoFit/>
          </a:bodyPr>
          <a:lstStyle/>
          <a:p>
            <a:pPr algn="l">
              <a:spcAft>
                <a:spcPts val="1000"/>
              </a:spcAft>
            </a:pPr>
            <a:r>
              <a:rPr sz="1800" b="1" i="0">
                <a:solidFill>
                  <a:srgbClr val="1B2A41"/>
                </a:solidFill>
                <a:latin typeface="Times New Roman"/>
              </a:rPr>
              <a:t>1.  The practice experiment, start to finish (about 35 seconds, no GPU needed)</a:t>
            </a:r>
          </a:p>
        </p:txBody>
      </p:sp>
      <p:sp>
        <p:nvSpPr>
          <p:cNvPr id="4" name="Rounded Rectangle 3"/>
          <p:cNvSpPr/>
          <p:nvPr/>
        </p:nvSpPr>
        <p:spPr>
          <a:xfrm>
            <a:off x="731520" y="1856232"/>
            <a:ext cx="10728655" cy="457200"/>
          </a:xfrm>
          <a:prstGeom prst="roundRect">
            <a:avLst>
              <a:gd name="adj" fmla="val 12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500" b="0" i="0">
                <a:solidFill>
                  <a:srgbClr val="222222"/>
                </a:solidFill>
                <a:latin typeface="Times New Roman"/>
              </a:rPr>
              <a:t>bash scripts/demo.sh</a:t>
            </a:r>
          </a:p>
        </p:txBody>
      </p:sp>
      <p:sp>
        <p:nvSpPr>
          <p:cNvPr id="5" name="TextBox 4"/>
          <p:cNvSpPr txBox="1"/>
          <p:nvPr/>
        </p:nvSpPr>
        <p:spPr>
          <a:xfrm>
            <a:off x="731520" y="2404872"/>
            <a:ext cx="10728655" cy="640080"/>
          </a:xfrm>
          <a:prstGeom prst="rect">
            <a:avLst/>
          </a:prstGeom>
          <a:noFill/>
        </p:spPr>
        <p:txBody>
          <a:bodyPr wrap="square" anchor="t" lIns="0" rIns="0" tIns="0" bIns="0">
            <a:spAutoFit/>
          </a:bodyPr>
          <a:lstStyle/>
          <a:p>
            <a:pPr algn="l">
              <a:spcAft>
                <a:spcPts val="1000"/>
              </a:spcAft>
            </a:pPr>
            <a:r>
              <a:rPr sz="1500" b="0" i="0">
                <a:solidFill>
                  <a:srgbClr val="5F6B7A"/>
                </a:solidFill>
                <a:latin typeface="Times New Roman"/>
              </a:rPr>
              <a:t>At the end, compare the two effect sizes. The second compares normal text with normal text, so it is pure noise; the first means nothing unless it clearly beats it.</a:t>
            </a:r>
          </a:p>
        </p:txBody>
      </p:sp>
      <p:sp>
        <p:nvSpPr>
          <p:cNvPr id="6" name="TextBox 5"/>
          <p:cNvSpPr txBox="1"/>
          <p:nvPr/>
        </p:nvSpPr>
        <p:spPr>
          <a:xfrm>
            <a:off x="731520" y="3108960"/>
            <a:ext cx="10728655" cy="411480"/>
          </a:xfrm>
          <a:prstGeom prst="rect">
            <a:avLst/>
          </a:prstGeom>
          <a:noFill/>
        </p:spPr>
        <p:txBody>
          <a:bodyPr wrap="square" anchor="t" lIns="0" rIns="0" tIns="0" bIns="0">
            <a:spAutoFit/>
          </a:bodyPr>
          <a:lstStyle/>
          <a:p>
            <a:pPr algn="l">
              <a:spcAft>
                <a:spcPts val="1000"/>
              </a:spcAft>
            </a:pPr>
            <a:r>
              <a:rPr sz="1800" b="1" i="0">
                <a:solidFill>
                  <a:srgbClr val="1B2A41"/>
                </a:solidFill>
                <a:latin typeface="Times New Roman"/>
              </a:rPr>
              <a:t>2.  The pass rules are locked</a:t>
            </a:r>
          </a:p>
        </p:txBody>
      </p:sp>
      <p:sp>
        <p:nvSpPr>
          <p:cNvPr id="7" name="Rounded Rectangle 6"/>
          <p:cNvSpPr/>
          <p:nvPr/>
        </p:nvSpPr>
        <p:spPr>
          <a:xfrm>
            <a:off x="731520" y="3547872"/>
            <a:ext cx="10728655" cy="457200"/>
          </a:xfrm>
          <a:prstGeom prst="roundRect">
            <a:avLst>
              <a:gd name="adj" fmla="val 12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500" b="0" i="0">
                <a:solidFill>
                  <a:srgbClr val="222222"/>
                </a:solidFill>
                <a:latin typeface="Times New Roman"/>
              </a:rPr>
              <a:t>uv run pytest tests/test_thresholds.py -v -o addopts=""</a:t>
            </a:r>
          </a:p>
        </p:txBody>
      </p:sp>
      <p:sp>
        <p:nvSpPr>
          <p:cNvPr id="8" name="TextBox 7"/>
          <p:cNvSpPr txBox="1"/>
          <p:nvPr/>
        </p:nvSpPr>
        <p:spPr>
          <a:xfrm>
            <a:off x="731520" y="4096512"/>
            <a:ext cx="10728655" cy="640080"/>
          </a:xfrm>
          <a:prstGeom prst="rect">
            <a:avLst/>
          </a:prstGeom>
          <a:noFill/>
        </p:spPr>
        <p:txBody>
          <a:bodyPr wrap="square" anchor="t" lIns="0" rIns="0" tIns="0" bIns="0">
            <a:spAutoFit/>
          </a:bodyPr>
          <a:lstStyle/>
          <a:p>
            <a:pPr algn="l">
              <a:spcAft>
                <a:spcPts val="1000"/>
              </a:spcAft>
            </a:pPr>
            <a:r>
              <a:rPr sz="1500" b="0" i="0">
                <a:solidFill>
                  <a:srgbClr val="5F6B7A"/>
                </a:solidFill>
                <a:latin typeface="Times New Roman"/>
              </a:rPr>
              <a:t>Ten automatic checks confirm the rules still match what was written on 28 July. Change a number and they fail.</a:t>
            </a:r>
          </a:p>
        </p:txBody>
      </p:sp>
      <p:sp>
        <p:nvSpPr>
          <p:cNvPr id="9" name="TextBox 8"/>
          <p:cNvSpPr txBox="1"/>
          <p:nvPr/>
        </p:nvSpPr>
        <p:spPr>
          <a:xfrm>
            <a:off x="731520" y="4800600"/>
            <a:ext cx="10728655" cy="411480"/>
          </a:xfrm>
          <a:prstGeom prst="rect">
            <a:avLst/>
          </a:prstGeom>
          <a:noFill/>
        </p:spPr>
        <p:txBody>
          <a:bodyPr wrap="square" anchor="t" lIns="0" rIns="0" tIns="0" bIns="0">
            <a:spAutoFit/>
          </a:bodyPr>
          <a:lstStyle/>
          <a:p>
            <a:pPr algn="l">
              <a:spcAft>
                <a:spcPts val="1000"/>
              </a:spcAft>
            </a:pPr>
            <a:r>
              <a:rPr sz="1800" b="1" i="0">
                <a:solidFill>
                  <a:srgbClr val="1B2A41"/>
                </a:solidFill>
                <a:latin typeface="Times New Roman"/>
              </a:rPr>
              <a:t>3.  When the rules were written</a:t>
            </a:r>
          </a:p>
        </p:txBody>
      </p:sp>
      <p:sp>
        <p:nvSpPr>
          <p:cNvPr id="10" name="Rounded Rectangle 9"/>
          <p:cNvSpPr/>
          <p:nvPr/>
        </p:nvSpPr>
        <p:spPr>
          <a:xfrm>
            <a:off x="731520" y="5239512"/>
            <a:ext cx="10728655" cy="457200"/>
          </a:xfrm>
          <a:prstGeom prst="roundRect">
            <a:avLst>
              <a:gd name="adj" fmla="val 12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500" b="0" i="0">
                <a:solidFill>
                  <a:srgbClr val="222222"/>
                </a:solidFill>
                <a:latin typeface="Times New Roman"/>
              </a:rPr>
              <a:t>git log --format="%ad  %s" --date=short -- experiments/001-attack-spike/PREREGISTERED.md</a:t>
            </a:r>
          </a:p>
        </p:txBody>
      </p:sp>
      <p:sp>
        <p:nvSpPr>
          <p:cNvPr id="11" name="TextBox 10"/>
          <p:cNvSpPr txBox="1"/>
          <p:nvPr/>
        </p:nvSpPr>
        <p:spPr>
          <a:xfrm>
            <a:off x="731520" y="5788152"/>
            <a:ext cx="10728655" cy="640080"/>
          </a:xfrm>
          <a:prstGeom prst="rect">
            <a:avLst/>
          </a:prstGeom>
          <a:noFill/>
        </p:spPr>
        <p:txBody>
          <a:bodyPr wrap="square" anchor="t" lIns="0" rIns="0" tIns="0" bIns="0">
            <a:spAutoFit/>
          </a:bodyPr>
          <a:lstStyle/>
          <a:p>
            <a:pPr algn="l">
              <a:spcAft>
                <a:spcPts val="1000"/>
              </a:spcAft>
            </a:pPr>
            <a:r>
              <a:rPr sz="1500" b="0" i="0">
                <a:solidFill>
                  <a:srgbClr val="5F6B7A"/>
                </a:solidFill>
                <a:latin typeface="Times New Roman"/>
              </a:rPr>
              <a:t>The file's public history shows the rules were set before any result existed.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31520"/>
          </a:xfrm>
          <a:prstGeom prst="rect">
            <a:avLst/>
          </a:prstGeom>
          <a:noFill/>
        </p:spPr>
        <p:txBody>
          <a:bodyPr wrap="square" anchor="t" lIns="0" rIns="0" tIns="0" bIns="0">
            <a:spAutoFit/>
          </a:bodyPr>
          <a:lstStyle/>
          <a:p>
            <a:pPr algn="l">
              <a:spcAft>
                <a:spcPts val="1000"/>
              </a:spcAft>
            </a:pPr>
            <a:r>
              <a:rPr sz="3400" b="1" i="0">
                <a:solidFill>
                  <a:srgbClr val="1B2A41"/>
                </a:solidFill>
                <a:latin typeface="Times New Roman"/>
              </a:rPr>
              <a:t>Glossary</a:t>
            </a:r>
          </a:p>
        </p:txBody>
      </p:sp>
      <p:graphicFrame>
        <p:nvGraphicFramePr>
          <p:cNvPr id="3" name="Table 2"/>
          <p:cNvGraphicFramePr>
            <a:graphicFrameLocks noGrp="1"/>
          </p:cNvGraphicFramePr>
          <p:nvPr/>
        </p:nvGraphicFramePr>
        <p:xfrm>
          <a:off x="731520" y="1463040"/>
          <a:ext cx="10725912" cy="4224528"/>
        </p:xfrm>
        <a:graphic>
          <a:graphicData uri="http://schemas.openxmlformats.org/drawingml/2006/table">
            <a:tbl>
              <a:tblPr firstRow="1" bandRow="1">
                <a:tableStyleId>{5C22544A-7EE6-4342-B048-85BDC9FD1C3A}</a:tableStyleId>
              </a:tblPr>
              <a:tblGrid>
                <a:gridCol w="2560320"/>
                <a:gridCol w="8165592"/>
              </a:tblGrid>
              <a:tr h="603504">
                <a:tc>
                  <a:txBody>
                    <a:bodyPr wrap="square"/>
                    <a:lstStyle/>
                    <a:p>
                      <a:r>
                        <a:rPr sz="1600" b="1" i="0">
                          <a:solidFill>
                            <a:srgbClr val="FFFFFF"/>
                          </a:solidFill>
                          <a:latin typeface="Times New Roman"/>
                        </a:rPr>
                        <a:t>Term</a:t>
                      </a:r>
                    </a:p>
                  </a:txBody>
                  <a:tcPr anchor="ctr" marL="109728" marR="109728">
                    <a:solidFill>
                      <a:srgbClr val="1B2A41"/>
                    </a:solidFill>
                  </a:tcPr>
                </a:tc>
                <a:tc>
                  <a:txBody>
                    <a:bodyPr wrap="square"/>
                    <a:lstStyle/>
                    <a:p>
                      <a:r>
                        <a:rPr sz="1600" b="1" i="0">
                          <a:solidFill>
                            <a:srgbClr val="FFFFFF"/>
                          </a:solidFill>
                          <a:latin typeface="Times New Roman"/>
                        </a:rPr>
                        <a:t>Meaning</a:t>
                      </a:r>
                    </a:p>
                  </a:txBody>
                  <a:tcPr anchor="ctr" marL="109728" marR="109728">
                    <a:solidFill>
                      <a:srgbClr val="1B2A41"/>
                    </a:solidFill>
                  </a:tcPr>
                </a:tc>
              </a:tr>
              <a:tr h="603504">
                <a:tc>
                  <a:txBody>
                    <a:bodyPr wrap="square"/>
                    <a:lstStyle/>
                    <a:p>
                      <a:r>
                        <a:rPr sz="1600" b="1" i="0">
                          <a:solidFill>
                            <a:srgbClr val="222222"/>
                          </a:solidFill>
                          <a:latin typeface="Times New Roman"/>
                        </a:rPr>
                        <a:t>TTT-E2E</a:t>
                      </a:r>
                    </a:p>
                  </a:txBody>
                  <a:tcPr anchor="ctr" marL="109728" marR="109728">
                    <a:solidFill>
                      <a:srgbClr val="FFFFFF"/>
                    </a:solidFill>
                  </a:tcPr>
                </a:tc>
                <a:tc>
                  <a:txBody>
                    <a:bodyPr wrap="square"/>
                    <a:lstStyle/>
                    <a:p>
                      <a:r>
                        <a:rPr sz="1600" b="0" i="0">
                          <a:solidFill>
                            <a:srgbClr val="222222"/>
                          </a:solidFill>
                          <a:latin typeface="Times New Roman"/>
                        </a:rPr>
                        <a:t>A language model design that keeps learning a little while it reads (test-time training).</a:t>
                      </a:r>
                    </a:p>
                  </a:txBody>
                  <a:tcPr anchor="ctr" marL="109728" marR="109728">
                    <a:solidFill>
                      <a:srgbClr val="FFFFFF"/>
                    </a:solidFill>
                  </a:tcPr>
                </a:tc>
              </a:tr>
              <a:tr h="603504">
                <a:tc>
                  <a:txBody>
                    <a:bodyPr wrap="square"/>
                    <a:lstStyle/>
                    <a:p>
                      <a:r>
                        <a:rPr sz="1600" b="1" i="0">
                          <a:solidFill>
                            <a:srgbClr val="222222"/>
                          </a:solidFill>
                          <a:latin typeface="Times New Roman"/>
                        </a:rPr>
                        <a:t>Fast weights</a:t>
                      </a:r>
                    </a:p>
                  </a:txBody>
                  <a:tcPr anchor="ctr" marL="109728" marR="109728">
                    <a:solidFill>
                      <a:srgbClr val="EEF1F5"/>
                    </a:solidFill>
                  </a:tcPr>
                </a:tc>
                <a:tc>
                  <a:txBody>
                    <a:bodyPr wrap="square"/>
                    <a:lstStyle/>
                    <a:p>
                      <a:r>
                        <a:rPr sz="1600" b="0" i="0">
                          <a:solidFill>
                            <a:srgbClr val="222222"/>
                          </a:solidFill>
                          <a:latin typeface="Times New Roman"/>
                        </a:rPr>
                        <a:t>The part of the model that changes while it reads; its short-term memory.</a:t>
                      </a:r>
                    </a:p>
                  </a:txBody>
                  <a:tcPr anchor="ctr" marL="109728" marR="109728">
                    <a:solidFill>
                      <a:srgbClr val="EEF1F5"/>
                    </a:solidFill>
                  </a:tcPr>
                </a:tc>
              </a:tr>
              <a:tr h="603504">
                <a:tc>
                  <a:txBody>
                    <a:bodyPr wrap="square"/>
                    <a:lstStyle/>
                    <a:p>
                      <a:r>
                        <a:rPr sz="1600" b="1" i="0">
                          <a:solidFill>
                            <a:srgbClr val="222222"/>
                          </a:solidFill>
                          <a:latin typeface="Times New Roman"/>
                        </a:rPr>
                        <a:t>Effect size</a:t>
                      </a:r>
                    </a:p>
                  </a:txBody>
                  <a:tcPr anchor="ctr" marL="109728" marR="109728">
                    <a:solidFill>
                      <a:srgbClr val="FFFFFF"/>
                    </a:solidFill>
                  </a:tcPr>
                </a:tc>
                <a:tc>
                  <a:txBody>
                    <a:bodyPr wrap="square"/>
                    <a:lstStyle/>
                    <a:p>
                      <a:r>
                        <a:rPr sz="1600" b="0" i="0">
                          <a:solidFill>
                            <a:srgbClr val="222222"/>
                          </a:solidFill>
                          <a:latin typeface="Times New Roman"/>
                        </a:rPr>
                        <a:t>How large a difference is compared with normal run-to-run variation.</a:t>
                      </a:r>
                    </a:p>
                  </a:txBody>
                  <a:tcPr anchor="ctr" marL="109728" marR="109728">
                    <a:solidFill>
                      <a:srgbClr val="FFFFFF"/>
                    </a:solidFill>
                  </a:tcPr>
                </a:tc>
              </a:tr>
              <a:tr h="603504">
                <a:tc>
                  <a:txBody>
                    <a:bodyPr wrap="square"/>
                    <a:lstStyle/>
                    <a:p>
                      <a:r>
                        <a:rPr sz="1600" b="1" i="0">
                          <a:solidFill>
                            <a:srgbClr val="222222"/>
                          </a:solidFill>
                          <a:latin typeface="Times New Roman"/>
                        </a:rPr>
                        <a:t>Pre-registration</a:t>
                      </a:r>
                    </a:p>
                  </a:txBody>
                  <a:tcPr anchor="ctr" marL="109728" marR="109728">
                    <a:solidFill>
                      <a:srgbClr val="EEF1F5"/>
                    </a:solidFill>
                  </a:tcPr>
                </a:tc>
                <a:tc>
                  <a:txBody>
                    <a:bodyPr wrap="square"/>
                    <a:lstStyle/>
                    <a:p>
                      <a:r>
                        <a:rPr sz="1600" b="0" i="0">
                          <a:solidFill>
                            <a:srgbClr val="222222"/>
                          </a:solidFill>
                          <a:latin typeface="Times New Roman"/>
                        </a:rPr>
                        <a:t>Writing the pass rules down, publicly and dated, before running the test.</a:t>
                      </a:r>
                    </a:p>
                  </a:txBody>
                  <a:tcPr anchor="ctr" marL="109728" marR="109728">
                    <a:solidFill>
                      <a:srgbClr val="EEF1F5"/>
                    </a:solidFill>
                  </a:tcPr>
                </a:tc>
              </a:tr>
              <a:tr h="603504">
                <a:tc>
                  <a:txBody>
                    <a:bodyPr wrap="square"/>
                    <a:lstStyle/>
                    <a:p>
                      <a:r>
                        <a:rPr sz="1600" b="1" i="0">
                          <a:solidFill>
                            <a:srgbClr val="222222"/>
                          </a:solidFill>
                          <a:latin typeface="Times New Roman"/>
                        </a:rPr>
                        <a:t>Stand-in model</a:t>
                      </a:r>
                    </a:p>
                  </a:txBody>
                  <a:tcPr anchor="ctr" marL="109728" marR="109728">
                    <a:solidFill>
                      <a:srgbClr val="FFFFFF"/>
                    </a:solidFill>
                  </a:tcPr>
                </a:tc>
                <a:tc>
                  <a:txBody>
                    <a:bodyPr wrap="square"/>
                    <a:lstStyle/>
                    <a:p>
                      <a:r>
                        <a:rPr sz="1600" b="0" i="0">
                          <a:solidFill>
                            <a:srgbClr val="222222"/>
                          </a:solidFill>
                          <a:latin typeface="Times New Roman"/>
                        </a:rPr>
                        <a:t>A tiny model built the same way, used to test the tools cheaply.</a:t>
                      </a:r>
                    </a:p>
                  </a:txBody>
                  <a:tcPr anchor="ctr" marL="109728" marR="109728">
                    <a:solidFill>
                      <a:srgbClr val="FFFFFF"/>
                    </a:solidFill>
                  </a:tcPr>
                </a:tc>
              </a:tr>
              <a:tr h="603504">
                <a:tc>
                  <a:txBody>
                    <a:bodyPr wrap="square"/>
                    <a:lstStyle/>
                    <a:p>
                      <a:r>
                        <a:rPr sz="1600" b="1" i="0">
                          <a:solidFill>
                            <a:srgbClr val="222222"/>
                          </a:solidFill>
                          <a:latin typeface="Times New Roman"/>
                        </a:rPr>
                        <a:t>GPU</a:t>
                      </a:r>
                    </a:p>
                  </a:txBody>
                  <a:tcPr anchor="ctr" marL="109728" marR="109728">
                    <a:solidFill>
                      <a:srgbClr val="EEF1F5"/>
                    </a:solidFill>
                  </a:tcPr>
                </a:tc>
                <a:tc>
                  <a:txBody>
                    <a:bodyPr wrap="square"/>
                    <a:lstStyle/>
                    <a:p>
                      <a:r>
                        <a:rPr sz="1600" b="0" i="0">
                          <a:solidFill>
                            <a:srgbClr val="222222"/>
                          </a:solidFill>
                          <a:latin typeface="Times New Roman"/>
                        </a:rPr>
                        <a:t>The graphics processor that runs these models; the large ones need data-centre GPUs.</a:t>
                      </a:r>
                    </a:p>
                  </a:txBody>
                  <a:tcPr anchor="ctr" marL="109728" marR="109728">
                    <a:solidFill>
                      <a:srgbClr val="EEF1F5"/>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731520" y="2377440"/>
            <a:ext cx="10728655" cy="914400"/>
          </a:xfrm>
          <a:prstGeom prst="rect">
            <a:avLst/>
          </a:prstGeom>
          <a:noFill/>
        </p:spPr>
        <p:txBody>
          <a:bodyPr wrap="square" anchor="t" lIns="0" rIns="0" tIns="0" bIns="0">
            <a:spAutoFit/>
          </a:bodyPr>
          <a:lstStyle/>
          <a:p>
            <a:pPr algn="l">
              <a:spcAft>
                <a:spcPts val="1000"/>
              </a:spcAft>
            </a:pPr>
            <a:r>
              <a:rPr sz="4000" b="1" i="0">
                <a:solidFill>
                  <a:srgbClr val="FFFFFF"/>
                </a:solidFill>
                <a:latin typeface="Times New Roman"/>
              </a:rPr>
              <a:t>Questions</a:t>
            </a:r>
          </a:p>
        </p:txBody>
      </p:sp>
      <p:sp>
        <p:nvSpPr>
          <p:cNvPr id="3" name="TextBox 2"/>
          <p:cNvSpPr txBox="1"/>
          <p:nvPr/>
        </p:nvSpPr>
        <p:spPr>
          <a:xfrm>
            <a:off x="731520" y="3383280"/>
            <a:ext cx="10728655" cy="1097280"/>
          </a:xfrm>
          <a:prstGeom prst="rect">
            <a:avLst/>
          </a:prstGeom>
          <a:noFill/>
        </p:spPr>
        <p:txBody>
          <a:bodyPr wrap="square" anchor="t" lIns="0" rIns="0" tIns="0" bIns="0">
            <a:spAutoFit/>
          </a:bodyPr>
          <a:lstStyle/>
          <a:p>
            <a:pPr algn="l">
              <a:spcAft>
                <a:spcPts val="1000"/>
              </a:spcAft>
            </a:pPr>
            <a:r>
              <a:rPr sz="2000" b="0" i="0">
                <a:solidFill>
                  <a:srgbClr val="C9D6E8"/>
                </a:solidFill>
                <a:latin typeface="Times New Roman"/>
              </a:rPr>
              <a:t>The tools are built and tested. The decisive test comes next, on a model we can afford to run, judged by rules fixed in advance.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