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Effect size</c:v>
                </c:pt>
              </c:strCache>
            </c:strRef>
          </c:tx>
          <c:invertIfNegative val="1"/>
          <c:dPt>
            <c:idx val="0"/>
            <c:invertIfNegative val="1"/>
            <c:bubble3D val="0"/>
            <c:spPr>
              <a:solidFill>
                <a:srgbClr val="BFBFBF"/>
              </a:solidFill>
            </c:spPr>
            <c:extLst>
              <c:ext xmlns:c16="http://schemas.microsoft.com/office/drawing/2014/chart" uri="{C3380CC4-5D6E-409C-BE32-E72D297353CC}">
                <c16:uniqueId val="{00000001-353D-4F47-AA22-9FA7E2E61026}"/>
              </c:ext>
            </c:extLst>
          </c:dPt>
          <c:dPt>
            <c:idx val="1"/>
            <c:invertIfNegative val="1"/>
            <c:bubble3D val="0"/>
            <c:spPr>
              <a:solidFill>
                <a:srgbClr val="8C8C8C"/>
              </a:solidFill>
            </c:spPr>
            <c:extLst>
              <c:ext xmlns:c16="http://schemas.microsoft.com/office/drawing/2014/chart" uri="{C3380CC4-5D6E-409C-BE32-E72D297353CC}">
                <c16:uniqueId val="{00000003-353D-4F47-AA22-9FA7E2E61026}"/>
              </c:ext>
            </c:extLst>
          </c:dPt>
          <c:dPt>
            <c:idx val="2"/>
            <c:invertIfNegative val="1"/>
            <c:bubble3D val="0"/>
            <c:spPr>
              <a:solidFill>
                <a:srgbClr val="1A1A1A"/>
              </a:solidFill>
            </c:spPr>
            <c:extLst>
              <c:ext xmlns:c16="http://schemas.microsoft.com/office/drawing/2014/chart" uri="{C3380CC4-5D6E-409C-BE32-E72D297353CC}">
                <c16:uniqueId val="{00000005-353D-4F47-AA22-9FA7E2E61026}"/>
              </c:ext>
            </c:extLst>
          </c:dPt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1">
                    <a:latin typeface="Times New Roman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Required to pass</c:v>
                </c:pt>
                <c:pt idx="1">
                  <c:v>Normal variation, no attacker</c:v>
                </c:pt>
                <c:pt idx="2">
                  <c:v>The attack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</c:v>
                </c:pt>
                <c:pt idx="1">
                  <c:v>0.23</c:v>
                </c:pt>
                <c:pt idx="2">
                  <c:v>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53D-4F47-AA22-9FA7E2E6102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>
            <a:solidFill>
              <a:srgbClr val="BFBFBF"/>
            </a:solidFill>
          </a:ln>
        </c:spPr>
        <c:txPr>
          <a:bodyPr/>
          <a:lstStyle/>
          <a:p>
            <a:pPr>
              <a:defRPr sz="1800">
                <a:latin typeface="Times New Roman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"/>
          <c:min val="0"/>
        </c:scaling>
        <c:delete val="1"/>
        <c:axPos val="b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>
          <a:latin typeface="Times New Roman"/>
        </a:defRPr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DA450F-B312-4364-8C55-05C2D6F2AE9C}" type="datetimeFigureOut">
              <a:rPr lang="en-IN" smtClean="0"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95906A-E4EA-4B34-9C81-74497955E9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2991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outcome rules were written down before the test, on 22 September. A pass is a result for this model; we will not claim it for larger models. A fail ends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2286000"/>
            <a:ext cx="10545775" cy="1323439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US" sz="4000" b="1" dirty="0">
                <a:solidFill>
                  <a:srgbClr val="1A1A1A"/>
                </a:solidFill>
                <a:latin typeface="Times New Roman"/>
              </a:rPr>
              <a:t>Trust Gated Fast Weight Updates for TTT E2E LLMs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45775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Times New Roman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45775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Most language models are fixed once they are built.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A newer design, TTT-E2E, keeps adjusting a small part of itself while it reads. This is what lets it handle very long documents cheaply.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That part is called the fast weights: a kind of short-term memory the model rewrites as it goes.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The question: if a model learns from whatever it reads, can someone steer what it learns just by choosing what it reads?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45775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Times New Roman"/>
              </a:rPr>
              <a:t>The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45775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The attacker never touches the model. They only choose which ordinary, harmless sentences it reads, and in what order.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If that is enough to make the model worse, the damage would be quiet and gradual.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Today's safety filters look for harmful text. Here there is none to find.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This project first tests whether the attack works. A defence is only worth building if it does.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45775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Times New Roman"/>
              </a:rPr>
              <a:t>How we decide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6636300"/>
              </p:ext>
            </p:extLst>
          </p:nvPr>
        </p:nvGraphicFramePr>
        <p:xfrm>
          <a:off x="613555" y="1661277"/>
          <a:ext cx="10543032" cy="2560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9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Times New Roman"/>
                        </a:rPr>
                        <a:t>Test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800" b="1" dirty="0">
                          <a:solidFill>
                            <a:srgbClr val="1A1A1A"/>
                          </a:solidFill>
                          <a:latin typeface="Times New Roman"/>
                        </a:rPr>
                        <a:t>Ex</a:t>
                      </a:r>
                      <a:r>
                        <a:rPr sz="1800" b="1" dirty="0">
                          <a:solidFill>
                            <a:srgbClr val="1A1A1A"/>
                          </a:solidFill>
                          <a:latin typeface="Times New Roman"/>
                        </a:rPr>
                        <a:t>plain</a:t>
                      </a:r>
                      <a:r>
                        <a:rPr lang="en-IN" sz="1800" b="1" dirty="0" err="1">
                          <a:solidFill>
                            <a:srgbClr val="1A1A1A"/>
                          </a:solidFill>
                          <a:latin typeface="Times New Roman"/>
                        </a:rPr>
                        <a:t>ation</a:t>
                      </a:r>
                      <a:endParaRPr sz="1800" b="1" dirty="0">
                        <a:solidFill>
                          <a:srgbClr val="1A1A1A"/>
                        </a:solidFill>
                        <a:latin typeface="Times New Roman"/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1A1A1A"/>
                          </a:solidFill>
                          <a:latin typeface="Times New Roman"/>
                        </a:rPr>
                        <a:t>Must reach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Times New Roman"/>
                        </a:rPr>
                        <a:t>Size of the effect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Times New Roman"/>
                        </a:rPr>
                        <a:t>Is the damage clearly larger than normal run-to-run variation?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Times New Roman"/>
                        </a:rPr>
                        <a:t>0.8 or more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Times New Roman"/>
                        </a:rPr>
                        <a:t>Amount of damage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Times New Roman"/>
                        </a:rPr>
                        <a:t>How much worse does the model get on ordinary text?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Times New Roman"/>
                        </a:rPr>
                        <a:t>10% or more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Times New Roman"/>
                        </a:rPr>
                        <a:t>Naturalness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A1A1A"/>
                          </a:solidFill>
                          <a:latin typeface="Times New Roman"/>
                        </a:rPr>
                        <a:t>Does the attack text still read like normal text?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800" b="0" dirty="0">
                          <a:solidFill>
                            <a:srgbClr val="1A1A1A"/>
                          </a:solidFill>
                          <a:latin typeface="Times New Roman"/>
                        </a:rPr>
                        <a:t>At most 1.5× less natural</a:t>
                      </a:r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577840"/>
            <a:ext cx="10545775" cy="548640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r>
              <a:rPr sz="2000" b="1">
                <a:solidFill>
                  <a:srgbClr val="1A1A1A"/>
                </a:solidFill>
                <a:latin typeface="Times New Roman"/>
              </a:rPr>
              <a:t>All three must pass. If any one fails, the answer is “no attack”.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45775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Times New Roman"/>
              </a:rPr>
              <a:t>The proposed defence: a trust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45775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Before the model accepts a change to its fast weights, a gate checks it.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It compares the model's answers with those of a frozen, trusted copy, on a few test passages the attacker cannot see.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If the change pulls the answers too far away, it is refused.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The gate is built and tested. It will only be measured on the real model if the attack works.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36920" y="548640"/>
            <a:ext cx="10545775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Times New Roman"/>
              </a:rPr>
              <a:t>What is done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45775" cy="3072636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74320" indent="-274320">
              <a:spcAft>
                <a:spcPts val="1400"/>
              </a:spcAft>
              <a:buChar char="•"/>
            </a:pPr>
            <a:r>
              <a:rPr sz="2100" b="0" dirty="0">
                <a:solidFill>
                  <a:srgbClr val="1A1A1A"/>
                </a:solidFill>
                <a:latin typeface="Times New Roman"/>
              </a:rPr>
              <a:t>The full test pipeline is built and checked by 521 tests.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100" b="0" dirty="0">
                <a:solidFill>
                  <a:srgbClr val="1A1A1A"/>
                </a:solidFill>
                <a:latin typeface="Times New Roman"/>
              </a:rPr>
              <a:t>A run on a </a:t>
            </a:r>
            <a:r>
              <a:rPr lang="en-IN" sz="2100" dirty="0" err="1">
                <a:solidFill>
                  <a:srgbClr val="1A1A1A"/>
                </a:solidFill>
                <a:latin typeface="Times New Roman"/>
              </a:rPr>
              <a:t>samll</a:t>
            </a:r>
            <a:r>
              <a:rPr sz="2100" b="0" dirty="0">
                <a:solidFill>
                  <a:srgbClr val="1A1A1A"/>
                </a:solidFill>
                <a:latin typeface="Times New Roman"/>
              </a:rPr>
              <a:t> stand-in model found no attack: the model got 0.04% worse, against the 10% required.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100" b="0" dirty="0">
                <a:solidFill>
                  <a:srgbClr val="1A1A1A"/>
                </a:solidFill>
                <a:latin typeface="Times New Roman"/>
              </a:rPr>
              <a:t>The measuring tool was checked against itself: with no attacker at all, it still crosses the effect line about 15% of the time. A narrow pass will be read with caution.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100" b="0" dirty="0">
                <a:solidFill>
                  <a:srgbClr val="1A1A1A"/>
                </a:solidFill>
                <a:latin typeface="Times New Roman"/>
              </a:rPr>
              <a:t>The real model's code runs on our pipeline, and learns while it reads, as designed.</a:t>
            </a:r>
            <a:endParaRPr lang="en-IN" sz="2100" dirty="0">
              <a:solidFill>
                <a:srgbClr val="1A1A1A"/>
              </a:solidFill>
              <a:latin typeface="Times New Roman"/>
            </a:endParaRPr>
          </a:p>
          <a:p>
            <a:pPr>
              <a:spcAft>
                <a:spcPts val="1400"/>
              </a:spcAft>
            </a:pPr>
            <a:endParaRPr lang="en-IN" sz="2100" b="0" dirty="0">
              <a:solidFill>
                <a:srgbClr val="1A1A1A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45775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Times New Roman"/>
              </a:rPr>
              <a:t>Practice run 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45775" cy="47548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0">
                <a:solidFill>
                  <a:srgbClr val="1A1A1A"/>
                </a:solidFill>
                <a:latin typeface="Times New Roman"/>
              </a:rPr>
              <a:t>The attack's effect was smaller than the normal variation between repeat runs.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822960" y="2377440"/>
          <a:ext cx="10545775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548640"/>
            <a:ext cx="10545775" cy="8229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r>
              <a:rPr sz="3600" b="1">
                <a:solidFill>
                  <a:srgbClr val="1A1A1A"/>
                </a:solidFill>
                <a:latin typeface="Times New Roman"/>
              </a:rPr>
              <a:t>Next step: the real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45775" cy="1420902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marL="274320" indent="-274320">
              <a:spcAft>
                <a:spcPts val="1400"/>
              </a:spcAft>
              <a:buChar char="•"/>
            </a:pPr>
            <a:r>
              <a:rPr sz="2100" b="0" dirty="0">
                <a:solidFill>
                  <a:srgbClr val="1A1A1A"/>
                </a:solidFill>
                <a:latin typeface="Times New Roman"/>
              </a:rPr>
              <a:t>Run the decisive test on the 125-million-parameter version of TTT-E2E, the model </a:t>
            </a:r>
          </a:p>
          <a:p>
            <a:pPr marL="274320" indent="-274320">
              <a:spcAft>
                <a:spcPts val="1400"/>
              </a:spcAft>
              <a:buChar char="•"/>
            </a:pPr>
            <a:r>
              <a:rPr sz="2100" b="0" dirty="0">
                <a:solidFill>
                  <a:srgbClr val="1A1A1A"/>
                </a:solidFill>
                <a:latin typeface="Times New Roman"/>
              </a:rPr>
              <a:t>If all three rules pass, the attack is real, and we measure how well the trust gate protects.</a:t>
            </a:r>
            <a:endParaRPr lang="en-IN" sz="2100" b="0" dirty="0">
              <a:solidFill>
                <a:srgbClr val="1A1A1A"/>
              </a:solidFill>
              <a:latin typeface="Times New Roman"/>
            </a:endParaRPr>
          </a:p>
          <a:p>
            <a:pPr marL="274320" indent="-274320">
              <a:spcAft>
                <a:spcPts val="1400"/>
              </a:spcAft>
              <a:buChar char="•"/>
            </a:pPr>
            <a:r>
              <a:rPr lang="en-IN" sz="2100" dirty="0">
                <a:solidFill>
                  <a:srgbClr val="1A1A1A"/>
                </a:solidFill>
                <a:latin typeface="Times New Roman"/>
              </a:rPr>
              <a:t>If this run works we can </a:t>
            </a:r>
            <a:r>
              <a:rPr lang="en-IN" sz="2100" dirty="0" err="1">
                <a:solidFill>
                  <a:srgbClr val="1A1A1A"/>
                </a:solidFill>
                <a:latin typeface="Times New Roman"/>
              </a:rPr>
              <a:t>sccale</a:t>
            </a:r>
            <a:r>
              <a:rPr lang="en-IN" sz="2100" dirty="0">
                <a:solidFill>
                  <a:srgbClr val="1A1A1A"/>
                </a:solidFill>
                <a:latin typeface="Times New Roman"/>
              </a:rPr>
              <a:t> up to a 1B model </a:t>
            </a:r>
            <a:endParaRPr sz="2100" b="0" dirty="0">
              <a:solidFill>
                <a:srgbClr val="1A1A1A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532</Words>
  <Application>Microsoft Office PowerPoint</Application>
  <PresentationFormat>Widescreen</PresentationFormat>
  <Paragraphs>43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Manas Maahir</cp:lastModifiedBy>
  <cp:revision>6</cp:revision>
  <dcterms:created xsi:type="dcterms:W3CDTF">2013-01-27T09:14:16Z</dcterms:created>
  <dcterms:modified xsi:type="dcterms:W3CDTF">2026-09-22T05:09:26Z</dcterms:modified>
  <cp:category/>
</cp:coreProperties>
</file>